
<file path=[Content_Types].xml><?xml version="1.0" encoding="utf-8"?>
<Types xmlns="http://schemas.openxmlformats.org/package/2006/content-types">
  <Default Extension="jpg" ContentType="image/jpeg"/>
  <Default Extension="mp4" ContentType="video/mp4"/>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media/image1.svg" ContentType="image/svg+xml"/>
  <Override PartName="/ppt/media/image2.svg" ContentType="image/svg+xml"/>
  <Override PartName="/ppt/media/image3.svg" ContentType="image/svg+xml"/>
  <Override PartName="/ppt/media/image4.svg" ContentType="image/svg+xml"/>
  <Override PartName="/ppt/media/image5.svg" ContentType="image/svg+xml"/>
  <Override PartName="/ppt/media/image6.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7"/>
  </p:notesMasterIdLst>
  <p:handoutMasterIdLst>
    <p:handoutMasterId r:id="rId28"/>
  </p:handoutMasterIdLst>
  <p:sldIdLst>
    <p:sldId id="256" r:id="rId2"/>
    <p:sldId id="257" r:id="rId3"/>
    <p:sldId id="279" r:id="rId4"/>
    <p:sldId id="306" r:id="rId7"/>
    <p:sldId id="258" r:id="rId5"/>
    <p:sldId id="305" r:id="rId6"/>
    <p:sldId id="285" r:id="rId8"/>
    <p:sldId id="307" r:id="rId9"/>
    <p:sldId id="308" r:id="rId10"/>
    <p:sldId id="309" r:id="rId11"/>
    <p:sldId id="310" r:id="rId12"/>
    <p:sldId id="294" r:id="rId13"/>
    <p:sldId id="280" r:id="rId14"/>
    <p:sldId id="296" r:id="rId15"/>
    <p:sldId id="297" r:id="rId16"/>
    <p:sldId id="298" r:id="rId17"/>
    <p:sldId id="299" r:id="rId18"/>
    <p:sldId id="295" r:id="rId19"/>
    <p:sldId id="300" r:id="rId20"/>
    <p:sldId id="301" r:id="rId21"/>
    <p:sldId id="303" r:id="rId22"/>
    <p:sldId id="304" r:id="rId24"/>
    <p:sldId id="266" r:id="rId25"/>
    <p:sldId id="271"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
    <a:wholeTbl>
      <a:tcTxStyle>
        <a:font>
          <a:latin typeface="+mn-lt"/>
          <a:ea typeface="+mn-ea"/>
          <a:cs typeface="+mn-cs"/>
        </a:font>
        <a:srgbClr val="000000"/>
      </a:tcTxStyle>
      <a:tcStyle>
        <a:tcBdr>
          <a:left>
            <a:ln w="12701" cap="flat" cmpd="sng" algn="ctr">
              <a:solidFill>
                <a:srgbClr val="FFFFFF"/>
              </a:solidFill>
              <a:prstDash val="solid"/>
              <a:round/>
              <a:headEnd type="none" w="med" len="med"/>
              <a:tailEnd type="none" w="med" len="med"/>
            </a:ln>
          </a:left>
          <a:right>
            <a:ln w="12701" cap="flat" cmpd="sng" algn="ctr">
              <a:solidFill>
                <a:srgbClr val="FFFFFF"/>
              </a:solidFill>
              <a:prstDash val="solid"/>
              <a:round/>
              <a:headEnd type="none" w="med" len="med"/>
              <a:tailEnd type="none" w="med" len="med"/>
            </a:ln>
          </a:right>
          <a:top>
            <a:ln w="12701" cap="flat" cmpd="sng" algn="ctr">
              <a:solidFill>
                <a:srgbClr val="FFFFFF"/>
              </a:solidFill>
              <a:prstDash val="solid"/>
              <a:round/>
              <a:headEnd type="none" w="med" len="med"/>
              <a:tailEnd type="none" w="med" len="med"/>
            </a:ln>
          </a:top>
          <a:bottom>
            <a:ln w="12701" cap="flat" cmpd="sng" algn="ctr">
              <a:solidFill>
                <a:srgbClr val="FFFFFF"/>
              </a:solidFill>
              <a:prstDash val="solid"/>
              <a:round/>
              <a:headEnd type="none" w="med" len="med"/>
              <a:tailEnd type="none" w="med" len="med"/>
            </a:ln>
          </a:bottom>
        </a:tcBdr>
        <a:fill>
          <a:solidFill>
            <a:srgbClr val="E9EBF5"/>
          </a:solidFill>
        </a:fill>
      </a:tcStyle>
    </a:wholeTbl>
    <a:band1H>
      <a:tcStyle>
        <a:tcBdr/>
        <a:fill>
          <a:solidFill>
            <a:srgbClr val="CFD5EA"/>
          </a:solidFill>
        </a:fill>
      </a:tcStyle>
    </a:band1H>
    <a:band2H>
      <a:tcStyle>
        <a:tcBdr/>
      </a:tcStyle>
    </a:band2H>
    <a:band1V>
      <a:tcStyle>
        <a:tcBdr/>
        <a:fill>
          <a:solidFill>
            <a:srgbClr val="CFD5EA"/>
          </a:solidFill>
        </a:fill>
      </a:tcStyle>
    </a:band1V>
    <a:band2V>
      <a:tcStyle>
        <a:tcBdr/>
      </a:tcStyle>
    </a:band2V>
    <a:lastCol>
      <a:tcTxStyle b="on">
        <a:font>
          <a:latin typeface="+mn-lt"/>
          <a:ea typeface="+mn-ea"/>
          <a:cs typeface="+mn-cs"/>
        </a:font>
        <a:srgbClr val="FFFFFF"/>
      </a:tcTxStyle>
      <a:tcStyle>
        <a:tcBdr/>
        <a:fill>
          <a:solidFill>
            <a:srgbClr val="4472C4"/>
          </a:solidFill>
        </a:fill>
      </a:tcStyle>
    </a:lastCol>
    <a:firstCol>
      <a:tcTxStyle b="on">
        <a:font>
          <a:latin typeface="+mn-lt"/>
          <a:ea typeface="+mn-ea"/>
          <a:cs typeface="+mn-cs"/>
        </a:font>
        <a:srgbClr val="FFFFFF"/>
      </a:tcTxStyle>
      <a:tcStyle>
        <a:tcBdr/>
        <a:fill>
          <a:solidFill>
            <a:srgbClr val="4472C4"/>
          </a:solidFill>
        </a:fill>
      </a:tcStyle>
    </a:firstCol>
    <a:lastRow>
      <a:tcTxStyle b="on">
        <a:font>
          <a:latin typeface="+mn-lt"/>
          <a:ea typeface="+mn-ea"/>
          <a:cs typeface="+mn-cs"/>
        </a:font>
        <a:srgbClr val="FFFFFF"/>
      </a:tcTxStyle>
      <a:tcStyle>
        <a:tcBdr>
          <a:top>
            <a:ln w="38103" cap="flat" cmpd="sng" algn="ctr">
              <a:solidFill>
                <a:srgbClr val="FFFFFF"/>
              </a:solidFill>
              <a:prstDash val="solid"/>
              <a:round/>
              <a:headEnd type="none" w="med" len="med"/>
              <a:tailEnd type="none" w="med" len="med"/>
            </a:ln>
          </a:top>
        </a:tcBdr>
        <a:fill>
          <a:solidFill>
            <a:srgbClr val="4472C4"/>
          </a:solidFill>
        </a:fill>
      </a:tcStyle>
    </a:lastRow>
    <a:firstRow>
      <a:tcTxStyle b="on">
        <a:font>
          <a:latin typeface="+mn-lt"/>
          <a:ea typeface="+mn-ea"/>
          <a:cs typeface="+mn-cs"/>
        </a:font>
        <a:srgbClr val="FFFFFF"/>
      </a:tcTxStyle>
      <a:tcStyle>
        <a:tcBdr>
          <a:bottom>
            <a:ln w="38103" cap="flat" cmpd="sng" algn="ctr">
              <a:solidFill>
                <a:srgbClr val="FFFFFF"/>
              </a:solidFill>
              <a:prstDash val="solid"/>
              <a:round/>
              <a:headEnd type="none" w="med" len="med"/>
              <a:tailEnd type="none" w="med" len="med"/>
            </a:ln>
          </a:bottom>
        </a:tcBdr>
        <a:fill>
          <a:solidFill>
            <a:srgbClr val="4472C4"/>
          </a:solidFill>
        </a:fill>
      </a:tcStyle>
    </a:firstRow>
  </a:tblStyle>
  <a:tblStyle styleId="{7E9639D4-E3E2-4D34-9284-5A2195B3D0D7}" styleName="">
    <a:wholeTbl>
      <a:tcTxStyle>
        <a:font>
          <a:latin typeface="+mn-lt"/>
          <a:ea typeface="+mn-ea"/>
          <a:cs typeface="+mn-cs"/>
        </a:font>
        <a:srgbClr val="000000"/>
      </a:tcTxStyle>
      <a:tcStyle>
        <a:tcBdr>
          <a:left>
            <a:ln w="3172" cap="flat" cmpd="sng" algn="ctr">
              <a:solidFill>
                <a:srgbClr val="000000"/>
              </a:solidFill>
              <a:prstDash val="solid"/>
              <a:round/>
              <a:headEnd type="none" w="med" len="med"/>
              <a:tailEnd type="none" w="med" len="med"/>
            </a:ln>
          </a:left>
          <a:right>
            <a:ln w="3172" cap="flat" cmpd="sng" algn="ctr">
              <a:solidFill>
                <a:srgbClr val="000000"/>
              </a:solidFill>
              <a:prstDash val="solid"/>
              <a:round/>
              <a:headEnd type="none" w="med" len="med"/>
              <a:tailEnd type="none" w="med" len="med"/>
            </a:ln>
          </a:right>
          <a:top>
            <a:ln w="3172" cap="flat" cmpd="sng" algn="ctr">
              <a:solidFill>
                <a:srgbClr val="000000"/>
              </a:solidFill>
              <a:prstDash val="solid"/>
              <a:round/>
              <a:headEnd type="none" w="med" len="med"/>
              <a:tailEnd type="none" w="med" len="med"/>
            </a:ln>
          </a:top>
          <a:bottom>
            <a:ln w="3172" cap="flat" cmpd="sng" algn="ctr">
              <a:solidFill>
                <a:srgbClr val="000000"/>
              </a:solidFill>
              <a:prstDash val="solid"/>
              <a:round/>
              <a:headEnd type="none" w="med" len="med"/>
              <a:tailEnd type="none" w="med" len="med"/>
            </a:ln>
          </a:bottom>
        </a:tcBdr>
      </a:tcStyle>
    </a:wholeTbl>
    <a:band1H>
      <a:tcStyle>
        <a:tcBdr>
          <a:top>
            <a:ln w="3172" cap="flat" cmpd="sng" algn="ctr">
              <a:solidFill>
                <a:srgbClr val="000000"/>
              </a:solidFill>
              <a:prstDash val="solid"/>
              <a:round/>
              <a:headEnd type="none" w="med" len="med"/>
              <a:tailEnd type="none" w="med" len="med"/>
            </a:ln>
          </a:top>
          <a:bottom>
            <a:ln w="3172" cap="flat" cmpd="sng" algn="ctr">
              <a:solidFill>
                <a:srgbClr val="000000"/>
              </a:solidFill>
              <a:prstDash val="solid"/>
              <a:round/>
              <a:headEnd type="none" w="med" len="med"/>
              <a:tailEnd type="none" w="med" len="med"/>
            </a:ln>
          </a:bottom>
        </a:tcBdr>
      </a:tcStyle>
    </a:band1H>
    <a:band1V>
      <a:tcStyle>
        <a:tcBdr>
          <a:left>
            <a:ln w="3172" cap="flat" cmpd="sng" algn="ctr">
              <a:solidFill>
                <a:srgbClr val="000000"/>
              </a:solidFill>
              <a:prstDash val="solid"/>
              <a:round/>
              <a:headEnd type="none" w="med" len="med"/>
              <a:tailEnd type="none" w="med" len="med"/>
            </a:ln>
          </a:left>
          <a:right>
            <a:ln w="3172" cap="flat" cmpd="sng" algn="ctr">
              <a:solidFill>
                <a:srgbClr val="000000"/>
              </a:solidFill>
              <a:prstDash val="solid"/>
              <a:round/>
              <a:headEnd type="none" w="med" len="med"/>
              <a:tailEnd type="none" w="med" len="med"/>
            </a:ln>
          </a:right>
        </a:tcBdr>
      </a:tcStyle>
    </a:band1V>
    <a:band2V>
      <a:tcStyle>
        <a:tcBdr>
          <a:left>
            <a:ln w="3172" cap="flat" cmpd="sng" algn="ctr">
              <a:solidFill>
                <a:srgbClr val="000000"/>
              </a:solidFill>
              <a:prstDash val="solid"/>
              <a:round/>
              <a:headEnd type="none" w="med" len="med"/>
              <a:tailEnd type="none" w="med" len="med"/>
            </a:ln>
          </a:left>
          <a:right>
            <a:ln w="3172" cap="flat" cmpd="sng" algn="ctr">
              <a:solidFill>
                <a:srgbClr val="000000"/>
              </a:solidFill>
              <a:prstDash val="solid"/>
              <a:round/>
              <a:headEnd type="none" w="med" len="med"/>
              <a:tailEnd type="none" w="med" len="med"/>
            </a:ln>
          </a:right>
        </a:tcBdr>
      </a:tcStyle>
    </a:band2V>
    <a:lastCol>
      <a:tcTxStyle b="on">
        <a:font>
          <a:latin typeface=""/>
          <a:ea typeface=""/>
          <a:cs typeface=""/>
        </a:font>
      </a:tcTxStyle>
      <a:tcStyle>
        <a:tcBdr/>
      </a:tcStyle>
    </a:lastCol>
    <a:firstCol>
      <a:tcTxStyle b="on">
        <a:font>
          <a:latin typeface=""/>
          <a:ea typeface=""/>
          <a:cs typeface=""/>
        </a:font>
      </a:tcTxStyle>
      <a:tcStyle>
        <a:tcBdr/>
      </a:tcStyle>
    </a:firstCol>
    <a:lastRow>
      <a:tcTxStyle b="on">
        <a:font>
          <a:latin typeface=""/>
          <a:ea typeface=""/>
          <a:cs typeface=""/>
        </a:font>
      </a:tcTxStyle>
      <a:tcStyle>
        <a:tcBdr>
          <a:top>
            <a:ln w="50804" cap="flat" cmpd="dbl" algn="ctr">
              <a:solidFill>
                <a:srgbClr val="000000"/>
              </a:solidFill>
              <a:prstDash val="solid"/>
              <a:round/>
              <a:headEnd type="none" w="med" len="med"/>
              <a:tailEnd type="none" w="med" len="med"/>
            </a:ln>
          </a:top>
        </a:tcBdr>
      </a:tcStyle>
    </a:lastRow>
    <a:firstRow>
      <a:tcTxStyle b="on">
        <a:font>
          <a:latin typeface="+mn-lt"/>
          <a:ea typeface="+mn-ea"/>
          <a:cs typeface="+mn-cs"/>
        </a:font>
        <a:srgbClr val="FFFFFF"/>
      </a:tcTxStyle>
      <a:tcStyle>
        <a:tcBdr/>
        <a:fill>
          <a:solidFill>
            <a:srgbClr val="000000"/>
          </a:solidFill>
        </a:fill>
      </a:tcStyle>
    </a:firstRow>
  </a:tblStyle>
  <a:tblStyle styleId="{073A0DAA-6AF3-43AB-8588-CEC1D06C72B9}" styleName="">
    <a:wholeTbl>
      <a:tcTxStyle>
        <a:font>
          <a:latin typeface="+mn-lt"/>
          <a:ea typeface="+mn-ea"/>
          <a:cs typeface="+mn-cs"/>
        </a:font>
        <a:srgbClr val="000000"/>
      </a:tcTxStyle>
      <a:tcStyle>
        <a:tcBdr>
          <a:left>
            <a:ln w="12701" cap="flat" cmpd="sng" algn="ctr">
              <a:solidFill>
                <a:srgbClr val="FFFFFF"/>
              </a:solidFill>
              <a:prstDash val="solid"/>
              <a:round/>
              <a:headEnd type="none" w="med" len="med"/>
              <a:tailEnd type="none" w="med" len="med"/>
            </a:ln>
          </a:left>
          <a:right>
            <a:ln w="12701" cap="flat" cmpd="sng" algn="ctr">
              <a:solidFill>
                <a:srgbClr val="FFFFFF"/>
              </a:solidFill>
              <a:prstDash val="solid"/>
              <a:round/>
              <a:headEnd type="none" w="med" len="med"/>
              <a:tailEnd type="none" w="med" len="med"/>
            </a:ln>
          </a:right>
          <a:top>
            <a:ln w="12701" cap="flat" cmpd="sng" algn="ctr">
              <a:solidFill>
                <a:srgbClr val="FFFFFF"/>
              </a:solidFill>
              <a:prstDash val="solid"/>
              <a:round/>
              <a:headEnd type="none" w="med" len="med"/>
              <a:tailEnd type="none" w="med" len="med"/>
            </a:ln>
          </a:top>
          <a:bottom>
            <a:ln w="12701" cap="flat" cmpd="sng" algn="ctr">
              <a:solidFill>
                <a:srgbClr val="FFFFFF"/>
              </a:solidFill>
              <a:prstDash val="solid"/>
              <a:round/>
              <a:headEnd type="none" w="med" len="med"/>
              <a:tailEnd type="none" w="med" len="med"/>
            </a:ln>
          </a:bottom>
        </a:tcBdr>
        <a:fill>
          <a:solidFill>
            <a:srgbClr val="E7E7E7"/>
          </a:solidFill>
        </a:fill>
      </a:tcStyle>
    </a:wholeTbl>
    <a:band1H>
      <a:tcStyle>
        <a:tcBdr/>
        <a:fill>
          <a:solidFill>
            <a:srgbClr val="CBCBCB"/>
          </a:solidFill>
        </a:fill>
      </a:tcStyle>
    </a:band1H>
    <a:band2H>
      <a:tcStyle>
        <a:tcBdr/>
      </a:tcStyle>
    </a:band2H>
    <a:band1V>
      <a:tcStyle>
        <a:tcBdr/>
        <a:fill>
          <a:solidFill>
            <a:srgbClr val="CBCBCB"/>
          </a:solidFill>
        </a:fill>
      </a:tcStyle>
    </a:band1V>
    <a:band2V>
      <a:tcStyle>
        <a:tcBdr/>
      </a:tcStyle>
    </a:band2V>
    <a:lastCol>
      <a:tcTxStyle b="on">
        <a:font>
          <a:latin typeface="+mn-lt"/>
          <a:ea typeface="+mn-ea"/>
          <a:cs typeface="+mn-cs"/>
        </a:font>
        <a:srgbClr val="FFFFFF"/>
      </a:tcTxStyle>
      <a:tcStyle>
        <a:tcBdr/>
        <a:fill>
          <a:solidFill>
            <a:srgbClr val="000000"/>
          </a:solidFill>
        </a:fill>
      </a:tcStyle>
    </a:lastCol>
    <a:firstCol>
      <a:tcTxStyle b="on">
        <a:font>
          <a:latin typeface="+mn-lt"/>
          <a:ea typeface="+mn-ea"/>
          <a:cs typeface="+mn-cs"/>
        </a:font>
        <a:srgbClr val="FFFFFF"/>
      </a:tcTxStyle>
      <a:tcStyle>
        <a:tcBdr/>
        <a:fill>
          <a:solidFill>
            <a:srgbClr val="000000"/>
          </a:solidFill>
        </a:fill>
      </a:tcStyle>
    </a:firstCol>
    <a:lastRow>
      <a:tcTxStyle b="on">
        <a:font>
          <a:latin typeface="+mn-lt"/>
          <a:ea typeface="+mn-ea"/>
          <a:cs typeface="+mn-cs"/>
        </a:font>
        <a:srgbClr val="FFFFFF"/>
      </a:tcTxStyle>
      <a:tcStyle>
        <a:tcBdr>
          <a:top>
            <a:ln w="38103" cap="flat" cmpd="sng" algn="ctr">
              <a:solidFill>
                <a:srgbClr val="FFFFFF"/>
              </a:solidFill>
              <a:prstDash val="solid"/>
              <a:round/>
              <a:headEnd type="none" w="med" len="med"/>
              <a:tailEnd type="none" w="med" len="med"/>
            </a:ln>
          </a:top>
        </a:tcBdr>
        <a:fill>
          <a:solidFill>
            <a:srgbClr val="000000"/>
          </a:solidFill>
        </a:fill>
      </a:tcStyle>
    </a:lastRow>
    <a:firstRow>
      <a:tcTxStyle b="on">
        <a:font>
          <a:latin typeface="+mn-lt"/>
          <a:ea typeface="+mn-ea"/>
          <a:cs typeface="+mn-cs"/>
        </a:font>
        <a:srgbClr val="FFFFFF"/>
      </a:tcTxStyle>
      <a:tcStyle>
        <a:tcBdr>
          <a:bottom>
            <a:ln w="38103" cap="flat" cmpd="sng" algn="ctr">
              <a:solidFill>
                <a:srgbClr val="FFFFFF"/>
              </a:solidFill>
              <a:prstDash val="solid"/>
              <a:round/>
              <a:headEnd type="none" w="med" len="med"/>
              <a:tailEnd type="none" w="med" len="med"/>
            </a:ln>
          </a:bottom>
        </a:tcBdr>
        <a:fill>
          <a:solidFill>
            <a:srgbClr val="000000"/>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4" d="100"/>
          <a:sy n="64" d="100"/>
        </p:scale>
        <p:origin x="66" y="7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handoutMaster" Target="handoutMasters/handout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70C38BC-E535-F269-C0BF-21E54515AC6A}"/>
              </a:ext>
            </a:extLst>
          </p:cNvPr>
          <p:cNvSpPr txBox="1">
            <a:spLocks noGrp="1"/>
          </p:cNvSpPr>
          <p:nvPr>
            <p:ph type="hdr" sz="quarter"/>
          </p:nvPr>
        </p:nvSpPr>
        <p:spPr>
          <a:xfrm>
            <a:off x="0" y="0"/>
            <a:ext cx="2971800" cy="458791"/>
          </a:xfrm>
          <a:prstGeom prst="rect">
            <a:avLst/>
          </a:prstGeom>
          <a:noFill/>
          <a:ln>
            <a:noFill/>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200" b="0" i="0" u="none" strike="noStrike" kern="1200" cap="none" spc="0" baseline="0">
              <a:solidFill>
                <a:srgbClr val="000000"/>
              </a:solidFill>
              <a:uFillTx/>
              <a:latin typeface="Calibri"/>
            </a:endParaRPr>
          </a:p>
        </p:txBody>
      </p:sp>
      <p:sp>
        <p:nvSpPr>
          <p:cNvPr id="3" name="Date Placeholder 2">
            <a:extLst>
              <a:ext uri="{FF2B5EF4-FFF2-40B4-BE49-F238E27FC236}">
                <a16:creationId xmlns:a16="http://schemas.microsoft.com/office/drawing/2014/main" id="{9EC137B2-08E8-8408-8F38-FDDA5B0266CE}"/>
              </a:ext>
            </a:extLst>
          </p:cNvPr>
          <p:cNvSpPr txBox="1">
            <a:spLocks noGrp="1"/>
          </p:cNvSpPr>
          <p:nvPr>
            <p:ph type="dt" sz="quarter" idx="1"/>
          </p:nvPr>
        </p:nvSpPr>
        <p:spPr>
          <a:xfrm>
            <a:off x="3884608" y="0"/>
            <a:ext cx="2971800" cy="458791"/>
          </a:xfrm>
          <a:prstGeom prst="rect">
            <a:avLst/>
          </a:prstGeom>
          <a:noFill/>
          <a:ln>
            <a:noFill/>
          </a:ln>
        </p:spPr>
        <p:txBody>
          <a:bodyPr vert="horz" wrap="square" lIns="91440" tIns="45720" rIns="91440" bIns="45720" anchor="t" anchorCtr="0" compatLnSpc="1">
            <a:noAutofit/>
          </a:bodyPr>
          <a:lstStyle/>
          <a:p>
            <a:pPr marL="0" marR="0" lvl="0" indent="0" algn="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fld id="{982C1956-9BA9-4D4C-BA5B-4F7A098BB185}" type="datetime1">
              <a:rPr lang="en-US" sz="1200" b="0" i="0" u="none" strike="noStrike" kern="1200" cap="none" spc="0" baseline="0">
                <a:solidFill>
                  <a:srgbClr val="000000"/>
                </a:solidFill>
                <a:uFillTx/>
                <a:latin typeface="Calibri"/>
              </a:rPr>
              <a:pPr marL="0" marR="0" lvl="0" indent="0" algn="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t>10/8/2026</a:t>
            </a:fld>
            <a:endParaRPr lang="en-US" sz="1200" b="0" i="0" u="none" strike="noStrike" kern="1200" cap="none" spc="0" baseline="0">
              <a:solidFill>
                <a:srgbClr val="000000"/>
              </a:solidFill>
              <a:uFillTx/>
              <a:latin typeface="Calibri"/>
            </a:endParaRPr>
          </a:p>
        </p:txBody>
      </p:sp>
      <p:sp>
        <p:nvSpPr>
          <p:cNvPr id="4" name="Footer Placeholder 3">
            <a:extLst>
              <a:ext uri="{FF2B5EF4-FFF2-40B4-BE49-F238E27FC236}">
                <a16:creationId xmlns:a16="http://schemas.microsoft.com/office/drawing/2014/main" id="{D9FD27E5-70C3-C464-C136-0DA74FFFFE01}"/>
              </a:ext>
            </a:extLst>
          </p:cNvPr>
          <p:cNvSpPr txBox="1">
            <a:spLocks noGrp="1"/>
          </p:cNvSpPr>
          <p:nvPr>
            <p:ph type="ftr" sz="quarter" idx="2"/>
          </p:nvPr>
        </p:nvSpPr>
        <p:spPr>
          <a:xfrm>
            <a:off x="0" y="8685208"/>
            <a:ext cx="2971800" cy="458791"/>
          </a:xfrm>
          <a:prstGeom prst="rect">
            <a:avLst/>
          </a:prstGeom>
          <a:noFill/>
          <a:ln>
            <a:noFill/>
          </a:ln>
        </p:spPr>
        <p:txBody>
          <a:bodyPr vert="horz" wrap="square" lIns="91440" tIns="45720" rIns="91440" bIns="45720" anchor="b"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200" b="0" i="0" u="none" strike="noStrike" kern="1200" cap="none" spc="0" baseline="0">
              <a:solidFill>
                <a:srgbClr val="000000"/>
              </a:solidFill>
              <a:uFillTx/>
              <a:latin typeface="Calibri"/>
            </a:endParaRPr>
          </a:p>
        </p:txBody>
      </p:sp>
      <p:sp>
        <p:nvSpPr>
          <p:cNvPr id="5" name="Slide Number Placeholder 4">
            <a:extLst>
              <a:ext uri="{FF2B5EF4-FFF2-40B4-BE49-F238E27FC236}">
                <a16:creationId xmlns:a16="http://schemas.microsoft.com/office/drawing/2014/main" id="{DCC5A1D9-5035-6B80-FA61-C951FF03B3B3}"/>
              </a:ext>
            </a:extLst>
          </p:cNvPr>
          <p:cNvSpPr txBox="1">
            <a:spLocks noGrp="1"/>
          </p:cNvSpPr>
          <p:nvPr>
            <p:ph type="sldNum" sz="quarter" idx="3"/>
          </p:nvPr>
        </p:nvSpPr>
        <p:spPr>
          <a:xfrm>
            <a:off x="3884608" y="8685208"/>
            <a:ext cx="2971800" cy="458791"/>
          </a:xfrm>
          <a:prstGeom prst="rect">
            <a:avLst/>
          </a:prstGeom>
          <a:noFill/>
          <a:ln>
            <a:noFill/>
          </a:ln>
        </p:spPr>
        <p:txBody>
          <a:bodyPr vert="horz" wrap="square" lIns="91440" tIns="45720" rIns="91440" bIns="45720" anchor="b" anchorCtr="0" compatLnSpc="1">
            <a:noAutofit/>
          </a:bodyPr>
          <a:lstStyle/>
          <a:p>
            <a:pPr marL="0" marR="0" lvl="0" indent="0" algn="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fld id="{28AF9C17-BF24-450B-B1DE-0C2061EBCC6E}" type="slidenum">
              <a:t>‹#›</a:t>
            </a:fld>
            <a:endParaRPr lang="en-US" sz="1200" b="0" i="0" u="none" strike="noStrike" kern="1200" cap="none" spc="0" baseline="0">
              <a:solidFill>
                <a:srgbClr val="000000"/>
              </a:solidFill>
              <a:uFillTx/>
              <a:latin typeface="Calibri"/>
            </a:endParaRPr>
          </a:p>
        </p:txBody>
      </p:sp>
    </p:spTree>
    <p:extLst>
      <p:ext uri="{BB962C8B-B14F-4D97-AF65-F5344CB8AC3E}">
        <p14:creationId xmlns:p14="http://schemas.microsoft.com/office/powerpoint/2010/main" val="89870930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33CAB5A-A175-A802-6BAF-141752B34377}"/>
              </a:ext>
            </a:extLst>
          </p:cNvPr>
          <p:cNvSpPr txBox="1">
            <a:spLocks noGrp="1"/>
          </p:cNvSpPr>
          <p:nvPr>
            <p:ph type="hdr" sz="quarter"/>
          </p:nvPr>
        </p:nvSpPr>
        <p:spPr>
          <a:xfrm>
            <a:off x="0" y="0"/>
            <a:ext cx="2971800" cy="458791"/>
          </a:xfrm>
          <a:prstGeom prst="rect">
            <a:avLst/>
          </a:prstGeom>
          <a:noFill/>
          <a:ln>
            <a:noFill/>
          </a:ln>
        </p:spPr>
        <p:txBody>
          <a:bodyPr vert="horz" wrap="square" lIns="91440" tIns="45720" rIns="91440" bIns="45720" anchor="t" anchorCtr="0" compatLnSpc="1">
            <a:noAutofit/>
          </a:bodyPr>
          <a:lstStyle>
            <a:lvl1pPr marL="0" marR="0" lvl="0" indent="0" algn="l" defTabSz="914400" rtl="0" fontAlgn="auto" hangingPunct="1">
              <a:lnSpc>
                <a:spcPct val="100000"/>
              </a:lnSpc>
              <a:spcBef>
                <a:spcPts val="0"/>
              </a:spcBef>
              <a:spcAft>
                <a:spcPts val="0"/>
              </a:spcAft>
              <a:buNone/>
              <a:tabLst/>
              <a:defRPr lang="en-US" sz="1200" b="0" i="0" u="none" strike="noStrike" kern="1200" cap="none" spc="0" baseline="0">
                <a:solidFill>
                  <a:srgbClr val="000000"/>
                </a:solidFill>
                <a:uFillTx/>
                <a:latin typeface="Calibri"/>
              </a:defRPr>
            </a:lvl1pPr>
          </a:lstStyle>
          <a:p>
            <a:pPr lvl="0"/>
            <a:endParaRPr lang="en-US"/>
          </a:p>
        </p:txBody>
      </p:sp>
      <p:sp>
        <p:nvSpPr>
          <p:cNvPr id="3" name="Date Placeholder 2">
            <a:extLst>
              <a:ext uri="{FF2B5EF4-FFF2-40B4-BE49-F238E27FC236}">
                <a16:creationId xmlns:a16="http://schemas.microsoft.com/office/drawing/2014/main" id="{5069A12D-5974-6DC9-933F-9D8E80E38400}"/>
              </a:ext>
            </a:extLst>
          </p:cNvPr>
          <p:cNvSpPr txBox="1">
            <a:spLocks noGrp="1"/>
          </p:cNvSpPr>
          <p:nvPr>
            <p:ph type="dt" idx="1"/>
          </p:nvPr>
        </p:nvSpPr>
        <p:spPr>
          <a:xfrm>
            <a:off x="3884608" y="0"/>
            <a:ext cx="2971800" cy="458791"/>
          </a:xfrm>
          <a:prstGeom prst="rect">
            <a:avLst/>
          </a:prstGeom>
          <a:noFill/>
          <a:ln>
            <a:noFill/>
          </a:ln>
        </p:spPr>
        <p:txBody>
          <a:bodyPr vert="horz" wrap="square" lIns="91440" tIns="45720" rIns="91440" bIns="45720" anchor="t" anchorCtr="0" compatLnSpc="1">
            <a:noAutofit/>
          </a:bodyPr>
          <a:lstStyle>
            <a:lvl1pPr marL="0" marR="0" lvl="0" indent="0" algn="r" defTabSz="914400" rtl="0" fontAlgn="auto" hangingPunct="1">
              <a:lnSpc>
                <a:spcPct val="100000"/>
              </a:lnSpc>
              <a:spcBef>
                <a:spcPts val="0"/>
              </a:spcBef>
              <a:spcAft>
                <a:spcPts val="0"/>
              </a:spcAft>
              <a:buNone/>
              <a:tabLst/>
              <a:defRPr lang="en-US" sz="1200" b="0" i="0" u="none" strike="noStrike" kern="1200" cap="none" spc="0" baseline="0">
                <a:solidFill>
                  <a:srgbClr val="000000"/>
                </a:solidFill>
                <a:uFillTx/>
                <a:latin typeface="Calibri"/>
              </a:defRPr>
            </a:lvl1pPr>
          </a:lstStyle>
          <a:p>
            <a:pPr lvl="0"/>
            <a:fld id="{0106500E-BEF5-4CEC-B34C-FC38B480AD1E}" type="datetime1">
              <a:rPr lang="en-US"/>
              <a:pPr lvl="0"/>
              <a:t>10/8/2026</a:t>
            </a:fld>
            <a:endParaRPr lang="en-US"/>
          </a:p>
        </p:txBody>
      </p:sp>
      <p:sp>
        <p:nvSpPr>
          <p:cNvPr id="4" name="Slide Image Placeholder 3">
            <a:extLst>
              <a:ext uri="{FF2B5EF4-FFF2-40B4-BE49-F238E27FC236}">
                <a16:creationId xmlns:a16="http://schemas.microsoft.com/office/drawing/2014/main" id="{C694C862-6590-570A-4455-EAF41B817144}"/>
              </a:ext>
            </a:extLst>
          </p:cNvPr>
          <p:cNvSpPr>
            <a:spLocks noGrp="1" noRot="1" noChangeAspect="1"/>
          </p:cNvSpPr>
          <p:nvPr>
            <p:ph type="sldImg" idx="2"/>
          </p:nvPr>
        </p:nvSpPr>
        <p:spPr>
          <a:xfrm>
            <a:off x="685800" y="1143000"/>
            <a:ext cx="5486400" cy="3086099"/>
          </a:xfrm>
          <a:prstGeom prst="rect">
            <a:avLst/>
          </a:prstGeom>
          <a:noFill/>
          <a:ln w="12701">
            <a:solidFill>
              <a:srgbClr val="000000"/>
            </a:solidFill>
            <a:prstDash val="solid"/>
          </a:ln>
        </p:spPr>
        <p:txBody>
          <a:bodyPr lIns="0" tIns="0" rIns="0" bIns="0"/>
          <a:lstStyle/>
          <a:p>
            <a:endParaRPr lang="en-US"/>
          </a:p>
        </p:txBody>
      </p:sp>
      <p:sp>
        <p:nvSpPr>
          <p:cNvPr id="5" name="Notes Placeholder 4">
            <a:extLst>
              <a:ext uri="{FF2B5EF4-FFF2-40B4-BE49-F238E27FC236}">
                <a16:creationId xmlns:a16="http://schemas.microsoft.com/office/drawing/2014/main" id="{5815F62D-8880-1C37-57A8-F8567375FA05}"/>
              </a:ext>
            </a:extLst>
          </p:cNvPr>
          <p:cNvSpPr txBox="1">
            <a:spLocks noGrp="1"/>
          </p:cNvSpPr>
          <p:nvPr>
            <p:ph type="body" sz="quarter" idx="3"/>
          </p:nvPr>
        </p:nvSpPr>
        <p:spPr>
          <a:xfrm>
            <a:off x="685800" y="4400549"/>
            <a:ext cx="5486400" cy="3600450"/>
          </a:xfrm>
          <a:prstGeom prst="rect">
            <a:avLst/>
          </a:prstGeom>
          <a:noFill/>
          <a:ln>
            <a:noFill/>
          </a:ln>
        </p:spPr>
        <p:txBody>
          <a:bodyPr vert="horz" wrap="square" lIns="91440" tIns="45720" rIns="91440" bIns="45720" anchor="t" anchorCtr="0" compatLnSpc="1">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5B42D18A-EDB5-08E7-6316-E2A91D8DDCF6}"/>
              </a:ext>
            </a:extLst>
          </p:cNvPr>
          <p:cNvSpPr txBox="1">
            <a:spLocks noGrp="1"/>
          </p:cNvSpPr>
          <p:nvPr>
            <p:ph type="ftr" sz="quarter" idx="4"/>
          </p:nvPr>
        </p:nvSpPr>
        <p:spPr>
          <a:xfrm>
            <a:off x="0" y="8685208"/>
            <a:ext cx="2971800" cy="458791"/>
          </a:xfrm>
          <a:prstGeom prst="rect">
            <a:avLst/>
          </a:prstGeom>
          <a:noFill/>
          <a:ln>
            <a:noFill/>
          </a:ln>
        </p:spPr>
        <p:txBody>
          <a:bodyPr vert="horz" wrap="square" lIns="91440" tIns="45720" rIns="91440" bIns="45720" anchor="b" anchorCtr="0" compatLnSpc="1">
            <a:noAutofit/>
          </a:bodyPr>
          <a:lstStyle>
            <a:lvl1pPr marL="0" marR="0" lvl="0" indent="0" algn="l" defTabSz="914400" rtl="0" fontAlgn="auto" hangingPunct="1">
              <a:lnSpc>
                <a:spcPct val="100000"/>
              </a:lnSpc>
              <a:spcBef>
                <a:spcPts val="0"/>
              </a:spcBef>
              <a:spcAft>
                <a:spcPts val="0"/>
              </a:spcAft>
              <a:buNone/>
              <a:tabLst/>
              <a:defRPr lang="en-US" sz="1200" b="0" i="0" u="none" strike="noStrike" kern="1200" cap="none" spc="0" baseline="0">
                <a:solidFill>
                  <a:srgbClr val="000000"/>
                </a:solidFill>
                <a:uFillTx/>
                <a:latin typeface="Calibri"/>
              </a:defRPr>
            </a:lvl1pPr>
          </a:lstStyle>
          <a:p>
            <a:pPr lvl="0"/>
            <a:endParaRPr lang="en-US"/>
          </a:p>
        </p:txBody>
      </p:sp>
      <p:sp>
        <p:nvSpPr>
          <p:cNvPr id="7" name="Slide Number Placeholder 6">
            <a:extLst>
              <a:ext uri="{FF2B5EF4-FFF2-40B4-BE49-F238E27FC236}">
                <a16:creationId xmlns:a16="http://schemas.microsoft.com/office/drawing/2014/main" id="{538C0B01-9759-28B4-DDE4-9C9EBFC80A4E}"/>
              </a:ext>
            </a:extLst>
          </p:cNvPr>
          <p:cNvSpPr txBox="1">
            <a:spLocks noGrp="1"/>
          </p:cNvSpPr>
          <p:nvPr>
            <p:ph type="sldNum" sz="quarter" idx="5"/>
          </p:nvPr>
        </p:nvSpPr>
        <p:spPr>
          <a:xfrm>
            <a:off x="3884608" y="8685208"/>
            <a:ext cx="2971800" cy="458791"/>
          </a:xfrm>
          <a:prstGeom prst="rect">
            <a:avLst/>
          </a:prstGeom>
          <a:noFill/>
          <a:ln>
            <a:noFill/>
          </a:ln>
        </p:spPr>
        <p:txBody>
          <a:bodyPr vert="horz" wrap="square" lIns="91440" tIns="45720" rIns="91440" bIns="45720" anchor="b" anchorCtr="0" compatLnSpc="1">
            <a:noAutofit/>
          </a:bodyPr>
          <a:lstStyle>
            <a:lvl1pPr marL="0" marR="0" lvl="0" indent="0" algn="r" defTabSz="914400" rtl="0" fontAlgn="auto" hangingPunct="1">
              <a:lnSpc>
                <a:spcPct val="100000"/>
              </a:lnSpc>
              <a:spcBef>
                <a:spcPts val="0"/>
              </a:spcBef>
              <a:spcAft>
                <a:spcPts val="0"/>
              </a:spcAft>
              <a:buNone/>
              <a:tabLst/>
              <a:defRPr lang="en-US" sz="1200" b="0" i="0" u="none" strike="noStrike" kern="1200" cap="none" spc="0" baseline="0">
                <a:solidFill>
                  <a:srgbClr val="000000"/>
                </a:solidFill>
                <a:uFillTx/>
                <a:latin typeface="Calibri"/>
              </a:defRPr>
            </a:lvl1pPr>
          </a:lstStyle>
          <a:p>
            <a:pPr lvl="0"/>
            <a:fld id="{0A31C701-D3BB-4EE7-98DB-6F7AAAF65FA1}" type="slidenum">
              <a:t>‹#›</a:t>
            </a:fld>
            <a:endParaRPr lang="en-US"/>
          </a:p>
        </p:txBody>
      </p:sp>
    </p:spTree>
    <p:extLst>
      <p:ext uri="{BB962C8B-B14F-4D97-AF65-F5344CB8AC3E}">
        <p14:creationId xmlns:p14="http://schemas.microsoft.com/office/powerpoint/2010/main" val="2387768979"/>
      </p:ext>
    </p:extLst>
  </p:cSld>
  <p:clrMap bg1="lt1" tx1="dk1" bg2="lt2" tx2="dk2" accent1="accent1" accent2="accent2" accent3="accent3" accent4="accent4" accent5="accent5" accent6="accent6" hlink="hlink" folHlink="folHlink"/>
  <p:notesStyle>
    <a:lvl1pPr marL="0" marR="0" lvl="0" indent="0" algn="l" defTabSz="914400" rtl="0" fontAlgn="auto" hangingPunct="1">
      <a:lnSpc>
        <a:spcPct val="100000"/>
      </a:lnSpc>
      <a:spcBef>
        <a:spcPts val="0"/>
      </a:spcBef>
      <a:spcAft>
        <a:spcPts val="0"/>
      </a:spcAft>
      <a:buNone/>
      <a:tabLst/>
      <a:defRPr lang="en-US" sz="1200" b="0" i="0" u="none" strike="noStrike" kern="1200" cap="none" spc="0" baseline="0">
        <a:solidFill>
          <a:srgbClr val="000000"/>
        </a:solidFill>
        <a:uFillTx/>
        <a:latin typeface="Calibri"/>
      </a:defRPr>
    </a:lvl1pPr>
    <a:lvl2pPr marL="457200" marR="0" lvl="1" indent="0" algn="l" defTabSz="914400" rtl="0" fontAlgn="auto" hangingPunct="1">
      <a:lnSpc>
        <a:spcPct val="100000"/>
      </a:lnSpc>
      <a:spcBef>
        <a:spcPts val="0"/>
      </a:spcBef>
      <a:spcAft>
        <a:spcPts val="0"/>
      </a:spcAft>
      <a:buNone/>
      <a:tabLst/>
      <a:defRPr lang="en-US" sz="1200" b="0" i="0" u="none" strike="noStrike" kern="1200" cap="none" spc="0" baseline="0">
        <a:solidFill>
          <a:srgbClr val="000000"/>
        </a:solidFill>
        <a:uFillTx/>
        <a:latin typeface="Calibri"/>
      </a:defRPr>
    </a:lvl2pPr>
    <a:lvl3pPr marL="914400" marR="0" lvl="2" indent="0" algn="l" defTabSz="914400" rtl="0" fontAlgn="auto" hangingPunct="1">
      <a:lnSpc>
        <a:spcPct val="100000"/>
      </a:lnSpc>
      <a:spcBef>
        <a:spcPts val="0"/>
      </a:spcBef>
      <a:spcAft>
        <a:spcPts val="0"/>
      </a:spcAft>
      <a:buNone/>
      <a:tabLst/>
      <a:defRPr lang="en-US" sz="1200" b="0" i="0" u="none" strike="noStrike" kern="1200" cap="none" spc="0" baseline="0">
        <a:solidFill>
          <a:srgbClr val="000000"/>
        </a:solidFill>
        <a:uFillTx/>
        <a:latin typeface="Calibri"/>
      </a:defRPr>
    </a:lvl3pPr>
    <a:lvl4pPr marL="1371600" marR="0" lvl="3" indent="0" algn="l" defTabSz="914400" rtl="0" fontAlgn="auto" hangingPunct="1">
      <a:lnSpc>
        <a:spcPct val="100000"/>
      </a:lnSpc>
      <a:spcBef>
        <a:spcPts val="0"/>
      </a:spcBef>
      <a:spcAft>
        <a:spcPts val="0"/>
      </a:spcAft>
      <a:buNone/>
      <a:tabLst/>
      <a:defRPr lang="en-US" sz="1200" b="0" i="0" u="none" strike="noStrike" kern="1200" cap="none" spc="0" baseline="0">
        <a:solidFill>
          <a:srgbClr val="000000"/>
        </a:solidFill>
        <a:uFillTx/>
        <a:latin typeface="Calibri"/>
      </a:defRPr>
    </a:lvl4pPr>
    <a:lvl5pPr marL="1828800" marR="0" lvl="4" indent="0" algn="l" defTabSz="914400" rtl="0" fontAlgn="auto" hangingPunct="1">
      <a:lnSpc>
        <a:spcPct val="100000"/>
      </a:lnSpc>
      <a:spcBef>
        <a:spcPts val="0"/>
      </a:spcBef>
      <a:spcAft>
        <a:spcPts val="0"/>
      </a:spcAft>
      <a:buNone/>
      <a:tabLst/>
      <a:defRPr lang="en-US" sz="1200" b="0" i="0" u="none" strike="noStrike" kern="1200" cap="none" spc="0" baseline="0">
        <a:solidFill>
          <a:srgbClr val="000000"/>
        </a:solidFill>
        <a:uFillTx/>
        <a:latin typeface="Calibri"/>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28C622-5186-3FBA-C397-02F9C1CF38CB}"/>
              </a:ext>
            </a:extLst>
          </p:cNvPr>
          <p:cNvSpPr>
            <a:spLocks noGrp="1" noRot="1" noChangeAspect="1"/>
          </p:cNvSpPr>
          <p:nvPr>
            <p:ph type="sldImg"/>
          </p:nvPr>
        </p:nvSpPr>
        <p:spPr>
          <a:xfrm>
            <a:off x="685800" y="1143000"/>
            <a:ext cx="5486400" cy="3086100"/>
          </a:xfrm>
        </p:spPr>
        <p:txBody>
          <a:bodyPr/>
          <a:lstStyle/>
          <a:p>
            <a:endParaRPr lang="en-US"/>
          </a:p>
        </p:txBody>
      </p:sp>
      <p:sp>
        <p:nvSpPr>
          <p:cNvPr id="3" name="Notes Placeholder 2">
            <a:extLst>
              <a:ext uri="{FF2B5EF4-FFF2-40B4-BE49-F238E27FC236}">
                <a16:creationId xmlns:a16="http://schemas.microsoft.com/office/drawing/2014/main" id="{D05ACB7A-E362-E3C8-1976-938968A84B50}"/>
              </a:ext>
            </a:extLst>
          </p:cNvPr>
          <p:cNvSpPr txBox="1">
            <a:spLocks noGrp="1"/>
          </p:cNvSpPr>
          <p:nvPr>
            <p:ph type="body" sz="quarter" idx="1"/>
          </p:nvPr>
        </p:nvSpPr>
        <p:spPr/>
        <p:txBody>
          <a:bodyPr/>
          <a:lstStyle/>
          <a:p>
            <a:r>
              <a:t>Introduce yourself and the aim: find out which customer factors drive medical insurance charges, so the company can price policies and advise customers better.</a:t>
            </a:r>
          </a:p>
        </p:txBody>
      </p:sp>
      <p:sp>
        <p:nvSpPr>
          <p:cNvPr id="4" name="Slide Number Placeholder 3">
            <a:extLst>
              <a:ext uri="{FF2B5EF4-FFF2-40B4-BE49-F238E27FC236}">
                <a16:creationId xmlns:a16="http://schemas.microsoft.com/office/drawing/2014/main" id="{E5930645-33A3-1352-BD6A-3334F4E45282}"/>
              </a:ext>
            </a:extLst>
          </p:cNvPr>
          <p:cNvSpPr txBox="1"/>
          <p:nvPr/>
        </p:nvSpPr>
        <p:spPr>
          <a:xfrm>
            <a:off x="3884608" y="8685208"/>
            <a:ext cx="2971800" cy="458791"/>
          </a:xfrm>
          <a:prstGeom prst="rect">
            <a:avLst/>
          </a:prstGeom>
          <a:noFill/>
          <a:ln cap="flat">
            <a:noFill/>
          </a:ln>
        </p:spPr>
        <p:txBody>
          <a:bodyPr vert="horz" wrap="square" lIns="91440" tIns="45720" rIns="91440" bIns="45720" anchor="b" anchorCtr="0" compatLnSpc="1">
            <a:noAutofit/>
          </a:bodyPr>
          <a:lstStyle/>
          <a:p>
            <a:pPr marL="0" marR="0" lvl="0" indent="0" algn="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fld id="{8480DE24-B8B5-45E4-BF68-96181C67C9C7}" type="slidenum">
              <a:t>1</a:t>
            </a:fld>
            <a:endParaRPr lang="en-US" sz="1200" b="0" i="0" u="none" strike="noStrike" kern="1200" cap="none" spc="0" baseline="0">
              <a:solidFill>
                <a:srgbClr val="000000"/>
              </a:solidFill>
              <a:uFillTx/>
              <a:latin typeface="Calibri"/>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9879B4-F0B2-A0F9-D91F-53A35942981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9B4399EC-446B-5BBD-7EB4-DA190E376813}"/>
              </a:ext>
            </a:extLst>
          </p:cNvPr>
          <p:cNvSpPr txBox="1">
            <a:spLocks noGrp="1"/>
          </p:cNvSpPr>
          <p:nvPr>
            <p:ph type="body" sz="quarter" idx="1"/>
          </p:nvPr>
        </p:nvSpPr>
        <p:spPr/>
        <p:txBody>
          <a:bodyPr/>
          <a:lstStyle/>
          <a:p>
            <a:endParaRPr lang="en-US"/>
          </a:p>
        </p:txBody>
      </p:sp>
      <p:sp>
        <p:nvSpPr>
          <p:cNvPr id="4" name="Slide Number Placeholder 3">
            <a:extLst>
              <a:ext uri="{FF2B5EF4-FFF2-40B4-BE49-F238E27FC236}">
                <a16:creationId xmlns:a16="http://schemas.microsoft.com/office/drawing/2014/main" id="{178F54AA-27AF-4E0C-15F8-D430D0DF2921}"/>
              </a:ext>
            </a:extLst>
          </p:cNvPr>
          <p:cNvSpPr txBox="1"/>
          <p:nvPr/>
        </p:nvSpPr>
        <p:spPr>
          <a:xfrm>
            <a:off x="3884608" y="8685208"/>
            <a:ext cx="2971800" cy="458791"/>
          </a:xfrm>
          <a:prstGeom prst="rect">
            <a:avLst/>
          </a:prstGeom>
          <a:noFill/>
          <a:ln cap="flat">
            <a:noFill/>
          </a:ln>
        </p:spPr>
        <p:txBody>
          <a:bodyPr vert="horz" wrap="square" lIns="91440" tIns="45720" rIns="91440" bIns="45720" anchor="b" anchorCtr="0" compatLnSpc="1">
            <a:noAutofit/>
          </a:bodyPr>
          <a:lstStyle/>
          <a:p>
            <a:pPr marL="0" marR="0" lvl="0" indent="0" algn="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fld id="{35C490D5-350D-4F07-AF0B-91B5A7636B49}" type="slidenum">
              <a:t>2</a:t>
            </a:fld>
            <a:endParaRPr lang="en-US" sz="1200" b="0" i="0" u="none" strike="noStrike" kern="1200" cap="none" spc="0" baseline="0">
              <a:solidFill>
                <a:srgbClr val="000000"/>
              </a:solidFill>
              <a:uFillTx/>
              <a:latin typeface="Calibri"/>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61687A-8841-C8BE-F45E-23967FF05377}"/>
              </a:ext>
            </a:extLst>
          </p:cNvPr>
          <p:cNvSpPr>
            <a:spLocks noGrp="1" noRot="1" noChangeAspect="1"/>
          </p:cNvSpPr>
          <p:nvPr>
            <p:ph type="sldImg"/>
          </p:nvPr>
        </p:nvSpPr>
        <p:spPr>
          <a:xfrm>
            <a:off x="685800" y="1143000"/>
            <a:ext cx="5486400" cy="3086100"/>
          </a:xfrm>
        </p:spPr>
        <p:txBody>
          <a:bodyPr/>
          <a:lstStyle/>
          <a:p>
            <a:endParaRPr lang="en-US"/>
          </a:p>
        </p:txBody>
      </p:sp>
      <p:sp>
        <p:nvSpPr>
          <p:cNvPr id="3" name="Notes Placeholder 2">
            <a:extLst>
              <a:ext uri="{FF2B5EF4-FFF2-40B4-BE49-F238E27FC236}">
                <a16:creationId xmlns:a16="http://schemas.microsoft.com/office/drawing/2014/main" id="{82773B69-0C4C-7A3F-8756-F8AC13682602}"/>
              </a:ext>
            </a:extLst>
          </p:cNvPr>
          <p:cNvSpPr txBox="1">
            <a:spLocks noGrp="1"/>
          </p:cNvSpPr>
          <p:nvPr>
            <p:ph type="body" sz="quarter" idx="1"/>
          </p:nvPr>
        </p:nvSpPr>
        <p:spPr/>
        <p:txBody>
          <a:bodyPr/>
          <a:lstStyle/>
          <a:p>
            <a:endParaRPr lang="en-US"/>
          </a:p>
        </p:txBody>
      </p:sp>
      <p:sp>
        <p:nvSpPr>
          <p:cNvPr id="4" name="Slide Number Placeholder 3">
            <a:extLst>
              <a:ext uri="{FF2B5EF4-FFF2-40B4-BE49-F238E27FC236}">
                <a16:creationId xmlns:a16="http://schemas.microsoft.com/office/drawing/2014/main" id="{C5714933-4834-5E32-CA72-F9BDDAF5B3FD}"/>
              </a:ext>
            </a:extLst>
          </p:cNvPr>
          <p:cNvSpPr txBox="1"/>
          <p:nvPr/>
        </p:nvSpPr>
        <p:spPr>
          <a:xfrm>
            <a:off x="3884608" y="8685208"/>
            <a:ext cx="2971800" cy="458791"/>
          </a:xfrm>
          <a:prstGeom prst="rect">
            <a:avLst/>
          </a:prstGeom>
          <a:noFill/>
          <a:ln cap="flat">
            <a:noFill/>
          </a:ln>
        </p:spPr>
        <p:txBody>
          <a:bodyPr vert="horz" wrap="square" lIns="91440" tIns="45720" rIns="91440" bIns="45720" anchor="b" anchorCtr="0" compatLnSpc="1">
            <a:noAutofit/>
          </a:bodyPr>
          <a:lstStyle/>
          <a:p>
            <a:pPr marL="0" marR="0" lvl="0" indent="0" algn="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fld id="{E1987355-90D4-4C0E-8262-24618441D8EC}" type="slidenum">
              <a:t>3</a:t>
            </a:fld>
            <a:endParaRPr lang="en-US" sz="1200" b="0" i="0" u="none" strike="noStrike" kern="1200" cap="none" spc="0" baseline="0">
              <a:solidFill>
                <a:srgbClr val="000000"/>
              </a:solidFill>
              <a:uFillTx/>
              <a:latin typeface="Calibri"/>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B1DCE6-B6CC-5687-1B59-BEDE0030ECF3}"/>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154D88A3-6602-5302-DA6E-8E92A057237E}"/>
              </a:ext>
            </a:extLst>
          </p:cNvPr>
          <p:cNvSpPr txBox="1">
            <a:spLocks noGrp="1"/>
          </p:cNvSpPr>
          <p:nvPr>
            <p:ph type="body" sz="quarter" idx="1"/>
          </p:nvPr>
        </p:nvSpPr>
        <p:spPr/>
        <p:txBody>
          <a:bodyPr/>
          <a:lstStyle/>
          <a:p>
            <a:endParaRPr lang="en-US"/>
          </a:p>
        </p:txBody>
      </p:sp>
      <p:sp>
        <p:nvSpPr>
          <p:cNvPr id="4" name="Slide Number Placeholder 3">
            <a:extLst>
              <a:ext uri="{FF2B5EF4-FFF2-40B4-BE49-F238E27FC236}">
                <a16:creationId xmlns:a16="http://schemas.microsoft.com/office/drawing/2014/main" id="{C78BADAE-023A-6603-89CB-BA605BF5C92A}"/>
              </a:ext>
            </a:extLst>
          </p:cNvPr>
          <p:cNvSpPr txBox="1"/>
          <p:nvPr/>
        </p:nvSpPr>
        <p:spPr>
          <a:xfrm>
            <a:off x="3884608" y="8685208"/>
            <a:ext cx="2971800" cy="458791"/>
          </a:xfrm>
          <a:prstGeom prst="rect">
            <a:avLst/>
          </a:prstGeom>
          <a:noFill/>
          <a:ln cap="flat">
            <a:noFill/>
          </a:ln>
        </p:spPr>
        <p:txBody>
          <a:bodyPr vert="horz" wrap="square" lIns="91440" tIns="45720" rIns="91440" bIns="45720" anchor="b" anchorCtr="0" compatLnSpc="1">
            <a:noAutofit/>
          </a:bodyPr>
          <a:lstStyle/>
          <a:p>
            <a:pPr marL="0" marR="0" lvl="0" indent="0" algn="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fld id="{92612328-1F4D-417F-BA95-5F865C7513AD}" type="slidenum">
              <a:t>4</a:t>
            </a:fld>
            <a:endParaRPr lang="en-US" sz="1200" b="0" i="0" u="none" strike="noStrike" kern="1200" cap="none" spc="0" baseline="0">
              <a:solidFill>
                <a:srgbClr val="000000"/>
              </a:solidFill>
              <a:uFillTx/>
              <a:latin typeface="Calibri"/>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205248-5D5B-514D-95A4-17D12499E87A}"/>
              </a:ext>
            </a:extLst>
          </p:cNvPr>
          <p:cNvSpPr>
            <a:spLocks noGrp="1" noRot="1" noChangeAspect="1"/>
          </p:cNvSpPr>
          <p:nvPr>
            <p:ph type="sldImg"/>
          </p:nvPr>
        </p:nvSpPr>
        <p:spPr>
          <a:xfrm>
            <a:off x="685800" y="1143000"/>
            <a:ext cx="5486400" cy="3086100"/>
          </a:xfrm>
        </p:spPr>
        <p:txBody>
          <a:bodyPr/>
          <a:lstStyle/>
          <a:p>
            <a:endParaRPr lang="en-US"/>
          </a:p>
        </p:txBody>
      </p:sp>
      <p:sp>
        <p:nvSpPr>
          <p:cNvPr id="3" name="Notes Placeholder 2">
            <a:extLst>
              <a:ext uri="{FF2B5EF4-FFF2-40B4-BE49-F238E27FC236}">
                <a16:creationId xmlns:a16="http://schemas.microsoft.com/office/drawing/2014/main" id="{615DFEE2-3C6F-1F7F-D30E-1FF2AF988BC3}"/>
              </a:ext>
            </a:extLst>
          </p:cNvPr>
          <p:cNvSpPr txBox="1">
            <a:spLocks noGrp="1"/>
          </p:cNvSpPr>
          <p:nvPr>
            <p:ph type="body" sz="quarter" idx="1"/>
          </p:nvPr>
        </p:nvSpPr>
        <p:spPr/>
        <p:txBody>
          <a:bodyPr/>
          <a:lstStyle/>
          <a:p>
            <a:endParaRPr lang="en-US"/>
          </a:p>
        </p:txBody>
      </p:sp>
      <p:sp>
        <p:nvSpPr>
          <p:cNvPr id="4" name="Slide Number Placeholder 3">
            <a:extLst>
              <a:ext uri="{FF2B5EF4-FFF2-40B4-BE49-F238E27FC236}">
                <a16:creationId xmlns:a16="http://schemas.microsoft.com/office/drawing/2014/main" id="{CCEC8D9A-60DB-36C9-4BF8-18653BB0E6D4}"/>
              </a:ext>
            </a:extLst>
          </p:cNvPr>
          <p:cNvSpPr txBox="1"/>
          <p:nvPr/>
        </p:nvSpPr>
        <p:spPr>
          <a:xfrm>
            <a:off x="3884608" y="8685208"/>
            <a:ext cx="2971800" cy="458791"/>
          </a:xfrm>
          <a:prstGeom prst="rect">
            <a:avLst/>
          </a:prstGeom>
          <a:noFill/>
          <a:ln cap="flat">
            <a:noFill/>
          </a:ln>
        </p:spPr>
        <p:txBody>
          <a:bodyPr vert="horz" wrap="square" lIns="91440" tIns="45720" rIns="91440" bIns="45720" anchor="b" anchorCtr="0" compatLnSpc="1">
            <a:noAutofit/>
          </a:bodyPr>
          <a:lstStyle/>
          <a:p>
            <a:pPr marL="0" marR="0" lvl="0" indent="0" algn="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fld id="{5A8B261F-DC3C-49C8-959F-1888C40EA38F}" type="slidenum">
              <a:t>5</a:t>
            </a:fld>
            <a:endParaRPr lang="en-US" sz="1200" b="0" i="0" u="none" strike="noStrike" kern="1200" cap="none" spc="0" baseline="0">
              <a:solidFill>
                <a:srgbClr val="000000"/>
              </a:solidFill>
              <a:uFillTx/>
              <a:latin typeface="Calibri"/>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98DA15-11D9-3A05-C928-E409364C183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97EAB54-C215-E3AC-9ABB-954D736E0365}"/>
              </a:ext>
            </a:extLst>
          </p:cNvPr>
          <p:cNvSpPr txBox="1">
            <a:spLocks noGrp="1"/>
          </p:cNvSpPr>
          <p:nvPr>
            <p:ph type="body" sz="quarter" idx="1"/>
          </p:nvPr>
        </p:nvSpPr>
        <p:spPr/>
        <p:txBody>
          <a:bodyPr/>
          <a:lstStyle/>
          <a:p>
            <a:endParaRPr lang="en-US"/>
          </a:p>
        </p:txBody>
      </p:sp>
      <p:sp>
        <p:nvSpPr>
          <p:cNvPr id="4" name="Slide Number Placeholder 3">
            <a:extLst>
              <a:ext uri="{FF2B5EF4-FFF2-40B4-BE49-F238E27FC236}">
                <a16:creationId xmlns:a16="http://schemas.microsoft.com/office/drawing/2014/main" id="{0A9C66D6-E2E1-8B9A-6BBE-0A305838B114}"/>
              </a:ext>
            </a:extLst>
          </p:cNvPr>
          <p:cNvSpPr txBox="1"/>
          <p:nvPr/>
        </p:nvSpPr>
        <p:spPr>
          <a:xfrm>
            <a:off x="3884608" y="8685208"/>
            <a:ext cx="2971800" cy="458791"/>
          </a:xfrm>
          <a:prstGeom prst="rect">
            <a:avLst/>
          </a:prstGeom>
          <a:noFill/>
          <a:ln cap="flat">
            <a:noFill/>
          </a:ln>
        </p:spPr>
        <p:txBody>
          <a:bodyPr vert="horz" wrap="square" lIns="91440" tIns="45720" rIns="91440" bIns="45720" anchor="b" anchorCtr="0" compatLnSpc="1">
            <a:noAutofit/>
          </a:bodyPr>
          <a:lstStyle/>
          <a:p>
            <a:pPr marL="0" marR="0" lvl="0" indent="0" algn="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fld id="{8A6507C3-F542-48DD-8916-DB8A648FB9FD}" type="slidenum">
              <a:t>6</a:t>
            </a:fld>
            <a:endParaRPr lang="en-US" sz="1200" b="0" i="0" u="none" strike="noStrike" kern="1200" cap="none" spc="0" baseline="0">
              <a:solidFill>
                <a:srgbClr val="000000"/>
              </a:solidFill>
              <a:uFillTx/>
              <a:latin typeface="Calibri"/>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21EEAF-3019-4283-B231-8ABF14DD6874}"/>
              </a:ext>
            </a:extLst>
          </p:cNvPr>
          <p:cNvSpPr>
            <a:spLocks noGrp="1" noRot="1" noChangeAspect="1"/>
          </p:cNvSpPr>
          <p:nvPr>
            <p:ph type="sldImg"/>
          </p:nvPr>
        </p:nvSpPr>
        <p:spPr>
          <a:xfrm>
            <a:off x="685800" y="1143000"/>
            <a:ext cx="5486400" cy="3086100"/>
          </a:xfrm>
        </p:spPr>
        <p:txBody>
          <a:bodyPr/>
          <a:lstStyle/>
          <a:p>
            <a:endParaRPr lang="en-US"/>
          </a:p>
        </p:txBody>
      </p:sp>
      <p:sp>
        <p:nvSpPr>
          <p:cNvPr id="3" name="Notes Placeholder 2">
            <a:extLst>
              <a:ext uri="{FF2B5EF4-FFF2-40B4-BE49-F238E27FC236}">
                <a16:creationId xmlns:a16="http://schemas.microsoft.com/office/drawing/2014/main" id="{96BDF260-4107-5FF8-C766-9630A0AB7EEA}"/>
              </a:ext>
            </a:extLst>
          </p:cNvPr>
          <p:cNvSpPr txBox="1">
            <a:spLocks noGrp="1"/>
          </p:cNvSpPr>
          <p:nvPr>
            <p:ph type="body" sz="quarter" idx="1"/>
          </p:nvPr>
        </p:nvSpPr>
        <p:spPr/>
        <p:txBody>
          <a:bodyPr/>
          <a:lstStyle/>
          <a:p>
            <a:endParaRPr lang="en-US"/>
          </a:p>
        </p:txBody>
      </p:sp>
      <p:sp>
        <p:nvSpPr>
          <p:cNvPr id="4" name="Slide Number Placeholder 3">
            <a:extLst>
              <a:ext uri="{FF2B5EF4-FFF2-40B4-BE49-F238E27FC236}">
                <a16:creationId xmlns:a16="http://schemas.microsoft.com/office/drawing/2014/main" id="{6AABA751-2403-B6E5-D5C5-65E7933EC64D}"/>
              </a:ext>
            </a:extLst>
          </p:cNvPr>
          <p:cNvSpPr txBox="1"/>
          <p:nvPr/>
        </p:nvSpPr>
        <p:spPr>
          <a:xfrm>
            <a:off x="3884608" y="8685208"/>
            <a:ext cx="2971800" cy="458791"/>
          </a:xfrm>
          <a:prstGeom prst="rect">
            <a:avLst/>
          </a:prstGeom>
          <a:noFill/>
          <a:ln cap="flat">
            <a:noFill/>
          </a:ln>
        </p:spPr>
        <p:txBody>
          <a:bodyPr vert="horz" wrap="square" lIns="91440" tIns="45720" rIns="91440" bIns="45720" anchor="b" anchorCtr="0" compatLnSpc="1">
            <a:noAutofit/>
          </a:bodyPr>
          <a:lstStyle/>
          <a:p>
            <a:pPr marL="0" marR="0" lvl="0" indent="0" algn="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fld id="{34CC7502-46D2-4579-A21F-4C7B9F9D7875}" type="slidenum">
              <a:t>7</a:t>
            </a:fld>
            <a:endParaRPr lang="en-US" sz="1200" b="0" i="0" u="none" strike="noStrike" kern="1200" cap="none" spc="0" baseline="0">
              <a:solidFill>
                <a:srgbClr val="000000"/>
              </a:solidFill>
              <a:uFillTx/>
              <a:latin typeface="Calibri"/>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C8CC499-8282-321F-B6F3-7E53FDB9FE4A}"/>
              </a:ext>
            </a:extLst>
          </p:cNvPr>
          <p:cNvSpPr>
            <a:spLocks noGrp="1" noRot="1" noChangeAspect="1"/>
          </p:cNvSpPr>
          <p:nvPr>
            <p:ph type="sldImg"/>
          </p:nvPr>
        </p:nvSpPr>
        <p:spPr>
          <a:xfrm>
            <a:off x="685800" y="1143000"/>
            <a:ext cx="5486400" cy="3086100"/>
          </a:xfrm>
        </p:spPr>
        <p:txBody>
          <a:bodyPr/>
          <a:lstStyle/>
          <a:p>
            <a:endParaRPr lang="en-US"/>
          </a:p>
        </p:txBody>
      </p:sp>
      <p:sp>
        <p:nvSpPr>
          <p:cNvPr id="3" name="Notes Placeholder 2">
            <a:extLst>
              <a:ext uri="{FF2B5EF4-FFF2-40B4-BE49-F238E27FC236}">
                <a16:creationId xmlns:a16="http://schemas.microsoft.com/office/drawing/2014/main" id="{2C652F92-2231-677F-AF78-A3CCE219A174}"/>
              </a:ext>
            </a:extLst>
          </p:cNvPr>
          <p:cNvSpPr txBox="1">
            <a:spLocks noGrp="1"/>
          </p:cNvSpPr>
          <p:nvPr>
            <p:ph type="body" sz="quarter" idx="1"/>
          </p:nvPr>
        </p:nvSpPr>
        <p:spPr/>
        <p:txBody>
          <a:bodyPr/>
          <a:lstStyle/>
          <a:p>
            <a:endParaRPr lang="en-US"/>
          </a:p>
        </p:txBody>
      </p:sp>
      <p:sp>
        <p:nvSpPr>
          <p:cNvPr id="4" name="Slide Number Placeholder 3">
            <a:extLst>
              <a:ext uri="{FF2B5EF4-FFF2-40B4-BE49-F238E27FC236}">
                <a16:creationId xmlns:a16="http://schemas.microsoft.com/office/drawing/2014/main" id="{BE5F8117-0E44-6D8B-1557-4D3FFC67727D}"/>
              </a:ext>
            </a:extLst>
          </p:cNvPr>
          <p:cNvSpPr txBox="1"/>
          <p:nvPr/>
        </p:nvSpPr>
        <p:spPr>
          <a:xfrm>
            <a:off x="3884608" y="8685208"/>
            <a:ext cx="2971800" cy="458791"/>
          </a:xfrm>
          <a:prstGeom prst="rect">
            <a:avLst/>
          </a:prstGeom>
          <a:noFill/>
          <a:ln cap="flat">
            <a:noFill/>
          </a:ln>
        </p:spPr>
        <p:txBody>
          <a:bodyPr vert="horz" wrap="square" lIns="91440" tIns="45720" rIns="91440" bIns="45720" anchor="b" anchorCtr="0" compatLnSpc="1">
            <a:noAutofit/>
          </a:bodyPr>
          <a:lstStyle/>
          <a:p>
            <a:pPr marL="0" marR="0" lvl="0" indent="0" algn="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fld id="{51F0A8F6-A653-4EB4-B4B3-608DDFFC77E8}" type="slidenum">
              <a:t>8</a:t>
            </a:fld>
            <a:endParaRPr lang="en-US" sz="1200" b="0" i="0" u="none" strike="noStrike" kern="1200" cap="none" spc="0" baseline="0">
              <a:solidFill>
                <a:srgbClr val="000000"/>
              </a:solidFill>
              <a:uFillTx/>
              <a:latin typeface="Calibri"/>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0E39DA-253B-C9FB-9B5A-D05D546A2CB1}"/>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4F324F85-861B-BAF5-6775-9BC4A68BBA06}"/>
              </a:ext>
            </a:extLst>
          </p:cNvPr>
          <p:cNvSpPr txBox="1">
            <a:spLocks noGrp="1"/>
          </p:cNvSpPr>
          <p:nvPr>
            <p:ph type="body" sz="quarter" idx="1"/>
          </p:nvPr>
        </p:nvSpPr>
        <p:spPr/>
        <p:txBody>
          <a:bodyPr/>
          <a:lstStyle/>
          <a:p>
            <a:endParaRPr lang="en-US"/>
          </a:p>
        </p:txBody>
      </p:sp>
      <p:sp>
        <p:nvSpPr>
          <p:cNvPr id="4" name="Slide Number Placeholder 3">
            <a:extLst>
              <a:ext uri="{FF2B5EF4-FFF2-40B4-BE49-F238E27FC236}">
                <a16:creationId xmlns:a16="http://schemas.microsoft.com/office/drawing/2014/main" id="{0F881DCF-6A24-792B-7EB8-03005402A885}"/>
              </a:ext>
            </a:extLst>
          </p:cNvPr>
          <p:cNvSpPr txBox="1"/>
          <p:nvPr/>
        </p:nvSpPr>
        <p:spPr>
          <a:xfrm>
            <a:off x="3884608" y="8685208"/>
            <a:ext cx="2971800" cy="458791"/>
          </a:xfrm>
          <a:prstGeom prst="rect">
            <a:avLst/>
          </a:prstGeom>
          <a:noFill/>
          <a:ln cap="flat">
            <a:noFill/>
          </a:ln>
        </p:spPr>
        <p:txBody>
          <a:bodyPr vert="horz" wrap="square" lIns="91440" tIns="45720" rIns="91440" bIns="45720" anchor="b" anchorCtr="0" compatLnSpc="1">
            <a:noAutofit/>
          </a:bodyPr>
          <a:lstStyle/>
          <a:p>
            <a:pPr marL="0" marR="0" lvl="0" indent="0" algn="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fld id="{8383DE65-B221-41BA-BBED-6B80C1CB7876}" type="slidenum">
              <a:t>9</a:t>
            </a:fld>
            <a:endParaRPr lang="en-US" sz="1200" b="0" i="0" u="none" strike="noStrike" kern="1200" cap="none" spc="0" baseline="0">
              <a:solidFill>
                <a:srgbClr val="000000"/>
              </a:solidFill>
              <a:uFillTx/>
              <a:latin typeface="Calibri"/>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BD7917-A60B-5E05-3439-AB73776F2905}"/>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41DC2B84-7F21-97FB-427C-FBC09E00B0AD}"/>
              </a:ext>
            </a:extLst>
          </p:cNvPr>
          <p:cNvSpPr txBox="1">
            <a:spLocks noGrp="1"/>
          </p:cNvSpPr>
          <p:nvPr>
            <p:ph type="body" sz="quarter" idx="1"/>
          </p:nvPr>
        </p:nvSpPr>
        <p:spPr/>
        <p:txBody>
          <a:bodyPr/>
          <a:lstStyle/>
          <a:p>
            <a:endParaRPr lang="en-US"/>
          </a:p>
        </p:txBody>
      </p:sp>
      <p:sp>
        <p:nvSpPr>
          <p:cNvPr id="4" name="Slide Number Placeholder 3">
            <a:extLst>
              <a:ext uri="{FF2B5EF4-FFF2-40B4-BE49-F238E27FC236}">
                <a16:creationId xmlns:a16="http://schemas.microsoft.com/office/drawing/2014/main" id="{25261CFE-8E0C-56CE-85DE-A0F1FE47AD49}"/>
              </a:ext>
            </a:extLst>
          </p:cNvPr>
          <p:cNvSpPr txBox="1"/>
          <p:nvPr/>
        </p:nvSpPr>
        <p:spPr>
          <a:xfrm>
            <a:off x="3884608" y="8685208"/>
            <a:ext cx="2971800" cy="458791"/>
          </a:xfrm>
          <a:prstGeom prst="rect">
            <a:avLst/>
          </a:prstGeom>
          <a:noFill/>
          <a:ln cap="flat">
            <a:noFill/>
          </a:ln>
        </p:spPr>
        <p:txBody>
          <a:bodyPr vert="horz" wrap="square" lIns="91440" tIns="45720" rIns="91440" bIns="45720" anchor="b" anchorCtr="0" compatLnSpc="1">
            <a:noAutofit/>
          </a:bodyPr>
          <a:lstStyle/>
          <a:p>
            <a:pPr marL="0" marR="0" lvl="0" indent="0" algn="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fld id="{B7786CB3-9336-4356-8048-3425F87DEE94}" type="slidenum">
              <a:t>13</a:t>
            </a:fld>
            <a:endParaRPr lang="en-US" sz="1200" b="0" i="0" u="none" strike="noStrike" kern="1200" cap="none" spc="0" baseline="0">
              <a:solidFill>
                <a:srgbClr val="000000"/>
              </a:solidFill>
              <a:uFillTx/>
              <a:latin typeface="Calibri"/>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1BA88C-9698-15F2-A1C6-2E66D872CE80}"/>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39E6B1F1-C3BA-058C-4093-EAD074CA4367}"/>
              </a:ext>
            </a:extLst>
          </p:cNvPr>
          <p:cNvSpPr txBox="1">
            <a:spLocks noGrp="1"/>
          </p:cNvSpPr>
          <p:nvPr>
            <p:ph type="body" sz="quarter" idx="1"/>
          </p:nvPr>
        </p:nvSpPr>
        <p:spPr/>
        <p:txBody>
          <a:bodyPr/>
          <a:lstStyle/>
          <a:p>
            <a:endParaRPr lang="en-US"/>
          </a:p>
        </p:txBody>
      </p:sp>
      <p:sp>
        <p:nvSpPr>
          <p:cNvPr id="4" name="Slide Number Placeholder 3">
            <a:extLst>
              <a:ext uri="{FF2B5EF4-FFF2-40B4-BE49-F238E27FC236}">
                <a16:creationId xmlns:a16="http://schemas.microsoft.com/office/drawing/2014/main" id="{4D91EAD2-8E82-F335-8155-CDB151EA6AB4}"/>
              </a:ext>
            </a:extLst>
          </p:cNvPr>
          <p:cNvSpPr txBox="1"/>
          <p:nvPr/>
        </p:nvSpPr>
        <p:spPr>
          <a:xfrm>
            <a:off x="3884608" y="8685208"/>
            <a:ext cx="2971800" cy="458791"/>
          </a:xfrm>
          <a:prstGeom prst="rect">
            <a:avLst/>
          </a:prstGeom>
          <a:noFill/>
          <a:ln cap="flat">
            <a:noFill/>
          </a:ln>
        </p:spPr>
        <p:txBody>
          <a:bodyPr vert="horz" wrap="square" lIns="91440" tIns="45720" rIns="91440" bIns="45720" anchor="b" anchorCtr="0" compatLnSpc="1">
            <a:noAutofit/>
          </a:bodyPr>
          <a:lstStyle/>
          <a:p>
            <a:pPr marL="0" marR="0" lvl="0" indent="0" algn="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fld id="{D483AA46-A238-47B9-97C1-86D96E0A8650}" type="slidenum">
              <a:t>21</a:t>
            </a:fld>
            <a:endParaRPr lang="en-US" sz="1200" b="0" i="0" u="none" strike="noStrike" kern="1200" cap="none" spc="0" baseline="0">
              <a:solidFill>
                <a:srgbClr val="000000"/>
              </a:solidFill>
              <a:uFillTx/>
              <a:latin typeface="Calibri"/>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D80FF0-2455-2D5C-EC4E-794508B0FE77}"/>
              </a:ext>
            </a:extLst>
          </p:cNvPr>
          <p:cNvSpPr>
            <a:spLocks noGrp="1" noRot="1" noChangeAspect="1"/>
          </p:cNvSpPr>
          <p:nvPr>
            <p:ph type="sldImg"/>
          </p:nvPr>
        </p:nvSpPr>
        <p:spPr>
          <a:xfrm>
            <a:off x="685800" y="1143000"/>
            <a:ext cx="5486400" cy="3086100"/>
          </a:xfrm>
        </p:spPr>
        <p:txBody>
          <a:bodyPr/>
          <a:lstStyle/>
          <a:p>
            <a:endParaRPr lang="en-US"/>
          </a:p>
        </p:txBody>
      </p:sp>
      <p:sp>
        <p:nvSpPr>
          <p:cNvPr id="3" name="Notes Placeholder 2">
            <a:extLst>
              <a:ext uri="{FF2B5EF4-FFF2-40B4-BE49-F238E27FC236}">
                <a16:creationId xmlns:a16="http://schemas.microsoft.com/office/drawing/2014/main" id="{824F600E-86B4-1D41-AE96-D6AFCC854832}"/>
              </a:ext>
            </a:extLst>
          </p:cNvPr>
          <p:cNvSpPr txBox="1">
            <a:spLocks noGrp="1"/>
          </p:cNvSpPr>
          <p:nvPr>
            <p:ph type="body" sz="quarter" idx="1"/>
          </p:nvPr>
        </p:nvSpPr>
        <p:spPr/>
        <p:txBody>
          <a:bodyPr/>
          <a:lstStyle/>
          <a:p>
            <a:endParaRPr lang="en-US"/>
          </a:p>
        </p:txBody>
      </p:sp>
      <p:sp>
        <p:nvSpPr>
          <p:cNvPr id="4" name="Slide Number Placeholder 3">
            <a:extLst>
              <a:ext uri="{FF2B5EF4-FFF2-40B4-BE49-F238E27FC236}">
                <a16:creationId xmlns:a16="http://schemas.microsoft.com/office/drawing/2014/main" id="{1F745500-01B8-CD31-3710-BD439251119E}"/>
              </a:ext>
            </a:extLst>
          </p:cNvPr>
          <p:cNvSpPr txBox="1"/>
          <p:nvPr/>
        </p:nvSpPr>
        <p:spPr>
          <a:xfrm>
            <a:off x="3884608" y="8685208"/>
            <a:ext cx="2971800" cy="458791"/>
          </a:xfrm>
          <a:prstGeom prst="rect">
            <a:avLst/>
          </a:prstGeom>
          <a:noFill/>
          <a:ln cap="flat">
            <a:noFill/>
          </a:ln>
        </p:spPr>
        <p:txBody>
          <a:bodyPr vert="horz" wrap="square" lIns="91440" tIns="45720" rIns="91440" bIns="45720" anchor="b" anchorCtr="0" compatLnSpc="1">
            <a:noAutofit/>
          </a:bodyPr>
          <a:lstStyle/>
          <a:p>
            <a:pPr marL="0" marR="0" lvl="0" indent="0" algn="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fld id="{B52DD22A-D248-4D70-BEF6-0360355198C2}" type="slidenum">
              <a:t>23</a:t>
            </a:fld>
            <a:endParaRPr lang="en-US" sz="1200" b="0" i="0" u="none" strike="noStrike" kern="1200" cap="none" spc="0" baseline="0">
              <a:solidFill>
                <a:srgbClr val="000000"/>
              </a:solidFill>
              <a:uFillTx/>
              <a:latin typeface="Calibri"/>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09BCC3-D97E-653C-2776-BD61DC033703}"/>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3F5B37B4-113B-4C65-E95D-6BC5E681F9B9}"/>
              </a:ext>
            </a:extLst>
          </p:cNvPr>
          <p:cNvSpPr txBox="1">
            <a:spLocks noGrp="1"/>
          </p:cNvSpPr>
          <p:nvPr>
            <p:ph type="body" sz="quarter" idx="1"/>
          </p:nvPr>
        </p:nvSpPr>
        <p:spPr/>
        <p:txBody>
          <a:bodyPr/>
          <a:lstStyle/>
          <a:p>
            <a:endParaRPr lang="en-US"/>
          </a:p>
        </p:txBody>
      </p:sp>
      <p:sp>
        <p:nvSpPr>
          <p:cNvPr id="4" name="Slide Number Placeholder 3">
            <a:extLst>
              <a:ext uri="{FF2B5EF4-FFF2-40B4-BE49-F238E27FC236}">
                <a16:creationId xmlns:a16="http://schemas.microsoft.com/office/drawing/2014/main" id="{FFCAA4FF-AEBC-2B2E-AA1F-69FB3D1D0E84}"/>
              </a:ext>
            </a:extLst>
          </p:cNvPr>
          <p:cNvSpPr txBox="1"/>
          <p:nvPr/>
        </p:nvSpPr>
        <p:spPr>
          <a:xfrm>
            <a:off x="3884608" y="8685208"/>
            <a:ext cx="2971800" cy="458791"/>
          </a:xfrm>
          <a:prstGeom prst="rect">
            <a:avLst/>
          </a:prstGeom>
          <a:noFill/>
          <a:ln cap="flat">
            <a:noFill/>
          </a:ln>
        </p:spPr>
        <p:txBody>
          <a:bodyPr vert="horz" wrap="square" lIns="91440" tIns="45720" rIns="91440" bIns="45720" anchor="b" anchorCtr="0" compatLnSpc="1">
            <a:noAutofit/>
          </a:bodyPr>
          <a:lstStyle/>
          <a:p>
            <a:pPr marL="0" marR="0" lvl="0" indent="0" algn="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fld id="{C7240270-B047-4EB4-9B1D-03D99C75B388}" type="slidenum">
              <a:t>24</a:t>
            </a:fld>
            <a:endParaRPr lang="en-US" sz="1200" b="0" i="0" u="none" strike="noStrike" kern="1200" cap="none" spc="0" baseline="0">
              <a:solidFill>
                <a:srgbClr val="000000"/>
              </a:solidFill>
              <a:uFillTx/>
              <a:latin typeface="Calibri"/>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F94687-64CA-9438-1F51-83D52B50E094}"/>
              </a:ext>
            </a:extLst>
          </p:cNvPr>
          <p:cNvSpPr>
            <a:spLocks noGrp="1" noRot="1" noChangeAspect="1"/>
          </p:cNvSpPr>
          <p:nvPr>
            <p:ph type="sldImg"/>
          </p:nvPr>
        </p:nvSpPr>
        <p:spPr>
          <a:xfrm>
            <a:off x="685800" y="1143000"/>
            <a:ext cx="5486400" cy="3086100"/>
          </a:xfrm>
        </p:spPr>
        <p:txBody>
          <a:bodyPr/>
          <a:lstStyle/>
          <a:p>
            <a:endParaRPr lang="en-US"/>
          </a:p>
        </p:txBody>
      </p:sp>
      <p:sp>
        <p:nvSpPr>
          <p:cNvPr id="3" name="Notes Placeholder 2">
            <a:extLst>
              <a:ext uri="{FF2B5EF4-FFF2-40B4-BE49-F238E27FC236}">
                <a16:creationId xmlns:a16="http://schemas.microsoft.com/office/drawing/2014/main" id="{3185A760-DCFF-0B04-2C9B-119997C5172C}"/>
              </a:ext>
            </a:extLst>
          </p:cNvPr>
          <p:cNvSpPr txBox="1">
            <a:spLocks noGrp="1"/>
          </p:cNvSpPr>
          <p:nvPr>
            <p:ph type="body" sz="quarter" idx="1"/>
          </p:nvPr>
        </p:nvSpPr>
        <p:spPr/>
        <p:txBody>
          <a:bodyPr/>
          <a:lstStyle/>
          <a:p>
            <a:endParaRPr lang="en-US"/>
          </a:p>
        </p:txBody>
      </p:sp>
      <p:sp>
        <p:nvSpPr>
          <p:cNvPr id="4" name="Slide Number Placeholder 3">
            <a:extLst>
              <a:ext uri="{FF2B5EF4-FFF2-40B4-BE49-F238E27FC236}">
                <a16:creationId xmlns:a16="http://schemas.microsoft.com/office/drawing/2014/main" id="{A946B8B4-787C-C3A5-2E75-A5177FE6B44F}"/>
              </a:ext>
            </a:extLst>
          </p:cNvPr>
          <p:cNvSpPr txBox="1"/>
          <p:nvPr/>
        </p:nvSpPr>
        <p:spPr>
          <a:xfrm>
            <a:off x="3884608" y="8685208"/>
            <a:ext cx="2971800" cy="458791"/>
          </a:xfrm>
          <a:prstGeom prst="rect">
            <a:avLst/>
          </a:prstGeom>
          <a:noFill/>
          <a:ln cap="flat">
            <a:noFill/>
          </a:ln>
        </p:spPr>
        <p:txBody>
          <a:bodyPr vert="horz" wrap="square" lIns="91440" tIns="45720" rIns="91440" bIns="45720" anchor="b" anchorCtr="0" compatLnSpc="1">
            <a:noAutofit/>
          </a:bodyPr>
          <a:lstStyle/>
          <a:p>
            <a:pPr marL="0" marR="0" lvl="0" indent="0" algn="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fld id="{54076189-A1EE-49E0-964D-3552A6E8E557}" type="slidenum">
              <a:t>25</a:t>
            </a:fld>
            <a:endParaRPr lang="en-US" sz="1200" b="0" i="0" u="none" strike="noStrike" kern="1200" cap="none" spc="0" baseline="0">
              <a:solidFill>
                <a:srgbClr val="000000"/>
              </a:solidFill>
              <a:uFillTx/>
              <a:latin typeface="Calibri"/>
            </a:endParaRP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Bars are sorted from highest to lowest. The regional gap is small compared with the smoking gap, and the Southeast has more smokers and higher BMI, which likely explains its higher average.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line shows the average charge at every age from 18 to 64, with a straight-line trend in red. Older customers cost more because health problems become more common with age.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pie shows the share of customers. The key point is the contrast: a fifth of customers account for roughly half of all charges.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Most customers sit on the left of the chart. The second bump around $35,000–$45,000 is mainly smokers.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two boxes barely overlap, so smoking separates high-cost and low-cost customers more clearly than any other factor.</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Colouring the points by smoking status reveals two groups among smokers, split at BMI 30. Smoking and obesity together produce the highest charges.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charges row: smoking is by far the strongest, followed by age and BMI. Sex, children and region have almost no linear relationship with charges.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sv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sv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sv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2EDDC4-6AA7-E5F8-8C08-EA47FDEAE131}"/>
              </a:ext>
            </a:extLst>
          </p:cNvPr>
          <p:cNvSpPr txBox="1">
            <a:spLocks noGrp="1"/>
          </p:cNvSpPr>
          <p:nvPr>
            <p:ph type="title"/>
          </p:nvPr>
        </p:nvSpPr>
        <p:spPr>
          <a:xfrm>
            <a:off x="6441920" y="3329787"/>
            <a:ext cx="4941774" cy="3200400"/>
          </a:xfrm>
        </p:spPr>
        <p:txBody>
          <a:bodyPr>
            <a:noAutofit/>
          </a:bodyPr>
          <a:lstStyle>
            <a:lvl1pPr>
              <a:defRPr sz="3600" spc="150"/>
            </a:lvl1pPr>
          </a:lstStyle>
          <a:p>
            <a:pPr lvl="0"/>
            <a:r>
              <a:rPr lang="en-US"/>
              <a:t>CLICK TO add title</a:t>
            </a:r>
          </a:p>
        </p:txBody>
      </p:sp>
      <p:pic>
        <p:nvPicPr>
          <p:cNvPr id="3" name="Graphic 7">
            <a:extLst>
              <a:ext uri="{FF2B5EF4-FFF2-40B4-BE49-F238E27FC236}">
                <a16:creationId xmlns:a16="http://schemas.microsoft.com/office/drawing/2014/main" id="{1E89F652-720A-6779-E30F-975BFF90868A}"/>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rcRect l="9358" t="23650" b="-1"/>
          <a:stretch>
            <a:fillRect/>
          </a:stretch>
        </p:blipFill>
        <p:spPr>
          <a:xfrm>
            <a:off x="0" y="0"/>
            <a:ext cx="9488308" cy="5054318"/>
          </a:xfrm>
          <a:prstGeom prst="rect">
            <a:avLst/>
          </a:prstGeom>
          <a:noFill/>
          <a:ln cap="flat">
            <a:noFill/>
          </a:ln>
        </p:spPr>
      </p:pic>
    </p:spTree>
    <p:extLst>
      <p:ext uri="{BB962C8B-B14F-4D97-AF65-F5344CB8AC3E}">
        <p14:creationId xmlns:p14="http://schemas.microsoft.com/office/powerpoint/2010/main" val="5871305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Agenda">
    <p:bg>
      <p:bgPr>
        <a:solidFill>
          <a:srgbClr val="000000"/>
        </a:solidFill>
        <a:effectLst/>
      </p:bgPr>
    </p:bg>
    <p:spTree>
      <p:nvGrpSpPr>
        <p:cNvPr id="1" name=""/>
        <p:cNvGrpSpPr/>
        <p:nvPr/>
      </p:nvGrpSpPr>
      <p:grpSpPr>
        <a:xfrm>
          <a:off x="0" y="0"/>
          <a:ext cx="0" cy="0"/>
          <a:chOff x="0" y="0"/>
          <a:chExt cx="0" cy="0"/>
        </a:xfrm>
      </p:grpSpPr>
      <p:pic>
        <p:nvPicPr>
          <p:cNvPr id="2" name="Graphic 7">
            <a:extLst>
              <a:ext uri="{FF2B5EF4-FFF2-40B4-BE49-F238E27FC236}">
                <a16:creationId xmlns:a16="http://schemas.microsoft.com/office/drawing/2014/main" id="{77556528-19A2-6B79-48DA-FFA9C7F9DE1F}"/>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rcRect t="18301" r="28341" b="23071"/>
          <a:stretch>
            <a:fillRect/>
          </a:stretch>
        </p:blipFill>
        <p:spPr>
          <a:xfrm>
            <a:off x="4229099" y="0"/>
            <a:ext cx="7962896" cy="6858000"/>
          </a:xfrm>
          <a:prstGeom prst="rect">
            <a:avLst/>
          </a:prstGeom>
          <a:noFill/>
          <a:ln cap="flat">
            <a:noFill/>
          </a:ln>
        </p:spPr>
      </p:pic>
      <p:sp>
        <p:nvSpPr>
          <p:cNvPr id="3" name="Title 1">
            <a:extLst>
              <a:ext uri="{FF2B5EF4-FFF2-40B4-BE49-F238E27FC236}">
                <a16:creationId xmlns:a16="http://schemas.microsoft.com/office/drawing/2014/main" id="{01FA2667-FD22-AF52-9DCA-AD48A55057E0}"/>
              </a:ext>
            </a:extLst>
          </p:cNvPr>
          <p:cNvSpPr txBox="1">
            <a:spLocks noGrp="1"/>
          </p:cNvSpPr>
          <p:nvPr>
            <p:ph type="title"/>
          </p:nvPr>
        </p:nvSpPr>
        <p:spPr>
          <a:xfrm>
            <a:off x="1333496" y="1020442"/>
            <a:ext cx="2895603" cy="1325559"/>
          </a:xfrm>
        </p:spPr>
        <p:txBody>
          <a:bodyPr anchor="b"/>
          <a:lstStyle>
            <a:lvl1pPr>
              <a:defRPr sz="2800" spc="150">
                <a:solidFill>
                  <a:srgbClr val="FFFFFF"/>
                </a:solidFill>
              </a:defRPr>
            </a:lvl1pPr>
          </a:lstStyle>
          <a:p>
            <a:pPr lvl="0"/>
            <a:r>
              <a:rPr lang="en-US"/>
              <a:t>CLICK TO add title</a:t>
            </a:r>
          </a:p>
        </p:txBody>
      </p:sp>
      <p:sp>
        <p:nvSpPr>
          <p:cNvPr id="4" name="Content Placeholder 2">
            <a:extLst>
              <a:ext uri="{FF2B5EF4-FFF2-40B4-BE49-F238E27FC236}">
                <a16:creationId xmlns:a16="http://schemas.microsoft.com/office/drawing/2014/main" id="{404C6FF7-E74F-43D3-7444-EBBF9F019475}"/>
              </a:ext>
            </a:extLst>
          </p:cNvPr>
          <p:cNvSpPr txBox="1">
            <a:spLocks noGrp="1"/>
          </p:cNvSpPr>
          <p:nvPr>
            <p:ph idx="1"/>
          </p:nvPr>
        </p:nvSpPr>
        <p:spPr>
          <a:xfrm>
            <a:off x="1333496" y="2674016"/>
            <a:ext cx="2895603" cy="3269592"/>
          </a:xfrm>
        </p:spPr>
        <p:txBody>
          <a:bodyPr/>
          <a:lstStyle>
            <a:lvl1pPr marL="0" indent="0">
              <a:lnSpc>
                <a:spcPct val="140000"/>
              </a:lnSpc>
              <a:buNone/>
              <a:defRPr sz="1800">
                <a:solidFill>
                  <a:srgbClr val="FFFFFF"/>
                </a:solidFill>
              </a:defRPr>
            </a:lvl1pPr>
            <a:lvl2pPr marL="457200" indent="0">
              <a:lnSpc>
                <a:spcPct val="140000"/>
              </a:lnSpc>
              <a:spcBef>
                <a:spcPts val="1000"/>
              </a:spcBef>
              <a:buNone/>
              <a:defRPr sz="1800">
                <a:solidFill>
                  <a:srgbClr val="FFFFFF"/>
                </a:solidFill>
              </a:defRPr>
            </a:lvl2pPr>
            <a:lvl3pPr marL="914400" indent="0">
              <a:lnSpc>
                <a:spcPct val="140000"/>
              </a:lnSpc>
              <a:spcBef>
                <a:spcPts val="1000"/>
              </a:spcBef>
              <a:buNone/>
              <a:defRPr sz="1800">
                <a:solidFill>
                  <a:srgbClr val="FFFFFF"/>
                </a:solidFill>
              </a:defRPr>
            </a:lvl3pPr>
            <a:lvl4pPr marL="1371600" indent="0">
              <a:lnSpc>
                <a:spcPct val="140000"/>
              </a:lnSpc>
              <a:spcBef>
                <a:spcPts val="1000"/>
              </a:spcBef>
              <a:buNone/>
              <a:defRPr>
                <a:solidFill>
                  <a:srgbClr val="FFFFFF"/>
                </a:solidFill>
              </a:defRPr>
            </a:lvl4pPr>
            <a:lvl5pPr marL="1828800" indent="0">
              <a:lnSpc>
                <a:spcPct val="140000"/>
              </a:lnSpc>
              <a:spcBef>
                <a:spcPts val="1000"/>
              </a:spcBef>
              <a:buNone/>
              <a:defRPr>
                <a:solidFill>
                  <a:srgbClr val="FFFFFF"/>
                </a:solidFill>
              </a:defRPr>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5A3BA26F-8BD7-F0A2-B381-6DA1DC3303C9}"/>
              </a:ext>
            </a:extLst>
          </p:cNvPr>
          <p:cNvSpPr txBox="1">
            <a:spLocks noGrp="1"/>
          </p:cNvSpPr>
          <p:nvPr>
            <p:ph type="ftr" sz="quarter" idx="9"/>
          </p:nvPr>
        </p:nvSpPr>
        <p:spPr>
          <a:xfrm>
            <a:off x="1333496" y="6356351"/>
            <a:ext cx="3819229" cy="365129"/>
          </a:xfrm>
        </p:spPr>
        <p:txBody>
          <a:bodyPr anchorCtr="0"/>
          <a:lstStyle>
            <a:lvl1pPr algn="l">
              <a:defRPr sz="900"/>
            </a:lvl1pPr>
          </a:lstStyle>
          <a:p>
            <a:pPr lvl="0"/>
            <a:r>
              <a:rPr lang="en-US"/>
              <a:t>PRESENTATION TITLE</a:t>
            </a:r>
          </a:p>
        </p:txBody>
      </p:sp>
      <p:sp>
        <p:nvSpPr>
          <p:cNvPr id="6" name="Slide Number Placeholder 5">
            <a:extLst>
              <a:ext uri="{FF2B5EF4-FFF2-40B4-BE49-F238E27FC236}">
                <a16:creationId xmlns:a16="http://schemas.microsoft.com/office/drawing/2014/main" id="{298CD62D-656F-BDA8-F9E2-C324AB6E4BC1}"/>
              </a:ext>
            </a:extLst>
          </p:cNvPr>
          <p:cNvSpPr txBox="1">
            <a:spLocks noGrp="1"/>
          </p:cNvSpPr>
          <p:nvPr>
            <p:ph type="sldNum" sz="quarter" idx="8"/>
          </p:nvPr>
        </p:nvSpPr>
        <p:spPr>
          <a:xfrm>
            <a:off x="10373346" y="6356351"/>
            <a:ext cx="987552" cy="365129"/>
          </a:xfrm>
        </p:spPr>
        <p:txBody>
          <a:bodyPr/>
          <a:lstStyle>
            <a:lvl1pPr>
              <a:defRPr sz="900"/>
            </a:lvl1pPr>
          </a:lstStyle>
          <a:p>
            <a:pPr lvl="0"/>
            <a:fld id="{15D7ED1C-C5BB-4A04-9FF7-7B9CDBB36AD2}" type="slidenum">
              <a:t>‹#›</a:t>
            </a:fld>
            <a:endParaRPr lang="en-US"/>
          </a:p>
        </p:txBody>
      </p:sp>
    </p:spTree>
    <p:extLst>
      <p:ext uri="{BB962C8B-B14F-4D97-AF65-F5344CB8AC3E}">
        <p14:creationId xmlns:p14="http://schemas.microsoft.com/office/powerpoint/2010/main" val="6483022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Break 1">
    <p:bg>
      <p:bgPr>
        <a:solidFill>
          <a:srgbClr val="E9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3F6546-03DD-D904-B9D8-A7A901C676B9}"/>
              </a:ext>
            </a:extLst>
          </p:cNvPr>
          <p:cNvSpPr txBox="1">
            <a:spLocks noGrp="1"/>
          </p:cNvSpPr>
          <p:nvPr>
            <p:ph type="title"/>
          </p:nvPr>
        </p:nvSpPr>
        <p:spPr>
          <a:xfrm>
            <a:off x="6991346" y="487018"/>
            <a:ext cx="4179566" cy="3377354"/>
          </a:xfrm>
        </p:spPr>
        <p:txBody>
          <a:bodyPr anchor="b">
            <a:noAutofit/>
          </a:bodyPr>
          <a:lstStyle>
            <a:lvl1pPr>
              <a:defRPr sz="3600" spc="150"/>
            </a:lvl1pPr>
          </a:lstStyle>
          <a:p>
            <a:pPr lvl="0"/>
            <a:r>
              <a:rPr lang="en-US"/>
              <a:t>CLICK TO add title</a:t>
            </a:r>
          </a:p>
        </p:txBody>
      </p:sp>
      <p:grpSp>
        <p:nvGrpSpPr>
          <p:cNvPr id="3" name="Group 3">
            <a:extLst>
              <a:ext uri="{FF2B5EF4-FFF2-40B4-BE49-F238E27FC236}">
                <a16:creationId xmlns:a16="http://schemas.microsoft.com/office/drawing/2014/main" id="{CDD3DBFA-A4DE-FC26-ADE7-D6469418C074}"/>
              </a:ext>
            </a:extLst>
          </p:cNvPr>
          <p:cNvGrpSpPr/>
          <p:nvPr/>
        </p:nvGrpSpPr>
        <p:grpSpPr>
          <a:xfrm>
            <a:off x="0" y="0"/>
            <a:ext cx="6557820" cy="6858000"/>
            <a:chOff x="0" y="0"/>
            <a:chExt cx="6557820" cy="6858000"/>
          </a:xfrm>
        </p:grpSpPr>
        <p:cxnSp>
          <p:nvCxnSpPr>
            <p:cNvPr id="4" name="Straight Connector 4">
              <a:extLst>
                <a:ext uri="{FF2B5EF4-FFF2-40B4-BE49-F238E27FC236}">
                  <a16:creationId xmlns:a16="http://schemas.microsoft.com/office/drawing/2014/main" id="{1D8DB023-F202-60BB-E04A-4A42571AFCD7}"/>
                </a:ext>
              </a:extLst>
            </p:cNvPr>
            <p:cNvCxnSpPr/>
            <p:nvPr/>
          </p:nvCxnSpPr>
          <p:spPr>
            <a:xfrm flipH="1" flipV="1">
              <a:off x="0" y="1158745"/>
              <a:ext cx="6557820" cy="2153751"/>
            </a:xfrm>
            <a:prstGeom prst="straightConnector1">
              <a:avLst/>
            </a:prstGeom>
            <a:noFill/>
            <a:ln w="6345" cap="flat">
              <a:solidFill>
                <a:srgbClr val="000000"/>
              </a:solidFill>
              <a:prstDash val="solid"/>
              <a:miter/>
            </a:ln>
          </p:spPr>
        </p:cxnSp>
        <p:cxnSp>
          <p:nvCxnSpPr>
            <p:cNvPr id="5" name="Straight Connector 5">
              <a:extLst>
                <a:ext uri="{FF2B5EF4-FFF2-40B4-BE49-F238E27FC236}">
                  <a16:creationId xmlns:a16="http://schemas.microsoft.com/office/drawing/2014/main" id="{DCFCB924-19DF-2318-9CAB-D3ADE0E51532}"/>
                </a:ext>
              </a:extLst>
            </p:cNvPr>
            <p:cNvCxnSpPr/>
            <p:nvPr/>
          </p:nvCxnSpPr>
          <p:spPr>
            <a:xfrm flipH="1" flipV="1">
              <a:off x="3633030" y="0"/>
              <a:ext cx="2924790" cy="6858000"/>
            </a:xfrm>
            <a:prstGeom prst="straightConnector1">
              <a:avLst/>
            </a:prstGeom>
            <a:noFill/>
            <a:ln w="6345" cap="flat">
              <a:solidFill>
                <a:srgbClr val="000000"/>
              </a:solidFill>
              <a:prstDash val="solid"/>
              <a:miter/>
            </a:ln>
          </p:spPr>
        </p:cxnSp>
      </p:grpSp>
    </p:spTree>
    <p:extLst>
      <p:ext uri="{BB962C8B-B14F-4D97-AF65-F5344CB8AC3E}">
        <p14:creationId xmlns:p14="http://schemas.microsoft.com/office/powerpoint/2010/main" val="13079843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ection Break 2">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40C2FA-64D5-7B02-49CF-17CBC2B15654}"/>
              </a:ext>
            </a:extLst>
          </p:cNvPr>
          <p:cNvSpPr txBox="1">
            <a:spLocks noGrp="1"/>
          </p:cNvSpPr>
          <p:nvPr>
            <p:ph type="title"/>
          </p:nvPr>
        </p:nvSpPr>
        <p:spPr>
          <a:xfrm>
            <a:off x="6991346" y="487676"/>
            <a:ext cx="4179566" cy="3376687"/>
          </a:xfrm>
        </p:spPr>
        <p:txBody>
          <a:bodyPr anchor="b">
            <a:noAutofit/>
          </a:bodyPr>
          <a:lstStyle>
            <a:lvl1pPr>
              <a:defRPr sz="3600" spc="150">
                <a:solidFill>
                  <a:srgbClr val="FFFFFF"/>
                </a:solidFill>
              </a:defRPr>
            </a:lvl1pPr>
          </a:lstStyle>
          <a:p>
            <a:pPr lvl="0"/>
            <a:r>
              <a:rPr lang="en-US"/>
              <a:t>CLICK TO add title</a:t>
            </a:r>
          </a:p>
        </p:txBody>
      </p:sp>
      <p:cxnSp>
        <p:nvCxnSpPr>
          <p:cNvPr id="3" name="Straight Connector 6">
            <a:extLst>
              <a:ext uri="{FF2B5EF4-FFF2-40B4-BE49-F238E27FC236}">
                <a16:creationId xmlns:a16="http://schemas.microsoft.com/office/drawing/2014/main" id="{5F81942D-22B0-DE3C-026D-BF774C9D9C5E}"/>
              </a:ext>
              <a:ext uri="{C183D7F6-B498-43B3-948B-1728B52AA6E4}">
                <adec:decorative xmlns:adec="http://schemas.microsoft.com/office/drawing/2017/decorative" val="1"/>
              </a:ext>
            </a:extLst>
          </p:cNvPr>
          <p:cNvCxnSpPr/>
          <p:nvPr/>
        </p:nvCxnSpPr>
        <p:spPr>
          <a:xfrm>
            <a:off x="3990670" y="0"/>
            <a:ext cx="1126275" cy="2512286"/>
          </a:xfrm>
          <a:prstGeom prst="straightConnector1">
            <a:avLst/>
          </a:prstGeom>
          <a:noFill/>
          <a:ln w="6345" cap="flat">
            <a:solidFill>
              <a:srgbClr val="FFFFFF"/>
            </a:solidFill>
            <a:prstDash val="solid"/>
            <a:miter/>
          </a:ln>
        </p:spPr>
      </p:cxnSp>
      <p:sp>
        <p:nvSpPr>
          <p:cNvPr id="4" name="Picture Placeholder 8">
            <a:extLst>
              <a:ext uri="{FF2B5EF4-FFF2-40B4-BE49-F238E27FC236}">
                <a16:creationId xmlns:a16="http://schemas.microsoft.com/office/drawing/2014/main" id="{23E10EEC-706E-0E04-6628-98A7FF106D6A}"/>
              </a:ext>
            </a:extLst>
          </p:cNvPr>
          <p:cNvSpPr txBox="1">
            <a:spLocks noGrp="1"/>
          </p:cNvSpPr>
          <p:nvPr>
            <p:ph type="pic" idx="4294967295"/>
          </p:nvPr>
        </p:nvSpPr>
        <p:spPr>
          <a:xfrm>
            <a:off x="0" y="-5084"/>
            <a:ext cx="6576291" cy="6872602"/>
          </a:xfrm>
        </p:spPr>
        <p:txBody>
          <a:bodyPr lIns="182880" tIns="182880" bIns="91440"/>
          <a:lstStyle>
            <a:lvl1pPr marL="0" indent="0">
              <a:buNone/>
              <a:defRPr sz="2000">
                <a:solidFill>
                  <a:srgbClr val="FFFFFF"/>
                </a:solidFill>
              </a:defRPr>
            </a:lvl1pPr>
          </a:lstStyle>
          <a:p>
            <a:pPr lvl="0"/>
            <a:r>
              <a:rPr lang="en-US"/>
              <a:t>Click icon to add picture</a:t>
            </a:r>
          </a:p>
        </p:txBody>
      </p:sp>
    </p:spTree>
    <p:extLst>
      <p:ext uri="{BB962C8B-B14F-4D97-AF65-F5344CB8AC3E}">
        <p14:creationId xmlns:p14="http://schemas.microsoft.com/office/powerpoint/2010/main" val="455854179"/>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Introduc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1C8820-5253-138E-43E0-275599EFE1C4}"/>
              </a:ext>
            </a:extLst>
          </p:cNvPr>
          <p:cNvSpPr txBox="1">
            <a:spLocks noGrp="1"/>
          </p:cNvSpPr>
          <p:nvPr>
            <p:ph type="title"/>
          </p:nvPr>
        </p:nvSpPr>
        <p:spPr>
          <a:xfrm>
            <a:off x="1322313" y="268358"/>
            <a:ext cx="7288280" cy="2121179"/>
          </a:xfrm>
        </p:spPr>
        <p:txBody>
          <a:bodyPr anchor="b"/>
          <a:lstStyle>
            <a:lvl1pPr>
              <a:defRPr sz="2800" spc="150"/>
            </a:lvl1pPr>
          </a:lstStyle>
          <a:p>
            <a:pPr lvl="0"/>
            <a:r>
              <a:rPr lang="en-US"/>
              <a:t>CLICK TO add title</a:t>
            </a:r>
          </a:p>
        </p:txBody>
      </p:sp>
      <p:sp>
        <p:nvSpPr>
          <p:cNvPr id="3" name="Content Placeholder 3">
            <a:extLst>
              <a:ext uri="{FF2B5EF4-FFF2-40B4-BE49-F238E27FC236}">
                <a16:creationId xmlns:a16="http://schemas.microsoft.com/office/drawing/2014/main" id="{B6140EA7-E236-A9AD-FC4F-E302976AB4B2}"/>
              </a:ext>
            </a:extLst>
          </p:cNvPr>
          <p:cNvSpPr txBox="1">
            <a:spLocks noGrp="1"/>
          </p:cNvSpPr>
          <p:nvPr>
            <p:ph idx="4294967295"/>
          </p:nvPr>
        </p:nvSpPr>
        <p:spPr>
          <a:xfrm>
            <a:off x="1322386" y="2763079"/>
            <a:ext cx="7288216" cy="3407054"/>
          </a:xfrm>
        </p:spPr>
        <p:txBody>
          <a:bodyPr/>
          <a:lstStyle>
            <a:lvl1pPr marL="0" indent="0">
              <a:lnSpc>
                <a:spcPct val="100000"/>
              </a:lnSpc>
              <a:buNone/>
              <a:defRPr sz="1800" b="1" spc="50"/>
            </a:lvl1pPr>
            <a:lvl2pPr marL="283464" indent="-285750">
              <a:lnSpc>
                <a:spcPct val="100000"/>
              </a:lnSpc>
              <a:spcBef>
                <a:spcPts val="1000"/>
              </a:spcBef>
              <a:defRPr sz="1800" spc="50"/>
            </a:lvl2pPr>
            <a:lvl3pPr marL="566928" indent="-285750">
              <a:lnSpc>
                <a:spcPct val="100000"/>
              </a:lnSpc>
              <a:spcBef>
                <a:spcPts val="1000"/>
              </a:spcBef>
              <a:defRPr sz="1800" spc="50"/>
            </a:lvl3pPr>
            <a:lvl4pPr marL="859536" indent="-285750">
              <a:lnSpc>
                <a:spcPct val="100000"/>
              </a:lnSpc>
              <a:spcBef>
                <a:spcPts val="1000"/>
              </a:spcBef>
              <a:defRPr spc="50"/>
            </a:lvl4pPr>
            <a:lvl5pPr marL="1143000" indent="-285750">
              <a:lnSpc>
                <a:spcPct val="100000"/>
              </a:lnSpc>
              <a:spcBef>
                <a:spcPts val="1000"/>
              </a:spcBef>
              <a:defRPr spc="50"/>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grpSp>
        <p:nvGrpSpPr>
          <p:cNvPr id="4" name="Group 8">
            <a:extLst>
              <a:ext uri="{FF2B5EF4-FFF2-40B4-BE49-F238E27FC236}">
                <a16:creationId xmlns:a16="http://schemas.microsoft.com/office/drawing/2014/main" id="{CF9F0A72-BB10-CC8B-1C8D-E0DFCD18B4A6}"/>
              </a:ext>
            </a:extLst>
          </p:cNvPr>
          <p:cNvGrpSpPr/>
          <p:nvPr/>
        </p:nvGrpSpPr>
        <p:grpSpPr>
          <a:xfrm>
            <a:off x="9096378" y="-25402"/>
            <a:ext cx="3095618" cy="6883402"/>
            <a:chOff x="9096378" y="-25402"/>
            <a:chExt cx="3095618" cy="6883402"/>
          </a:xfrm>
        </p:grpSpPr>
        <p:cxnSp>
          <p:nvCxnSpPr>
            <p:cNvPr id="5" name="Straight Connector 9">
              <a:extLst>
                <a:ext uri="{FF2B5EF4-FFF2-40B4-BE49-F238E27FC236}">
                  <a16:creationId xmlns:a16="http://schemas.microsoft.com/office/drawing/2014/main" id="{0F05F073-53EE-86FD-469C-9C662E314A6B}"/>
                </a:ext>
              </a:extLst>
            </p:cNvPr>
            <p:cNvCxnSpPr/>
            <p:nvPr/>
          </p:nvCxnSpPr>
          <p:spPr>
            <a:xfrm>
              <a:off x="9096378" y="1497009"/>
              <a:ext cx="3095618" cy="0"/>
            </a:xfrm>
            <a:prstGeom prst="straightConnector1">
              <a:avLst/>
            </a:prstGeom>
            <a:noFill/>
            <a:ln w="6345" cap="flat">
              <a:solidFill>
                <a:srgbClr val="000000"/>
              </a:solidFill>
              <a:prstDash val="solid"/>
              <a:miter/>
            </a:ln>
          </p:spPr>
        </p:cxnSp>
        <p:cxnSp>
          <p:nvCxnSpPr>
            <p:cNvPr id="6" name="Straight Connector 10">
              <a:extLst>
                <a:ext uri="{FF2B5EF4-FFF2-40B4-BE49-F238E27FC236}">
                  <a16:creationId xmlns:a16="http://schemas.microsoft.com/office/drawing/2014/main" id="{553D7FF7-88FC-2990-D33B-1E3A9DAE6C2F}"/>
                </a:ext>
              </a:extLst>
            </p:cNvPr>
            <p:cNvCxnSpPr/>
            <p:nvPr/>
          </p:nvCxnSpPr>
          <p:spPr>
            <a:xfrm flipH="1">
              <a:off x="9381744" y="-25402"/>
              <a:ext cx="2810252" cy="6883402"/>
            </a:xfrm>
            <a:prstGeom prst="straightConnector1">
              <a:avLst/>
            </a:prstGeom>
            <a:noFill/>
            <a:ln w="6345" cap="flat">
              <a:solidFill>
                <a:srgbClr val="000000"/>
              </a:solidFill>
              <a:prstDash val="solid"/>
              <a:miter/>
            </a:ln>
          </p:spPr>
        </p:cxnSp>
      </p:grpSp>
      <p:cxnSp>
        <p:nvCxnSpPr>
          <p:cNvPr id="7" name="Straight Connector 11">
            <a:extLst>
              <a:ext uri="{FF2B5EF4-FFF2-40B4-BE49-F238E27FC236}">
                <a16:creationId xmlns:a16="http://schemas.microsoft.com/office/drawing/2014/main" id="{53ED456E-E421-C672-2956-0B860E950DC5}"/>
              </a:ext>
              <a:ext uri="{C183D7F6-B498-43B3-948B-1728B52AA6E4}">
                <adec:decorative xmlns:adec="http://schemas.microsoft.com/office/drawing/2017/decorative" val="1"/>
              </a:ext>
            </a:extLst>
          </p:cNvPr>
          <p:cNvCxnSpPr/>
          <p:nvPr/>
        </p:nvCxnSpPr>
        <p:spPr>
          <a:xfrm rot="10799975" flipH="1">
            <a:off x="0" y="-25402"/>
            <a:ext cx="1210574" cy="2048164"/>
          </a:xfrm>
          <a:prstGeom prst="straightConnector1">
            <a:avLst/>
          </a:prstGeom>
          <a:noFill/>
          <a:ln w="6345" cap="flat">
            <a:solidFill>
              <a:srgbClr val="000000"/>
            </a:solidFill>
            <a:prstDash val="solid"/>
            <a:miter/>
          </a:ln>
        </p:spPr>
      </p:cxnSp>
      <p:sp>
        <p:nvSpPr>
          <p:cNvPr id="8" name="Footer Placeholder 4">
            <a:extLst>
              <a:ext uri="{FF2B5EF4-FFF2-40B4-BE49-F238E27FC236}">
                <a16:creationId xmlns:a16="http://schemas.microsoft.com/office/drawing/2014/main" id="{0332C3A0-1D59-E5B5-833D-BC1297018410}"/>
              </a:ext>
            </a:extLst>
          </p:cNvPr>
          <p:cNvSpPr txBox="1">
            <a:spLocks noGrp="1"/>
          </p:cNvSpPr>
          <p:nvPr>
            <p:ph type="ftr" sz="quarter" idx="9"/>
          </p:nvPr>
        </p:nvSpPr>
        <p:spPr>
          <a:xfrm>
            <a:off x="1333496" y="6356351"/>
            <a:ext cx="3819229" cy="365129"/>
          </a:xfrm>
        </p:spPr>
        <p:txBody>
          <a:bodyPr anchorCtr="0"/>
          <a:lstStyle>
            <a:lvl1pPr algn="l">
              <a:defRPr sz="900"/>
            </a:lvl1pPr>
          </a:lstStyle>
          <a:p>
            <a:pPr lvl="0"/>
            <a:r>
              <a:rPr lang="en-US"/>
              <a:t>PRESENTATION TITLE</a:t>
            </a:r>
          </a:p>
        </p:txBody>
      </p:sp>
      <p:sp>
        <p:nvSpPr>
          <p:cNvPr id="9" name="Slide Number Placeholder 5">
            <a:extLst>
              <a:ext uri="{FF2B5EF4-FFF2-40B4-BE49-F238E27FC236}">
                <a16:creationId xmlns:a16="http://schemas.microsoft.com/office/drawing/2014/main" id="{50417C2C-7B54-F50F-CC88-B7F9BB4D8CEB}"/>
              </a:ext>
            </a:extLst>
          </p:cNvPr>
          <p:cNvSpPr txBox="1">
            <a:spLocks noGrp="1"/>
          </p:cNvSpPr>
          <p:nvPr>
            <p:ph type="sldNum" sz="quarter" idx="8"/>
          </p:nvPr>
        </p:nvSpPr>
        <p:spPr>
          <a:xfrm>
            <a:off x="10373346" y="6356351"/>
            <a:ext cx="987552" cy="365129"/>
          </a:xfrm>
        </p:spPr>
        <p:txBody>
          <a:bodyPr/>
          <a:lstStyle>
            <a:lvl1pPr>
              <a:defRPr sz="900"/>
            </a:lvl1pPr>
          </a:lstStyle>
          <a:p>
            <a:pPr lvl="0"/>
            <a:fld id="{03150AE7-04FA-4508-A60D-719840016234}" type="slidenum">
              <a:t>‹#›</a:t>
            </a:fld>
            <a:endParaRPr lang="en-US"/>
          </a:p>
        </p:txBody>
      </p:sp>
    </p:spTree>
    <p:extLst>
      <p:ext uri="{BB962C8B-B14F-4D97-AF65-F5344CB8AC3E}">
        <p14:creationId xmlns:p14="http://schemas.microsoft.com/office/powerpoint/2010/main" val="3710231901"/>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ection Break 3">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AD5BF7-0F44-A66F-4AEF-CE36C9B62BBF}"/>
              </a:ext>
            </a:extLst>
          </p:cNvPr>
          <p:cNvSpPr txBox="1">
            <a:spLocks noGrp="1"/>
          </p:cNvSpPr>
          <p:nvPr>
            <p:ph type="title"/>
          </p:nvPr>
        </p:nvSpPr>
        <p:spPr>
          <a:xfrm>
            <a:off x="6991346" y="406395"/>
            <a:ext cx="4179566" cy="3457968"/>
          </a:xfrm>
        </p:spPr>
        <p:txBody>
          <a:bodyPr anchor="b">
            <a:noAutofit/>
          </a:bodyPr>
          <a:lstStyle>
            <a:lvl1pPr>
              <a:defRPr sz="3600" spc="150">
                <a:solidFill>
                  <a:srgbClr val="FFFFFF"/>
                </a:solidFill>
              </a:defRPr>
            </a:lvl1pPr>
          </a:lstStyle>
          <a:p>
            <a:pPr lvl="0"/>
            <a:r>
              <a:rPr lang="en-US"/>
              <a:t>CLICK TO add title</a:t>
            </a:r>
          </a:p>
        </p:txBody>
      </p:sp>
      <p:pic>
        <p:nvPicPr>
          <p:cNvPr id="3" name="Graphic 3">
            <a:extLst>
              <a:ext uri="{FF2B5EF4-FFF2-40B4-BE49-F238E27FC236}">
                <a16:creationId xmlns:a16="http://schemas.microsoft.com/office/drawing/2014/main" id="{403B61C6-3AB3-81F9-0773-8EAA5D54E867}"/>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0" y="828675"/>
            <a:ext cx="5876921" cy="5200649"/>
          </a:xfrm>
          <a:prstGeom prst="rect">
            <a:avLst/>
          </a:prstGeom>
          <a:noFill/>
          <a:ln cap="flat">
            <a:noFill/>
          </a:ln>
        </p:spPr>
      </p:pic>
    </p:spTree>
    <p:extLst>
      <p:ext uri="{BB962C8B-B14F-4D97-AF65-F5344CB8AC3E}">
        <p14:creationId xmlns:p14="http://schemas.microsoft.com/office/powerpoint/2010/main" val="1687018109"/>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wo Content 1">
    <p:bg>
      <p:bgPr>
        <a:solidFill>
          <a:srgbClr val="E9E6DF"/>
        </a:solidFill>
        <a:effectLst/>
      </p:bgPr>
    </p:bg>
    <p:spTree>
      <p:nvGrpSpPr>
        <p:cNvPr id="1" name=""/>
        <p:cNvGrpSpPr/>
        <p:nvPr/>
      </p:nvGrpSpPr>
      <p:grpSpPr>
        <a:xfrm>
          <a:off x="0" y="0"/>
          <a:ext cx="0" cy="0"/>
          <a:chOff x="0" y="0"/>
          <a:chExt cx="0" cy="0"/>
        </a:xfrm>
      </p:grpSpPr>
      <p:pic>
        <p:nvPicPr>
          <p:cNvPr id="2" name="Graphic 9">
            <a:extLst>
              <a:ext uri="{FF2B5EF4-FFF2-40B4-BE49-F238E27FC236}">
                <a16:creationId xmlns:a16="http://schemas.microsoft.com/office/drawing/2014/main" id="{0CE64EF3-8F05-6429-8601-65384A5D72AC}"/>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rcRect l="39434" t="20278" b="22673"/>
          <a:stretch>
            <a:fillRect/>
          </a:stretch>
        </p:blipFill>
        <p:spPr>
          <a:xfrm>
            <a:off x="25786" y="0"/>
            <a:ext cx="4093631" cy="3912397"/>
          </a:xfrm>
          <a:prstGeom prst="rect">
            <a:avLst/>
          </a:prstGeom>
          <a:noFill/>
          <a:ln cap="flat">
            <a:noFill/>
          </a:ln>
        </p:spPr>
      </p:pic>
      <p:sp>
        <p:nvSpPr>
          <p:cNvPr id="3" name="Title 1">
            <a:extLst>
              <a:ext uri="{FF2B5EF4-FFF2-40B4-BE49-F238E27FC236}">
                <a16:creationId xmlns:a16="http://schemas.microsoft.com/office/drawing/2014/main" id="{C7E14A4F-438C-C9F8-D53D-3A3BE3489EA0}"/>
              </a:ext>
            </a:extLst>
          </p:cNvPr>
          <p:cNvSpPr txBox="1">
            <a:spLocks noGrp="1"/>
          </p:cNvSpPr>
          <p:nvPr>
            <p:ph type="title"/>
          </p:nvPr>
        </p:nvSpPr>
        <p:spPr>
          <a:xfrm>
            <a:off x="2933696" y="568957"/>
            <a:ext cx="8420096" cy="1780858"/>
          </a:xfrm>
        </p:spPr>
        <p:txBody>
          <a:bodyPr anchor="b"/>
          <a:lstStyle>
            <a:lvl1pPr>
              <a:defRPr sz="2800" spc="150"/>
            </a:lvl1pPr>
          </a:lstStyle>
          <a:p>
            <a:pPr lvl="0"/>
            <a:r>
              <a:rPr lang="en-US"/>
              <a:t>CLICK TO add title</a:t>
            </a:r>
          </a:p>
        </p:txBody>
      </p:sp>
      <p:sp>
        <p:nvSpPr>
          <p:cNvPr id="4" name="Text Placeholder 2">
            <a:extLst>
              <a:ext uri="{FF2B5EF4-FFF2-40B4-BE49-F238E27FC236}">
                <a16:creationId xmlns:a16="http://schemas.microsoft.com/office/drawing/2014/main" id="{4B30E2FA-8356-2F55-71A0-7C72B546B3D0}"/>
              </a:ext>
            </a:extLst>
          </p:cNvPr>
          <p:cNvSpPr txBox="1">
            <a:spLocks noGrp="1"/>
          </p:cNvSpPr>
          <p:nvPr>
            <p:ph type="body" idx="4294967295"/>
          </p:nvPr>
        </p:nvSpPr>
        <p:spPr>
          <a:xfrm>
            <a:off x="2933696" y="2797259"/>
            <a:ext cx="3924303" cy="464496"/>
          </a:xfrm>
        </p:spPr>
        <p:txBody>
          <a:bodyPr/>
          <a:lstStyle>
            <a:lvl1pPr marL="0" indent="0">
              <a:buNone/>
              <a:defRPr sz="1800" b="1" spc="50"/>
            </a:lvl1pPr>
          </a:lstStyle>
          <a:p>
            <a:pPr lvl="0"/>
            <a:r>
              <a:rPr lang="en-US"/>
              <a:t>Click to add text</a:t>
            </a:r>
          </a:p>
        </p:txBody>
      </p:sp>
      <p:sp>
        <p:nvSpPr>
          <p:cNvPr id="5" name="Content Placeholder 3">
            <a:extLst>
              <a:ext uri="{FF2B5EF4-FFF2-40B4-BE49-F238E27FC236}">
                <a16:creationId xmlns:a16="http://schemas.microsoft.com/office/drawing/2014/main" id="{D986E178-CE40-98F7-D7FE-C6CA0F8BFA16}"/>
              </a:ext>
            </a:extLst>
          </p:cNvPr>
          <p:cNvSpPr txBox="1">
            <a:spLocks noGrp="1"/>
          </p:cNvSpPr>
          <p:nvPr>
            <p:ph idx="4294967295"/>
          </p:nvPr>
        </p:nvSpPr>
        <p:spPr>
          <a:xfrm>
            <a:off x="2933696" y="3251597"/>
            <a:ext cx="3943624" cy="3234260"/>
          </a:xfrm>
        </p:spPr>
        <p:txBody>
          <a:bodyPr tIns="0"/>
          <a:lstStyle>
            <a:lvl1pPr marL="0" indent="0">
              <a:lnSpc>
                <a:spcPct val="100000"/>
              </a:lnSpc>
              <a:buNone/>
              <a:defRPr sz="1800" spc="50"/>
            </a:lvl1pPr>
            <a:lvl2pPr marL="283464" indent="-285750">
              <a:lnSpc>
                <a:spcPct val="100000"/>
              </a:lnSpc>
              <a:spcBef>
                <a:spcPts val="1000"/>
              </a:spcBef>
              <a:defRPr sz="1800" spc="50"/>
            </a:lvl2pPr>
            <a:lvl3pPr marL="566928" indent="-285750">
              <a:lnSpc>
                <a:spcPct val="100000"/>
              </a:lnSpc>
              <a:spcBef>
                <a:spcPts val="1000"/>
              </a:spcBef>
              <a:defRPr sz="1800" spc="50"/>
            </a:lvl3pPr>
            <a:lvl4pPr marL="859536" indent="-285750">
              <a:lnSpc>
                <a:spcPct val="100000"/>
              </a:lnSpc>
              <a:spcBef>
                <a:spcPts val="1000"/>
              </a:spcBef>
              <a:defRPr spc="50"/>
            </a:lvl4pPr>
            <a:lvl5pPr marL="1143000" indent="-285750">
              <a:lnSpc>
                <a:spcPct val="100000"/>
              </a:lnSpc>
              <a:spcBef>
                <a:spcPts val="1000"/>
              </a:spcBef>
              <a:defRPr spc="50"/>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6" name="Text Placeholder 4">
            <a:extLst>
              <a:ext uri="{FF2B5EF4-FFF2-40B4-BE49-F238E27FC236}">
                <a16:creationId xmlns:a16="http://schemas.microsoft.com/office/drawing/2014/main" id="{AEC4A5AD-BB95-3782-D828-9A8D58A4E37C}"/>
              </a:ext>
            </a:extLst>
          </p:cNvPr>
          <p:cNvSpPr txBox="1">
            <a:spLocks noGrp="1"/>
          </p:cNvSpPr>
          <p:nvPr>
            <p:ph type="body" idx="4294967295"/>
          </p:nvPr>
        </p:nvSpPr>
        <p:spPr>
          <a:xfrm>
            <a:off x="7410169" y="2797259"/>
            <a:ext cx="3943624" cy="464496"/>
          </a:xfrm>
        </p:spPr>
        <p:txBody>
          <a:bodyPr/>
          <a:lstStyle>
            <a:lvl1pPr marL="0" indent="0">
              <a:buNone/>
              <a:defRPr sz="1800" b="1" spc="50"/>
            </a:lvl1pPr>
          </a:lstStyle>
          <a:p>
            <a:pPr lvl="0"/>
            <a:r>
              <a:rPr lang="en-US"/>
              <a:t>Click to add text</a:t>
            </a:r>
          </a:p>
        </p:txBody>
      </p:sp>
      <p:sp>
        <p:nvSpPr>
          <p:cNvPr id="7" name="Content Placeholder 3">
            <a:extLst>
              <a:ext uri="{FF2B5EF4-FFF2-40B4-BE49-F238E27FC236}">
                <a16:creationId xmlns:a16="http://schemas.microsoft.com/office/drawing/2014/main" id="{FAE17EE7-4E98-3290-0638-DC9250ABC796}"/>
              </a:ext>
            </a:extLst>
          </p:cNvPr>
          <p:cNvSpPr txBox="1">
            <a:spLocks noGrp="1"/>
          </p:cNvSpPr>
          <p:nvPr>
            <p:ph idx="4294967295"/>
          </p:nvPr>
        </p:nvSpPr>
        <p:spPr>
          <a:xfrm>
            <a:off x="7410169" y="3251597"/>
            <a:ext cx="3943624" cy="3234260"/>
          </a:xfrm>
        </p:spPr>
        <p:txBody>
          <a:bodyPr tIns="0"/>
          <a:lstStyle>
            <a:lvl1pPr marL="0" indent="0">
              <a:lnSpc>
                <a:spcPct val="100000"/>
              </a:lnSpc>
              <a:buNone/>
              <a:defRPr sz="1800" spc="50"/>
            </a:lvl1pPr>
            <a:lvl2pPr marL="283464" indent="-285750">
              <a:lnSpc>
                <a:spcPct val="100000"/>
              </a:lnSpc>
              <a:spcBef>
                <a:spcPts val="1000"/>
              </a:spcBef>
              <a:defRPr sz="1800" spc="50"/>
            </a:lvl2pPr>
            <a:lvl3pPr marL="566928" indent="-285750">
              <a:lnSpc>
                <a:spcPct val="100000"/>
              </a:lnSpc>
              <a:spcBef>
                <a:spcPts val="1000"/>
              </a:spcBef>
              <a:defRPr sz="1800" spc="50"/>
            </a:lvl3pPr>
            <a:lvl4pPr marL="859536" indent="-285750">
              <a:lnSpc>
                <a:spcPct val="100000"/>
              </a:lnSpc>
              <a:spcBef>
                <a:spcPts val="1000"/>
              </a:spcBef>
              <a:defRPr spc="50"/>
            </a:lvl4pPr>
            <a:lvl5pPr marL="1143000" indent="-285750">
              <a:lnSpc>
                <a:spcPct val="100000"/>
              </a:lnSpc>
              <a:spcBef>
                <a:spcPts val="1000"/>
              </a:spcBef>
              <a:defRPr spc="50"/>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8" name="Footer Placeholder 4">
            <a:extLst>
              <a:ext uri="{FF2B5EF4-FFF2-40B4-BE49-F238E27FC236}">
                <a16:creationId xmlns:a16="http://schemas.microsoft.com/office/drawing/2014/main" id="{38634391-8F7C-B9B3-8E08-D0FC16AC5421}"/>
              </a:ext>
            </a:extLst>
          </p:cNvPr>
          <p:cNvSpPr txBox="1">
            <a:spLocks noGrp="1"/>
          </p:cNvSpPr>
          <p:nvPr>
            <p:ph type="ftr" sz="quarter" idx="9"/>
          </p:nvPr>
        </p:nvSpPr>
        <p:spPr>
          <a:xfrm>
            <a:off x="2969257" y="6356351"/>
            <a:ext cx="3819229" cy="365129"/>
          </a:xfrm>
        </p:spPr>
        <p:txBody>
          <a:bodyPr anchorCtr="0"/>
          <a:lstStyle>
            <a:lvl1pPr algn="l">
              <a:defRPr sz="900"/>
            </a:lvl1pPr>
          </a:lstStyle>
          <a:p>
            <a:pPr lvl="0"/>
            <a:r>
              <a:rPr lang="en-US"/>
              <a:t>PRESENTATION TITLE</a:t>
            </a:r>
          </a:p>
        </p:txBody>
      </p:sp>
      <p:sp>
        <p:nvSpPr>
          <p:cNvPr id="9" name="Slide Number Placeholder 5">
            <a:extLst>
              <a:ext uri="{FF2B5EF4-FFF2-40B4-BE49-F238E27FC236}">
                <a16:creationId xmlns:a16="http://schemas.microsoft.com/office/drawing/2014/main" id="{AFB9395C-5A8D-3A19-2821-ACA944330835}"/>
              </a:ext>
            </a:extLst>
          </p:cNvPr>
          <p:cNvSpPr txBox="1">
            <a:spLocks noGrp="1"/>
          </p:cNvSpPr>
          <p:nvPr>
            <p:ph type="sldNum" sz="quarter" idx="8"/>
          </p:nvPr>
        </p:nvSpPr>
        <p:spPr>
          <a:xfrm>
            <a:off x="10373346" y="6356351"/>
            <a:ext cx="987552" cy="365129"/>
          </a:xfrm>
        </p:spPr>
        <p:txBody>
          <a:bodyPr/>
          <a:lstStyle>
            <a:lvl1pPr>
              <a:defRPr sz="900"/>
            </a:lvl1pPr>
          </a:lstStyle>
          <a:p>
            <a:pPr lvl="0"/>
            <a:fld id="{9B505256-E112-4076-A582-593FB432292B}" type="slidenum">
              <a:t>‹#›</a:t>
            </a:fld>
            <a:endParaRPr lang="en-US"/>
          </a:p>
        </p:txBody>
      </p:sp>
    </p:spTree>
    <p:extLst>
      <p:ext uri="{BB962C8B-B14F-4D97-AF65-F5344CB8AC3E}">
        <p14:creationId xmlns:p14="http://schemas.microsoft.com/office/powerpoint/2010/main" val="34535702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wo Content 2">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C09FDB-D316-74B8-4EAD-2DA62707D563}"/>
              </a:ext>
            </a:extLst>
          </p:cNvPr>
          <p:cNvSpPr txBox="1">
            <a:spLocks noGrp="1"/>
          </p:cNvSpPr>
          <p:nvPr>
            <p:ph type="title"/>
          </p:nvPr>
        </p:nvSpPr>
        <p:spPr>
          <a:xfrm>
            <a:off x="1341123" y="558798"/>
            <a:ext cx="9953308" cy="1780858"/>
          </a:xfrm>
        </p:spPr>
        <p:txBody>
          <a:bodyPr anchor="b"/>
          <a:lstStyle>
            <a:lvl1pPr>
              <a:defRPr sz="2800" spc="150"/>
            </a:lvl1pPr>
          </a:lstStyle>
          <a:p>
            <a:pPr lvl="0"/>
            <a:r>
              <a:rPr lang="en-US"/>
              <a:t>CLICK TO add title</a:t>
            </a:r>
          </a:p>
        </p:txBody>
      </p:sp>
      <p:grpSp>
        <p:nvGrpSpPr>
          <p:cNvPr id="3" name="Group 9">
            <a:extLst>
              <a:ext uri="{FF2B5EF4-FFF2-40B4-BE49-F238E27FC236}">
                <a16:creationId xmlns:a16="http://schemas.microsoft.com/office/drawing/2014/main" id="{0224ECD0-9480-9BD6-F9E1-6E1A84110EC9}"/>
              </a:ext>
            </a:extLst>
          </p:cNvPr>
          <p:cNvGrpSpPr/>
          <p:nvPr/>
        </p:nvGrpSpPr>
        <p:grpSpPr>
          <a:xfrm>
            <a:off x="4429819" y="0"/>
            <a:ext cx="7762177" cy="2754812"/>
            <a:chOff x="4429819" y="0"/>
            <a:chExt cx="7762177" cy="2754812"/>
          </a:xfrm>
        </p:grpSpPr>
        <p:cxnSp>
          <p:nvCxnSpPr>
            <p:cNvPr id="4" name="Straight Connector 10">
              <a:extLst>
                <a:ext uri="{FF2B5EF4-FFF2-40B4-BE49-F238E27FC236}">
                  <a16:creationId xmlns:a16="http://schemas.microsoft.com/office/drawing/2014/main" id="{0EC0C1EB-407C-AC81-6A11-69C025B01A24}"/>
                </a:ext>
              </a:extLst>
            </p:cNvPr>
            <p:cNvCxnSpPr/>
            <p:nvPr/>
          </p:nvCxnSpPr>
          <p:spPr>
            <a:xfrm flipH="1" flipV="1">
              <a:off x="4429819" y="0"/>
              <a:ext cx="7762177" cy="1217596"/>
            </a:xfrm>
            <a:prstGeom prst="straightConnector1">
              <a:avLst/>
            </a:prstGeom>
            <a:noFill/>
            <a:ln w="6345" cap="flat">
              <a:solidFill>
                <a:srgbClr val="000000"/>
              </a:solidFill>
              <a:prstDash val="solid"/>
              <a:miter/>
            </a:ln>
          </p:spPr>
        </p:cxnSp>
        <p:cxnSp>
          <p:nvCxnSpPr>
            <p:cNvPr id="5" name="Straight Connector 11">
              <a:extLst>
                <a:ext uri="{FF2B5EF4-FFF2-40B4-BE49-F238E27FC236}">
                  <a16:creationId xmlns:a16="http://schemas.microsoft.com/office/drawing/2014/main" id="{34C3AD45-5408-168F-A732-5251B42D5D99}"/>
                </a:ext>
              </a:extLst>
            </p:cNvPr>
            <p:cNvCxnSpPr/>
            <p:nvPr/>
          </p:nvCxnSpPr>
          <p:spPr>
            <a:xfrm>
              <a:off x="11065721" y="0"/>
              <a:ext cx="1126275" cy="2754812"/>
            </a:xfrm>
            <a:prstGeom prst="straightConnector1">
              <a:avLst/>
            </a:prstGeom>
            <a:noFill/>
            <a:ln w="6345" cap="flat">
              <a:solidFill>
                <a:srgbClr val="000000"/>
              </a:solidFill>
              <a:prstDash val="solid"/>
              <a:miter/>
            </a:ln>
          </p:spPr>
        </p:cxnSp>
      </p:grpSp>
      <p:sp>
        <p:nvSpPr>
          <p:cNvPr id="6" name="Text Placeholder 2">
            <a:extLst>
              <a:ext uri="{FF2B5EF4-FFF2-40B4-BE49-F238E27FC236}">
                <a16:creationId xmlns:a16="http://schemas.microsoft.com/office/drawing/2014/main" id="{D4095869-99ED-BFEF-AFA1-42FD489C9C82}"/>
              </a:ext>
            </a:extLst>
          </p:cNvPr>
          <p:cNvSpPr txBox="1">
            <a:spLocks noGrp="1"/>
          </p:cNvSpPr>
          <p:nvPr>
            <p:ph type="body" idx="4294967295"/>
          </p:nvPr>
        </p:nvSpPr>
        <p:spPr>
          <a:xfrm>
            <a:off x="1341123" y="2960872"/>
            <a:ext cx="2722882" cy="351285"/>
          </a:xfrm>
        </p:spPr>
        <p:txBody>
          <a:bodyPr/>
          <a:lstStyle>
            <a:lvl1pPr marL="0" indent="0">
              <a:buNone/>
              <a:defRPr sz="1800" b="1" spc="50"/>
            </a:lvl1pPr>
          </a:lstStyle>
          <a:p>
            <a:pPr lvl="0"/>
            <a:r>
              <a:rPr lang="en-US"/>
              <a:t>Click to add text</a:t>
            </a:r>
          </a:p>
        </p:txBody>
      </p:sp>
      <p:sp>
        <p:nvSpPr>
          <p:cNvPr id="7" name="Content Placeholder 3">
            <a:extLst>
              <a:ext uri="{FF2B5EF4-FFF2-40B4-BE49-F238E27FC236}">
                <a16:creationId xmlns:a16="http://schemas.microsoft.com/office/drawing/2014/main" id="{C257F22B-FADB-F157-3AE7-7025FE78A330}"/>
              </a:ext>
            </a:extLst>
          </p:cNvPr>
          <p:cNvSpPr txBox="1">
            <a:spLocks noGrp="1"/>
          </p:cNvSpPr>
          <p:nvPr>
            <p:ph idx="4294967295"/>
          </p:nvPr>
        </p:nvSpPr>
        <p:spPr>
          <a:xfrm>
            <a:off x="1341123" y="3392030"/>
            <a:ext cx="2722882" cy="2907161"/>
          </a:xfrm>
        </p:spPr>
        <p:txBody>
          <a:bodyPr tIns="0"/>
          <a:lstStyle>
            <a:lvl1pPr marL="283464" indent="-283464">
              <a:lnSpc>
                <a:spcPct val="100000"/>
              </a:lnSpc>
              <a:buFont typeface="Tenorite"/>
              <a:buAutoNum type="arabicPeriod"/>
              <a:defRPr sz="1800" spc="50"/>
            </a:lvl1pPr>
            <a:lvl2pPr marL="566928" indent="-342900">
              <a:lnSpc>
                <a:spcPct val="100000"/>
              </a:lnSpc>
              <a:spcBef>
                <a:spcPts val="1000"/>
              </a:spcBef>
              <a:buFont typeface="Tenorite"/>
              <a:buAutoNum type="alphaLcPeriod"/>
              <a:defRPr sz="1800" spc="50"/>
            </a:lvl2pPr>
            <a:lvl3pPr marL="850392" indent="-342900">
              <a:lnSpc>
                <a:spcPct val="100000"/>
              </a:lnSpc>
              <a:spcBef>
                <a:spcPts val="1000"/>
              </a:spcBef>
              <a:buFont typeface="Tenorite"/>
              <a:buAutoNum type="arabicParenR"/>
              <a:defRPr sz="1800" spc="50"/>
            </a:lvl3pPr>
            <a:lvl4pPr marL="1042416" indent="-342900">
              <a:lnSpc>
                <a:spcPct val="100000"/>
              </a:lnSpc>
              <a:spcBef>
                <a:spcPts val="1000"/>
              </a:spcBef>
              <a:buFont typeface="Tenorite"/>
              <a:buAutoNum type="alphaLcParenR"/>
              <a:defRPr spc="50"/>
            </a:lvl4pPr>
          </a:lstStyle>
          <a:p>
            <a:pPr lvl="0"/>
            <a:r>
              <a:rPr lang="en-US"/>
              <a:t>Click to add content</a:t>
            </a:r>
          </a:p>
          <a:p>
            <a:pPr lvl="1"/>
            <a:r>
              <a:rPr lang="en-US"/>
              <a:t>Second level</a:t>
            </a:r>
          </a:p>
          <a:p>
            <a:pPr lvl="2"/>
            <a:r>
              <a:rPr lang="en-US"/>
              <a:t>Third level</a:t>
            </a:r>
          </a:p>
          <a:p>
            <a:pPr lvl="3"/>
            <a:r>
              <a:rPr lang="en-US"/>
              <a:t>Fourth level</a:t>
            </a:r>
          </a:p>
        </p:txBody>
      </p:sp>
      <p:sp>
        <p:nvSpPr>
          <p:cNvPr id="8" name="Text Placeholder 2">
            <a:extLst>
              <a:ext uri="{FF2B5EF4-FFF2-40B4-BE49-F238E27FC236}">
                <a16:creationId xmlns:a16="http://schemas.microsoft.com/office/drawing/2014/main" id="{3B6A4447-6D65-E6E6-CC5E-34E63C9D1E9E}"/>
              </a:ext>
            </a:extLst>
          </p:cNvPr>
          <p:cNvSpPr txBox="1">
            <a:spLocks noGrp="1"/>
          </p:cNvSpPr>
          <p:nvPr>
            <p:ph type="body" idx="4294967295"/>
          </p:nvPr>
        </p:nvSpPr>
        <p:spPr>
          <a:xfrm>
            <a:off x="4754880" y="2960872"/>
            <a:ext cx="5516876" cy="351285"/>
          </a:xfrm>
        </p:spPr>
        <p:txBody>
          <a:bodyPr/>
          <a:lstStyle>
            <a:lvl1pPr marL="0" indent="0">
              <a:buNone/>
              <a:defRPr sz="1800" b="1" spc="50"/>
            </a:lvl1pPr>
          </a:lstStyle>
          <a:p>
            <a:pPr lvl="0"/>
            <a:r>
              <a:rPr lang="en-US"/>
              <a:t>Click to add text</a:t>
            </a:r>
          </a:p>
        </p:txBody>
      </p:sp>
      <p:sp>
        <p:nvSpPr>
          <p:cNvPr id="9" name="Content Placeholder 3">
            <a:extLst>
              <a:ext uri="{FF2B5EF4-FFF2-40B4-BE49-F238E27FC236}">
                <a16:creationId xmlns:a16="http://schemas.microsoft.com/office/drawing/2014/main" id="{F8DB7B8E-5B5B-AF25-A063-3C74B8E66203}"/>
              </a:ext>
            </a:extLst>
          </p:cNvPr>
          <p:cNvSpPr txBox="1">
            <a:spLocks noGrp="1"/>
          </p:cNvSpPr>
          <p:nvPr>
            <p:ph idx="4294967295"/>
          </p:nvPr>
        </p:nvSpPr>
        <p:spPr>
          <a:xfrm>
            <a:off x="4754880" y="3324858"/>
            <a:ext cx="5506717" cy="3031492"/>
          </a:xfrm>
        </p:spPr>
        <p:txBody>
          <a:bodyPr tIns="0"/>
          <a:lstStyle>
            <a:lvl1pPr marL="0" indent="0">
              <a:lnSpc>
                <a:spcPct val="100000"/>
              </a:lnSpc>
              <a:buNone/>
              <a:defRPr sz="1800" spc="50"/>
            </a:lvl1pPr>
            <a:lvl2pPr marL="283464" indent="-285750">
              <a:lnSpc>
                <a:spcPct val="100000"/>
              </a:lnSpc>
              <a:spcBef>
                <a:spcPts val="1000"/>
              </a:spcBef>
              <a:defRPr sz="1800" spc="50"/>
            </a:lvl2pPr>
            <a:lvl3pPr marL="566928" indent="-285750">
              <a:lnSpc>
                <a:spcPct val="100000"/>
              </a:lnSpc>
              <a:spcBef>
                <a:spcPts val="1000"/>
              </a:spcBef>
              <a:defRPr sz="1800" spc="50"/>
            </a:lvl3pPr>
            <a:lvl4pPr marL="859536" indent="-285750">
              <a:lnSpc>
                <a:spcPct val="100000"/>
              </a:lnSpc>
              <a:spcBef>
                <a:spcPts val="1000"/>
              </a:spcBef>
              <a:defRPr spc="50"/>
            </a:lvl4pPr>
            <a:lvl5pPr marL="1143000" indent="-285750">
              <a:lnSpc>
                <a:spcPct val="100000"/>
              </a:lnSpc>
              <a:spcBef>
                <a:spcPts val="1000"/>
              </a:spcBef>
              <a:defRPr spc="50"/>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10" name="Footer Placeholder 4">
            <a:extLst>
              <a:ext uri="{FF2B5EF4-FFF2-40B4-BE49-F238E27FC236}">
                <a16:creationId xmlns:a16="http://schemas.microsoft.com/office/drawing/2014/main" id="{0FD5EB77-094B-782B-BF68-DF0A099325F4}"/>
              </a:ext>
            </a:extLst>
          </p:cNvPr>
          <p:cNvSpPr txBox="1">
            <a:spLocks noGrp="1"/>
          </p:cNvSpPr>
          <p:nvPr>
            <p:ph type="ftr" sz="quarter" idx="9"/>
          </p:nvPr>
        </p:nvSpPr>
        <p:spPr>
          <a:xfrm>
            <a:off x="1333496" y="6356351"/>
            <a:ext cx="3819229" cy="365129"/>
          </a:xfrm>
        </p:spPr>
        <p:txBody>
          <a:bodyPr anchorCtr="0"/>
          <a:lstStyle>
            <a:lvl1pPr algn="l">
              <a:defRPr sz="900"/>
            </a:lvl1pPr>
          </a:lstStyle>
          <a:p>
            <a:pPr lvl="0"/>
            <a:r>
              <a:rPr lang="en-US"/>
              <a:t>PRESENTATION TITLE</a:t>
            </a:r>
          </a:p>
        </p:txBody>
      </p:sp>
      <p:sp>
        <p:nvSpPr>
          <p:cNvPr id="11" name="Slide Number Placeholder 5">
            <a:extLst>
              <a:ext uri="{FF2B5EF4-FFF2-40B4-BE49-F238E27FC236}">
                <a16:creationId xmlns:a16="http://schemas.microsoft.com/office/drawing/2014/main" id="{B1E21AB2-8B8A-7728-D414-A835332716D8}"/>
              </a:ext>
            </a:extLst>
          </p:cNvPr>
          <p:cNvSpPr txBox="1">
            <a:spLocks noGrp="1"/>
          </p:cNvSpPr>
          <p:nvPr>
            <p:ph type="sldNum" sz="quarter" idx="8"/>
          </p:nvPr>
        </p:nvSpPr>
        <p:spPr>
          <a:xfrm>
            <a:off x="10373346" y="6356351"/>
            <a:ext cx="987552" cy="365129"/>
          </a:xfrm>
        </p:spPr>
        <p:txBody>
          <a:bodyPr/>
          <a:lstStyle>
            <a:lvl1pPr>
              <a:defRPr sz="900"/>
            </a:lvl1pPr>
          </a:lstStyle>
          <a:p>
            <a:pPr lvl="0"/>
            <a:fld id="{ED1DFD20-4F7A-4007-8020-6F49141847DD}" type="slidenum">
              <a:t>‹#›</a:t>
            </a:fld>
            <a:endParaRPr lang="en-US"/>
          </a:p>
        </p:txBody>
      </p:sp>
    </p:spTree>
    <p:extLst>
      <p:ext uri="{BB962C8B-B14F-4D97-AF65-F5344CB8AC3E}">
        <p14:creationId xmlns:p14="http://schemas.microsoft.com/office/powerpoint/2010/main" val="8209811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ummary">
    <p:spTree>
      <p:nvGrpSpPr>
        <p:cNvPr id="1" name=""/>
        <p:cNvGrpSpPr/>
        <p:nvPr/>
      </p:nvGrpSpPr>
      <p:grpSpPr>
        <a:xfrm>
          <a:off x="0" y="0"/>
          <a:ext cx="0" cy="0"/>
          <a:chOff x="0" y="0"/>
          <a:chExt cx="0" cy="0"/>
        </a:xfrm>
      </p:grpSpPr>
      <p:cxnSp>
        <p:nvCxnSpPr>
          <p:cNvPr id="2" name="Straight Connector 10">
            <a:extLst>
              <a:ext uri="{FF2B5EF4-FFF2-40B4-BE49-F238E27FC236}">
                <a16:creationId xmlns:a16="http://schemas.microsoft.com/office/drawing/2014/main" id="{ACC3382C-CFC9-7144-8C57-A8B6182FDD0A}"/>
              </a:ext>
              <a:ext uri="{C183D7F6-B498-43B3-948B-1728B52AA6E4}">
                <adec:decorative xmlns:adec="http://schemas.microsoft.com/office/drawing/2017/decorative" val="1"/>
              </a:ext>
            </a:extLst>
          </p:cNvPr>
          <p:cNvCxnSpPr/>
          <p:nvPr/>
        </p:nvCxnSpPr>
        <p:spPr>
          <a:xfrm flipH="1" flipV="1">
            <a:off x="3094183" y="0"/>
            <a:ext cx="1745672" cy="3897748"/>
          </a:xfrm>
          <a:prstGeom prst="straightConnector1">
            <a:avLst/>
          </a:prstGeom>
          <a:noFill/>
          <a:ln w="6345" cap="flat">
            <a:solidFill>
              <a:srgbClr val="000000"/>
            </a:solidFill>
            <a:prstDash val="solid"/>
            <a:miter/>
          </a:ln>
        </p:spPr>
      </p:cxnSp>
      <p:sp>
        <p:nvSpPr>
          <p:cNvPr id="3" name="Title 1">
            <a:extLst>
              <a:ext uri="{FF2B5EF4-FFF2-40B4-BE49-F238E27FC236}">
                <a16:creationId xmlns:a16="http://schemas.microsoft.com/office/drawing/2014/main" id="{C31C4616-F2CA-DEC7-9BC1-90D3D01BBACC}"/>
              </a:ext>
            </a:extLst>
          </p:cNvPr>
          <p:cNvSpPr txBox="1">
            <a:spLocks noGrp="1"/>
          </p:cNvSpPr>
          <p:nvPr>
            <p:ph type="title"/>
          </p:nvPr>
        </p:nvSpPr>
        <p:spPr>
          <a:xfrm>
            <a:off x="5476871" y="1671642"/>
            <a:ext cx="5884026" cy="1204914"/>
          </a:xfrm>
        </p:spPr>
        <p:txBody>
          <a:bodyPr anchor="b"/>
          <a:lstStyle>
            <a:lvl1pPr>
              <a:defRPr sz="2800" spc="150"/>
            </a:lvl1pPr>
          </a:lstStyle>
          <a:p>
            <a:pPr lvl="0"/>
            <a:r>
              <a:rPr lang="en-US"/>
              <a:t>CLICK TO add title</a:t>
            </a:r>
          </a:p>
        </p:txBody>
      </p:sp>
      <p:sp>
        <p:nvSpPr>
          <p:cNvPr id="4" name="Picture Placeholder 12">
            <a:extLst>
              <a:ext uri="{FF2B5EF4-FFF2-40B4-BE49-F238E27FC236}">
                <a16:creationId xmlns:a16="http://schemas.microsoft.com/office/drawing/2014/main" id="{AD65B07E-C066-B5D3-F096-5A13D1FF4FC5}"/>
              </a:ext>
            </a:extLst>
          </p:cNvPr>
          <p:cNvSpPr txBox="1">
            <a:spLocks noGrp="1"/>
          </p:cNvSpPr>
          <p:nvPr>
            <p:ph type="pic" idx="4294967295"/>
          </p:nvPr>
        </p:nvSpPr>
        <p:spPr>
          <a:xfrm>
            <a:off x="-28227" y="-9144"/>
            <a:ext cx="5481956" cy="6876288"/>
          </a:xfrm>
        </p:spPr>
        <p:txBody>
          <a:bodyPr lIns="274320" tIns="91440" bIns="91440"/>
          <a:lstStyle>
            <a:lvl1pPr marL="0" indent="0">
              <a:buNone/>
              <a:defRPr sz="2000"/>
            </a:lvl1pPr>
          </a:lstStyle>
          <a:p>
            <a:pPr lvl="0"/>
            <a:r>
              <a:rPr lang="en-US"/>
              <a:t>Click icon to add picture</a:t>
            </a:r>
          </a:p>
        </p:txBody>
      </p:sp>
      <p:sp>
        <p:nvSpPr>
          <p:cNvPr id="5" name="Footer Placeholder 4">
            <a:extLst>
              <a:ext uri="{FF2B5EF4-FFF2-40B4-BE49-F238E27FC236}">
                <a16:creationId xmlns:a16="http://schemas.microsoft.com/office/drawing/2014/main" id="{8DE8DEDA-A66F-AF69-CA18-0298B555EAFF}"/>
              </a:ext>
            </a:extLst>
          </p:cNvPr>
          <p:cNvSpPr txBox="1">
            <a:spLocks noGrp="1"/>
          </p:cNvSpPr>
          <p:nvPr>
            <p:ph type="ftr" sz="quarter" idx="9"/>
          </p:nvPr>
        </p:nvSpPr>
        <p:spPr>
          <a:xfrm>
            <a:off x="825502" y="6356351"/>
            <a:ext cx="3819229" cy="365129"/>
          </a:xfrm>
        </p:spPr>
        <p:txBody>
          <a:bodyPr anchorCtr="0"/>
          <a:lstStyle>
            <a:lvl1pPr algn="l">
              <a:defRPr sz="900"/>
            </a:lvl1pPr>
          </a:lstStyle>
          <a:p>
            <a:pPr lvl="0"/>
            <a:r>
              <a:rPr lang="en-US"/>
              <a:t>PRESENTATION TITLE</a:t>
            </a:r>
          </a:p>
        </p:txBody>
      </p:sp>
      <p:sp>
        <p:nvSpPr>
          <p:cNvPr id="6" name="Slide Number Placeholder 5">
            <a:extLst>
              <a:ext uri="{FF2B5EF4-FFF2-40B4-BE49-F238E27FC236}">
                <a16:creationId xmlns:a16="http://schemas.microsoft.com/office/drawing/2014/main" id="{54162DFE-874F-5178-8602-DACC73B17C73}"/>
              </a:ext>
            </a:extLst>
          </p:cNvPr>
          <p:cNvSpPr txBox="1">
            <a:spLocks noGrp="1"/>
          </p:cNvSpPr>
          <p:nvPr>
            <p:ph type="sldNum" sz="quarter" idx="8"/>
          </p:nvPr>
        </p:nvSpPr>
        <p:spPr>
          <a:xfrm>
            <a:off x="10373346" y="6356351"/>
            <a:ext cx="987552" cy="365129"/>
          </a:xfrm>
        </p:spPr>
        <p:txBody>
          <a:bodyPr/>
          <a:lstStyle>
            <a:lvl1pPr>
              <a:defRPr sz="900"/>
            </a:lvl1pPr>
          </a:lstStyle>
          <a:p>
            <a:pPr lvl="0"/>
            <a:fld id="{540E8C05-D21A-4A92-82EA-75BCB0785D71}" type="slidenum">
              <a:t>‹#›</a:t>
            </a:fld>
            <a:endParaRPr lang="en-US"/>
          </a:p>
        </p:txBody>
      </p:sp>
      <p:sp>
        <p:nvSpPr>
          <p:cNvPr id="7" name="Content Placeholder 3">
            <a:extLst>
              <a:ext uri="{FF2B5EF4-FFF2-40B4-BE49-F238E27FC236}">
                <a16:creationId xmlns:a16="http://schemas.microsoft.com/office/drawing/2014/main" id="{36706E4D-D11C-3392-AD1F-860190C94490}"/>
              </a:ext>
            </a:extLst>
          </p:cNvPr>
          <p:cNvSpPr txBox="1">
            <a:spLocks noGrp="1"/>
          </p:cNvSpPr>
          <p:nvPr>
            <p:ph idx="4294967295"/>
          </p:nvPr>
        </p:nvSpPr>
        <p:spPr>
          <a:xfrm>
            <a:off x="5453728" y="3660772"/>
            <a:ext cx="5907179" cy="2536829"/>
          </a:xfrm>
        </p:spPr>
        <p:txBody>
          <a:bodyPr tIns="0"/>
          <a:lstStyle>
            <a:lvl1pPr marL="0" indent="0">
              <a:lnSpc>
                <a:spcPct val="100000"/>
              </a:lnSpc>
              <a:buNone/>
              <a:defRPr sz="1800" spc="50"/>
            </a:lvl1pPr>
            <a:lvl2pPr marL="283464" indent="-285750">
              <a:lnSpc>
                <a:spcPct val="100000"/>
              </a:lnSpc>
              <a:spcBef>
                <a:spcPts val="1000"/>
              </a:spcBef>
              <a:defRPr sz="1800" spc="50"/>
            </a:lvl2pPr>
            <a:lvl3pPr marL="566928" indent="-285750">
              <a:lnSpc>
                <a:spcPct val="100000"/>
              </a:lnSpc>
              <a:spcBef>
                <a:spcPts val="1000"/>
              </a:spcBef>
              <a:defRPr sz="1800" spc="50"/>
            </a:lvl3pPr>
            <a:lvl4pPr marL="859536" indent="-285750">
              <a:lnSpc>
                <a:spcPct val="100000"/>
              </a:lnSpc>
              <a:spcBef>
                <a:spcPts val="1000"/>
              </a:spcBef>
              <a:defRPr spc="50"/>
            </a:lvl4pPr>
            <a:lvl5pPr marL="1152144" indent="-285750">
              <a:lnSpc>
                <a:spcPct val="100000"/>
              </a:lnSpc>
              <a:spcBef>
                <a:spcPts val="1000"/>
              </a:spcBef>
              <a:defRPr spc="50"/>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20942694"/>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able 1">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C5C6D7-D080-8E69-82AA-125F120CCCCD}"/>
              </a:ext>
            </a:extLst>
          </p:cNvPr>
          <p:cNvSpPr txBox="1">
            <a:spLocks noGrp="1"/>
          </p:cNvSpPr>
          <p:nvPr>
            <p:ph type="title"/>
          </p:nvPr>
        </p:nvSpPr>
        <p:spPr>
          <a:xfrm>
            <a:off x="838203" y="895353"/>
            <a:ext cx="3247665" cy="1917697"/>
          </a:xfrm>
        </p:spPr>
        <p:txBody>
          <a:bodyPr/>
          <a:lstStyle>
            <a:lvl1pPr>
              <a:defRPr sz="2400" spc="150"/>
            </a:lvl1pPr>
          </a:lstStyle>
          <a:p>
            <a:pPr lvl="0"/>
            <a:r>
              <a:rPr lang="en-US"/>
              <a:t>CLICK TO add title</a:t>
            </a:r>
          </a:p>
        </p:txBody>
      </p:sp>
      <p:sp>
        <p:nvSpPr>
          <p:cNvPr id="3" name="Content Placeholder 3">
            <a:extLst>
              <a:ext uri="{FF2B5EF4-FFF2-40B4-BE49-F238E27FC236}">
                <a16:creationId xmlns:a16="http://schemas.microsoft.com/office/drawing/2014/main" id="{3F7882CC-EA1B-A4D8-F216-100EF2E0B3EA}"/>
              </a:ext>
            </a:extLst>
          </p:cNvPr>
          <p:cNvSpPr txBox="1">
            <a:spLocks noGrp="1"/>
          </p:cNvSpPr>
          <p:nvPr>
            <p:ph idx="4294967295"/>
          </p:nvPr>
        </p:nvSpPr>
        <p:spPr>
          <a:xfrm>
            <a:off x="838203" y="2813051"/>
            <a:ext cx="3247665" cy="3238503"/>
          </a:xfrm>
        </p:spPr>
        <p:txBody>
          <a:bodyPr tIns="0"/>
          <a:lstStyle>
            <a:lvl1pPr marL="0" indent="0">
              <a:lnSpc>
                <a:spcPct val="100000"/>
              </a:lnSpc>
              <a:buNone/>
              <a:defRPr sz="1800" spc="50"/>
            </a:lvl1pPr>
            <a:lvl2pPr marL="283464" indent="-285750">
              <a:lnSpc>
                <a:spcPct val="100000"/>
              </a:lnSpc>
              <a:spcBef>
                <a:spcPts val="1000"/>
              </a:spcBef>
              <a:defRPr sz="1800" spc="50"/>
            </a:lvl2pPr>
            <a:lvl3pPr marL="566928" indent="-285750">
              <a:lnSpc>
                <a:spcPct val="100000"/>
              </a:lnSpc>
              <a:spcBef>
                <a:spcPts val="1000"/>
              </a:spcBef>
              <a:defRPr sz="1800" spc="50"/>
            </a:lvl3pPr>
            <a:lvl4pPr marL="859536" indent="-285750">
              <a:lnSpc>
                <a:spcPct val="100000"/>
              </a:lnSpc>
              <a:spcBef>
                <a:spcPts val="1000"/>
              </a:spcBef>
              <a:defRPr spc="50"/>
            </a:lvl4pPr>
            <a:lvl5pPr marL="1152144" indent="-285750">
              <a:lnSpc>
                <a:spcPct val="100000"/>
              </a:lnSpc>
              <a:spcBef>
                <a:spcPts val="1000"/>
              </a:spcBef>
              <a:defRPr spc="50"/>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4" name="Table Placeholder 7">
            <a:extLst>
              <a:ext uri="{FF2B5EF4-FFF2-40B4-BE49-F238E27FC236}">
                <a16:creationId xmlns:a16="http://schemas.microsoft.com/office/drawing/2014/main" id="{9B5539A1-8F9E-50C8-E4E0-BB8B8ED55DF7}"/>
              </a:ext>
            </a:extLst>
          </p:cNvPr>
          <p:cNvSpPr txBox="1">
            <a:spLocks noGrp="1"/>
          </p:cNvSpPr>
          <p:nvPr>
            <p:ph type="tbl" idx="4294967295"/>
          </p:nvPr>
        </p:nvSpPr>
        <p:spPr>
          <a:xfrm>
            <a:off x="4216398" y="895929"/>
            <a:ext cx="7137404" cy="5115885"/>
          </a:xfrm>
        </p:spPr>
        <p:txBody>
          <a:bodyPr anchorCtr="1"/>
          <a:lstStyle>
            <a:lvl1pPr marL="0" indent="0" algn="ctr">
              <a:buNone/>
              <a:defRPr sz="2000"/>
            </a:lvl1pPr>
          </a:lstStyle>
          <a:p>
            <a:pPr lvl="0"/>
            <a:r>
              <a:rPr lang="en-US"/>
              <a:t>Click icon to add table</a:t>
            </a:r>
          </a:p>
        </p:txBody>
      </p:sp>
      <p:sp>
        <p:nvSpPr>
          <p:cNvPr id="5" name="Footer Placeholder 4">
            <a:extLst>
              <a:ext uri="{FF2B5EF4-FFF2-40B4-BE49-F238E27FC236}">
                <a16:creationId xmlns:a16="http://schemas.microsoft.com/office/drawing/2014/main" id="{DEDBFCD8-1BC9-54A9-4F95-C5A89A132E8E}"/>
              </a:ext>
            </a:extLst>
          </p:cNvPr>
          <p:cNvSpPr txBox="1">
            <a:spLocks noGrp="1"/>
          </p:cNvSpPr>
          <p:nvPr>
            <p:ph type="ftr" sz="quarter" idx="9"/>
          </p:nvPr>
        </p:nvSpPr>
        <p:spPr>
          <a:xfrm>
            <a:off x="731611" y="6356351"/>
            <a:ext cx="3819229" cy="365129"/>
          </a:xfrm>
        </p:spPr>
        <p:txBody>
          <a:bodyPr anchorCtr="0"/>
          <a:lstStyle>
            <a:lvl1pPr algn="l">
              <a:defRPr sz="900"/>
            </a:lvl1pPr>
          </a:lstStyle>
          <a:p>
            <a:pPr lvl="0"/>
            <a:r>
              <a:rPr lang="en-US"/>
              <a:t>PRESENTATION TITLE</a:t>
            </a:r>
          </a:p>
        </p:txBody>
      </p:sp>
      <p:sp>
        <p:nvSpPr>
          <p:cNvPr id="6" name="Slide Number Placeholder 5">
            <a:extLst>
              <a:ext uri="{FF2B5EF4-FFF2-40B4-BE49-F238E27FC236}">
                <a16:creationId xmlns:a16="http://schemas.microsoft.com/office/drawing/2014/main" id="{B8132817-254F-D43E-78C7-4A606E5D5AC4}"/>
              </a:ext>
            </a:extLst>
          </p:cNvPr>
          <p:cNvSpPr txBox="1">
            <a:spLocks noGrp="1"/>
          </p:cNvSpPr>
          <p:nvPr>
            <p:ph type="sldNum" sz="quarter" idx="8"/>
          </p:nvPr>
        </p:nvSpPr>
        <p:spPr>
          <a:xfrm>
            <a:off x="10373346" y="6356351"/>
            <a:ext cx="987552" cy="365129"/>
          </a:xfrm>
        </p:spPr>
        <p:txBody>
          <a:bodyPr/>
          <a:lstStyle>
            <a:lvl1pPr>
              <a:defRPr sz="900"/>
            </a:lvl1pPr>
          </a:lstStyle>
          <a:p>
            <a:pPr lvl="0"/>
            <a:fld id="{366932C3-EE82-4B58-9065-89BE6FAFE818}" type="slidenum">
              <a:t>‹#›</a:t>
            </a:fld>
            <a:endParaRPr lang="en-US"/>
          </a:p>
        </p:txBody>
      </p:sp>
      <p:grpSp>
        <p:nvGrpSpPr>
          <p:cNvPr id="7" name="Group 13">
            <a:extLst>
              <a:ext uri="{FF2B5EF4-FFF2-40B4-BE49-F238E27FC236}">
                <a16:creationId xmlns:a16="http://schemas.microsoft.com/office/drawing/2014/main" id="{9735E655-69F2-0617-0980-BCD0AA7CEF0A}"/>
              </a:ext>
            </a:extLst>
          </p:cNvPr>
          <p:cNvGrpSpPr/>
          <p:nvPr/>
        </p:nvGrpSpPr>
        <p:grpSpPr>
          <a:xfrm>
            <a:off x="0" y="0"/>
            <a:ext cx="2327559" cy="1505532"/>
            <a:chOff x="0" y="0"/>
            <a:chExt cx="2327559" cy="1505532"/>
          </a:xfrm>
        </p:grpSpPr>
        <p:cxnSp>
          <p:nvCxnSpPr>
            <p:cNvPr id="8" name="Straight Connector 14">
              <a:extLst>
                <a:ext uri="{FF2B5EF4-FFF2-40B4-BE49-F238E27FC236}">
                  <a16:creationId xmlns:a16="http://schemas.microsoft.com/office/drawing/2014/main" id="{79AD1CC4-136A-A864-51D5-DFBD02020900}"/>
                </a:ext>
              </a:extLst>
            </p:cNvPr>
            <p:cNvCxnSpPr/>
            <p:nvPr/>
          </p:nvCxnSpPr>
          <p:spPr>
            <a:xfrm flipH="1">
              <a:off x="0" y="0"/>
              <a:ext cx="1287584" cy="1505532"/>
            </a:xfrm>
            <a:prstGeom prst="straightConnector1">
              <a:avLst/>
            </a:prstGeom>
            <a:noFill/>
            <a:ln w="3172" cap="flat">
              <a:solidFill>
                <a:srgbClr val="000000"/>
              </a:solidFill>
              <a:prstDash val="solid"/>
              <a:miter/>
            </a:ln>
          </p:spPr>
        </p:cxnSp>
        <p:cxnSp>
          <p:nvCxnSpPr>
            <p:cNvPr id="9" name="Straight Connector 15">
              <a:extLst>
                <a:ext uri="{FF2B5EF4-FFF2-40B4-BE49-F238E27FC236}">
                  <a16:creationId xmlns:a16="http://schemas.microsoft.com/office/drawing/2014/main" id="{FF81BA74-53BF-36B1-0567-BDF1DE6C7C29}"/>
                </a:ext>
              </a:extLst>
            </p:cNvPr>
            <p:cNvCxnSpPr/>
            <p:nvPr/>
          </p:nvCxnSpPr>
          <p:spPr>
            <a:xfrm flipH="1">
              <a:off x="0" y="0"/>
              <a:ext cx="2327559" cy="1200726"/>
            </a:xfrm>
            <a:prstGeom prst="straightConnector1">
              <a:avLst/>
            </a:prstGeom>
            <a:noFill/>
            <a:ln w="6345" cap="flat">
              <a:solidFill>
                <a:srgbClr val="000000"/>
              </a:solidFill>
              <a:prstDash val="solid"/>
              <a:miter/>
            </a:ln>
          </p:spPr>
        </p:cxnSp>
      </p:grpSp>
    </p:spTree>
    <p:extLst>
      <p:ext uri="{BB962C8B-B14F-4D97-AF65-F5344CB8AC3E}">
        <p14:creationId xmlns:p14="http://schemas.microsoft.com/office/powerpoint/2010/main" val="41725357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wo Content">
    <p:bg>
      <p:bgPr>
        <a:solidFill>
          <a:srgbClr val="E9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2505F3-20BB-3D41-7DC5-FEE0A3A26E44}"/>
              </a:ext>
            </a:extLst>
          </p:cNvPr>
          <p:cNvSpPr txBox="1">
            <a:spLocks noGrp="1"/>
          </p:cNvSpPr>
          <p:nvPr>
            <p:ph type="title"/>
          </p:nvPr>
        </p:nvSpPr>
        <p:spPr>
          <a:xfrm>
            <a:off x="838203" y="337194"/>
            <a:ext cx="5655198" cy="1997863"/>
          </a:xfrm>
        </p:spPr>
        <p:txBody>
          <a:bodyPr anchor="b"/>
          <a:lstStyle>
            <a:lvl1pPr>
              <a:defRPr sz="2800" spc="150"/>
            </a:lvl1pPr>
          </a:lstStyle>
          <a:p>
            <a:pPr lvl="0"/>
            <a:r>
              <a:rPr lang="en-US"/>
              <a:t>CLICK TO add title</a:t>
            </a:r>
          </a:p>
        </p:txBody>
      </p:sp>
      <p:sp>
        <p:nvSpPr>
          <p:cNvPr id="3" name="Text Placeholder 2">
            <a:extLst>
              <a:ext uri="{FF2B5EF4-FFF2-40B4-BE49-F238E27FC236}">
                <a16:creationId xmlns:a16="http://schemas.microsoft.com/office/drawing/2014/main" id="{B95ACFC0-5D71-450B-0736-79B7ECEF622A}"/>
              </a:ext>
            </a:extLst>
          </p:cNvPr>
          <p:cNvSpPr txBox="1">
            <a:spLocks noGrp="1"/>
          </p:cNvSpPr>
          <p:nvPr>
            <p:ph type="body" idx="4294967295"/>
          </p:nvPr>
        </p:nvSpPr>
        <p:spPr>
          <a:xfrm>
            <a:off x="838203" y="2705179"/>
            <a:ext cx="5733772" cy="448988"/>
          </a:xfrm>
        </p:spPr>
        <p:txBody>
          <a:bodyPr anchor="ctr">
            <a:noAutofit/>
          </a:bodyPr>
          <a:lstStyle>
            <a:lvl1pPr marL="0" indent="0">
              <a:buNone/>
              <a:defRPr sz="1800" b="1" spc="50"/>
            </a:lvl1pPr>
          </a:lstStyle>
          <a:p>
            <a:pPr lvl="0"/>
            <a:r>
              <a:rPr lang="en-US"/>
              <a:t>Click to add text</a:t>
            </a:r>
          </a:p>
        </p:txBody>
      </p:sp>
      <p:sp>
        <p:nvSpPr>
          <p:cNvPr id="4" name="Content Placeholder 3">
            <a:extLst>
              <a:ext uri="{FF2B5EF4-FFF2-40B4-BE49-F238E27FC236}">
                <a16:creationId xmlns:a16="http://schemas.microsoft.com/office/drawing/2014/main" id="{E5D76541-10B7-753E-7250-FD4B0454129B}"/>
              </a:ext>
            </a:extLst>
          </p:cNvPr>
          <p:cNvSpPr txBox="1">
            <a:spLocks noGrp="1"/>
          </p:cNvSpPr>
          <p:nvPr>
            <p:ph idx="4294967295"/>
          </p:nvPr>
        </p:nvSpPr>
        <p:spPr>
          <a:xfrm>
            <a:off x="838203" y="3154167"/>
            <a:ext cx="5733772" cy="3032735"/>
          </a:xfrm>
        </p:spPr>
        <p:txBody>
          <a:bodyPr/>
          <a:lstStyle>
            <a:lvl1pPr marL="285750" indent="-285750">
              <a:lnSpc>
                <a:spcPct val="100000"/>
              </a:lnSpc>
              <a:defRPr sz="1800" spc="50"/>
            </a:lvl1pPr>
            <a:lvl2pPr marL="742950" indent="-285750">
              <a:lnSpc>
                <a:spcPct val="100000"/>
              </a:lnSpc>
              <a:defRPr sz="1800" spc="50"/>
            </a:lvl2pPr>
            <a:lvl3pPr marL="1200150" indent="-285750">
              <a:lnSpc>
                <a:spcPct val="100000"/>
              </a:lnSpc>
              <a:defRPr sz="1800" spc="50"/>
            </a:lvl3pPr>
            <a:lvl4pPr marL="1657350" indent="-285750">
              <a:lnSpc>
                <a:spcPct val="100000"/>
              </a:lnSpc>
              <a:defRPr spc="50"/>
            </a:lvl4pPr>
            <a:lvl5pPr marL="2114549" indent="-285750">
              <a:lnSpc>
                <a:spcPct val="100000"/>
              </a:lnSpc>
              <a:defRPr spc="50"/>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60B84E6-B568-5301-87D6-C8124BB3C813}"/>
              </a:ext>
            </a:extLst>
          </p:cNvPr>
          <p:cNvSpPr txBox="1">
            <a:spLocks noGrp="1"/>
          </p:cNvSpPr>
          <p:nvPr>
            <p:ph type="body" idx="4294967295"/>
          </p:nvPr>
        </p:nvSpPr>
        <p:spPr>
          <a:xfrm>
            <a:off x="7887111" y="2705179"/>
            <a:ext cx="3943624" cy="448988"/>
          </a:xfrm>
        </p:spPr>
        <p:txBody>
          <a:bodyPr anchor="ctr">
            <a:noAutofit/>
          </a:bodyPr>
          <a:lstStyle>
            <a:lvl1pPr marL="0" indent="0">
              <a:buNone/>
              <a:defRPr sz="1800" b="1" spc="50"/>
            </a:lvl1pPr>
          </a:lstStyle>
          <a:p>
            <a:pPr lvl="0"/>
            <a:r>
              <a:rPr lang="en-US"/>
              <a:t>Click to add text</a:t>
            </a:r>
          </a:p>
        </p:txBody>
      </p:sp>
      <p:sp>
        <p:nvSpPr>
          <p:cNvPr id="6" name="Content Placeholder 3">
            <a:extLst>
              <a:ext uri="{FF2B5EF4-FFF2-40B4-BE49-F238E27FC236}">
                <a16:creationId xmlns:a16="http://schemas.microsoft.com/office/drawing/2014/main" id="{35C08847-7BDC-4B3B-C36C-CBF345749294}"/>
              </a:ext>
            </a:extLst>
          </p:cNvPr>
          <p:cNvSpPr txBox="1">
            <a:spLocks noGrp="1"/>
          </p:cNvSpPr>
          <p:nvPr>
            <p:ph idx="4294967295"/>
          </p:nvPr>
        </p:nvSpPr>
        <p:spPr>
          <a:xfrm>
            <a:off x="7887111" y="3164866"/>
            <a:ext cx="3943624" cy="3032735"/>
          </a:xfrm>
        </p:spPr>
        <p:txBody>
          <a:bodyPr tIns="0"/>
          <a:lstStyle>
            <a:lvl1pPr marL="0" indent="0">
              <a:lnSpc>
                <a:spcPct val="100000"/>
              </a:lnSpc>
              <a:buNone/>
              <a:defRPr sz="1800" spc="50"/>
            </a:lvl1pPr>
            <a:lvl2pPr marL="283464" indent="-285750">
              <a:lnSpc>
                <a:spcPct val="100000"/>
              </a:lnSpc>
              <a:spcBef>
                <a:spcPts val="1000"/>
              </a:spcBef>
              <a:defRPr sz="1800" spc="50"/>
            </a:lvl2pPr>
            <a:lvl3pPr marL="566928" indent="-285750">
              <a:lnSpc>
                <a:spcPct val="100000"/>
              </a:lnSpc>
              <a:spcBef>
                <a:spcPts val="1000"/>
              </a:spcBef>
              <a:defRPr sz="1800" spc="50"/>
            </a:lvl3pPr>
            <a:lvl4pPr marL="859536" indent="-285750">
              <a:lnSpc>
                <a:spcPct val="100000"/>
              </a:lnSpc>
              <a:spcBef>
                <a:spcPts val="1000"/>
              </a:spcBef>
              <a:defRPr spc="50"/>
            </a:lvl4pPr>
            <a:lvl5pPr marL="1152144" indent="-285750">
              <a:lnSpc>
                <a:spcPct val="100000"/>
              </a:lnSpc>
              <a:spcBef>
                <a:spcPts val="1000"/>
              </a:spcBef>
              <a:defRPr spc="50"/>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7" name="Footer Placeholder 7">
            <a:extLst>
              <a:ext uri="{FF2B5EF4-FFF2-40B4-BE49-F238E27FC236}">
                <a16:creationId xmlns:a16="http://schemas.microsoft.com/office/drawing/2014/main" id="{7900FE25-312C-B232-1C8E-F7EAE8BBD4F4}"/>
              </a:ext>
            </a:extLst>
          </p:cNvPr>
          <p:cNvSpPr txBox="1">
            <a:spLocks noGrp="1"/>
          </p:cNvSpPr>
          <p:nvPr>
            <p:ph type="ftr" sz="quarter" idx="9"/>
          </p:nvPr>
        </p:nvSpPr>
        <p:spPr>
          <a:xfrm>
            <a:off x="843982" y="6356351"/>
            <a:ext cx="4114800" cy="365129"/>
          </a:xfrm>
        </p:spPr>
        <p:txBody>
          <a:bodyPr anchorCtr="0"/>
          <a:lstStyle>
            <a:lvl1pPr algn="l">
              <a:defRPr sz="900"/>
            </a:lvl1pPr>
          </a:lstStyle>
          <a:p>
            <a:pPr lvl="0"/>
            <a:r>
              <a:rPr lang="en-US"/>
              <a:t>PRESENTATION TITLE</a:t>
            </a:r>
          </a:p>
        </p:txBody>
      </p:sp>
      <p:sp>
        <p:nvSpPr>
          <p:cNvPr id="8" name="Slide Number Placeholder 8">
            <a:extLst>
              <a:ext uri="{FF2B5EF4-FFF2-40B4-BE49-F238E27FC236}">
                <a16:creationId xmlns:a16="http://schemas.microsoft.com/office/drawing/2014/main" id="{85A1FEE6-5755-240B-F57A-720272B19B99}"/>
              </a:ext>
            </a:extLst>
          </p:cNvPr>
          <p:cNvSpPr txBox="1">
            <a:spLocks noGrp="1"/>
          </p:cNvSpPr>
          <p:nvPr>
            <p:ph type="sldNum" sz="quarter" idx="8"/>
          </p:nvPr>
        </p:nvSpPr>
        <p:spPr/>
        <p:txBody>
          <a:bodyPr/>
          <a:lstStyle>
            <a:lvl1pPr>
              <a:defRPr sz="900"/>
            </a:lvl1pPr>
          </a:lstStyle>
          <a:p>
            <a:pPr lvl="0"/>
            <a:fld id="{AA5554CF-2170-48D0-A91C-C16859725FC7}" type="slidenum">
              <a:t>‹#›</a:t>
            </a:fld>
            <a:endParaRPr lang="en-US"/>
          </a:p>
        </p:txBody>
      </p:sp>
      <p:pic>
        <p:nvPicPr>
          <p:cNvPr id="9" name="Graphic 12">
            <a:extLst>
              <a:ext uri="{FF2B5EF4-FFF2-40B4-BE49-F238E27FC236}">
                <a16:creationId xmlns:a16="http://schemas.microsoft.com/office/drawing/2014/main" id="{B646D9E3-824F-9E71-84A4-EEBA3D94C67D}"/>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rcRect l="18645" t="319" r="28732" b="73496"/>
          <a:stretch>
            <a:fillRect/>
          </a:stretch>
        </p:blipFill>
        <p:spPr>
          <a:xfrm rot="10799991" flipH="1">
            <a:off x="6308436" y="-18"/>
            <a:ext cx="5883560" cy="2366421"/>
          </a:xfrm>
          <a:prstGeom prst="rect">
            <a:avLst/>
          </a:prstGeom>
          <a:noFill/>
          <a:ln cap="flat">
            <a:noFill/>
          </a:ln>
        </p:spPr>
      </p:pic>
    </p:spTree>
    <p:extLst>
      <p:ext uri="{BB962C8B-B14F-4D97-AF65-F5344CB8AC3E}">
        <p14:creationId xmlns:p14="http://schemas.microsoft.com/office/powerpoint/2010/main" val="141974023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able 2">
    <p:bg>
      <p:bgPr>
        <a:solidFill>
          <a:srgbClr val="FFFFFF"/>
        </a:solidFill>
        <a:effectLst/>
      </p:bgPr>
    </p:bg>
    <p:spTree>
      <p:nvGrpSpPr>
        <p:cNvPr id="1" name=""/>
        <p:cNvGrpSpPr/>
        <p:nvPr/>
      </p:nvGrpSpPr>
      <p:grpSpPr>
        <a:xfrm>
          <a:off x="0" y="0"/>
          <a:ext cx="0" cy="0"/>
          <a:chOff x="0" y="0"/>
          <a:chExt cx="0" cy="0"/>
        </a:xfrm>
      </p:grpSpPr>
      <p:grpSp>
        <p:nvGrpSpPr>
          <p:cNvPr id="2" name="Group 9">
            <a:extLst>
              <a:ext uri="{FF2B5EF4-FFF2-40B4-BE49-F238E27FC236}">
                <a16:creationId xmlns:a16="http://schemas.microsoft.com/office/drawing/2014/main" id="{36CF92E4-C595-8D37-CAAE-AFDE07B69ECF}"/>
              </a:ext>
            </a:extLst>
          </p:cNvPr>
          <p:cNvGrpSpPr/>
          <p:nvPr/>
        </p:nvGrpSpPr>
        <p:grpSpPr>
          <a:xfrm>
            <a:off x="0" y="0"/>
            <a:ext cx="2590796" cy="1027904"/>
            <a:chOff x="0" y="0"/>
            <a:chExt cx="2590796" cy="1027904"/>
          </a:xfrm>
        </p:grpSpPr>
        <p:cxnSp>
          <p:nvCxnSpPr>
            <p:cNvPr id="3" name="Straight Connector 10">
              <a:extLst>
                <a:ext uri="{FF2B5EF4-FFF2-40B4-BE49-F238E27FC236}">
                  <a16:creationId xmlns:a16="http://schemas.microsoft.com/office/drawing/2014/main" id="{FD517C49-9D87-A57E-F76A-E0E2889636B7}"/>
                </a:ext>
              </a:extLst>
            </p:cNvPr>
            <p:cNvCxnSpPr/>
            <p:nvPr/>
          </p:nvCxnSpPr>
          <p:spPr>
            <a:xfrm flipV="1">
              <a:off x="0" y="0"/>
              <a:ext cx="2590796" cy="761996"/>
            </a:xfrm>
            <a:prstGeom prst="straightConnector1">
              <a:avLst/>
            </a:prstGeom>
            <a:noFill/>
            <a:ln w="6345" cap="flat">
              <a:solidFill>
                <a:srgbClr val="000000"/>
              </a:solidFill>
              <a:prstDash val="solid"/>
              <a:miter/>
            </a:ln>
          </p:spPr>
        </p:cxnSp>
        <p:cxnSp>
          <p:nvCxnSpPr>
            <p:cNvPr id="4" name="Straight Connector 11">
              <a:extLst>
                <a:ext uri="{FF2B5EF4-FFF2-40B4-BE49-F238E27FC236}">
                  <a16:creationId xmlns:a16="http://schemas.microsoft.com/office/drawing/2014/main" id="{0D427198-1795-FF63-74BA-D9BDA4339E74}"/>
                </a:ext>
              </a:extLst>
            </p:cNvPr>
            <p:cNvCxnSpPr/>
            <p:nvPr/>
          </p:nvCxnSpPr>
          <p:spPr>
            <a:xfrm flipH="1">
              <a:off x="0" y="0"/>
              <a:ext cx="704846" cy="1027904"/>
            </a:xfrm>
            <a:prstGeom prst="straightConnector1">
              <a:avLst/>
            </a:prstGeom>
            <a:noFill/>
            <a:ln w="6345" cap="flat">
              <a:solidFill>
                <a:srgbClr val="000000"/>
              </a:solidFill>
              <a:prstDash val="solid"/>
              <a:miter/>
            </a:ln>
          </p:spPr>
        </p:cxnSp>
      </p:grpSp>
      <p:sp>
        <p:nvSpPr>
          <p:cNvPr id="5" name="Title 1">
            <a:extLst>
              <a:ext uri="{FF2B5EF4-FFF2-40B4-BE49-F238E27FC236}">
                <a16:creationId xmlns:a16="http://schemas.microsoft.com/office/drawing/2014/main" id="{9A704286-E6DA-340E-2E5B-1ED92BAD61C0}"/>
              </a:ext>
            </a:extLst>
          </p:cNvPr>
          <p:cNvSpPr txBox="1">
            <a:spLocks noGrp="1"/>
          </p:cNvSpPr>
          <p:nvPr>
            <p:ph type="title"/>
          </p:nvPr>
        </p:nvSpPr>
        <p:spPr>
          <a:xfrm>
            <a:off x="838203" y="353552"/>
            <a:ext cx="10515600" cy="1325559"/>
          </a:xfrm>
        </p:spPr>
        <p:txBody>
          <a:bodyPr anchor="b" anchorCtr="1"/>
          <a:lstStyle>
            <a:lvl1pPr algn="ctr">
              <a:defRPr sz="2800" spc="150"/>
            </a:lvl1pPr>
          </a:lstStyle>
          <a:p>
            <a:pPr lvl="0"/>
            <a:r>
              <a:rPr lang="en-US"/>
              <a:t>CLICK TO add title</a:t>
            </a:r>
          </a:p>
        </p:txBody>
      </p:sp>
      <p:sp>
        <p:nvSpPr>
          <p:cNvPr id="6" name="Table Placeholder 7">
            <a:extLst>
              <a:ext uri="{FF2B5EF4-FFF2-40B4-BE49-F238E27FC236}">
                <a16:creationId xmlns:a16="http://schemas.microsoft.com/office/drawing/2014/main" id="{671BB629-2569-2EAF-528C-224E6032C424}"/>
              </a:ext>
            </a:extLst>
          </p:cNvPr>
          <p:cNvSpPr txBox="1">
            <a:spLocks noGrp="1"/>
          </p:cNvSpPr>
          <p:nvPr>
            <p:ph type="tbl" idx="4294967295"/>
          </p:nvPr>
        </p:nvSpPr>
        <p:spPr>
          <a:xfrm>
            <a:off x="838203" y="2111377"/>
            <a:ext cx="10515600" cy="3570960"/>
          </a:xfrm>
        </p:spPr>
        <p:txBody>
          <a:bodyPr anchorCtr="1"/>
          <a:lstStyle>
            <a:lvl1pPr marL="0" indent="0" algn="ctr">
              <a:buNone/>
              <a:defRPr sz="2000"/>
            </a:lvl1pPr>
          </a:lstStyle>
          <a:p>
            <a:pPr lvl="0"/>
            <a:r>
              <a:rPr lang="en-US"/>
              <a:t>Click icon to add table</a:t>
            </a:r>
          </a:p>
        </p:txBody>
      </p:sp>
      <p:sp>
        <p:nvSpPr>
          <p:cNvPr id="7" name="Footer Placeholder 4">
            <a:extLst>
              <a:ext uri="{FF2B5EF4-FFF2-40B4-BE49-F238E27FC236}">
                <a16:creationId xmlns:a16="http://schemas.microsoft.com/office/drawing/2014/main" id="{811E7E98-4453-5997-94EB-8EFD5B92CE61}"/>
              </a:ext>
            </a:extLst>
          </p:cNvPr>
          <p:cNvSpPr txBox="1">
            <a:spLocks noGrp="1"/>
          </p:cNvSpPr>
          <p:nvPr>
            <p:ph type="ftr" sz="quarter" idx="9"/>
          </p:nvPr>
        </p:nvSpPr>
        <p:spPr>
          <a:xfrm>
            <a:off x="838203" y="6356351"/>
            <a:ext cx="3819229" cy="365129"/>
          </a:xfrm>
        </p:spPr>
        <p:txBody>
          <a:bodyPr anchorCtr="0"/>
          <a:lstStyle>
            <a:lvl1pPr algn="l">
              <a:defRPr sz="900"/>
            </a:lvl1pPr>
          </a:lstStyle>
          <a:p>
            <a:pPr lvl="0"/>
            <a:r>
              <a:rPr lang="en-US"/>
              <a:t>PRESENTATION TITLE</a:t>
            </a:r>
          </a:p>
        </p:txBody>
      </p:sp>
      <p:sp>
        <p:nvSpPr>
          <p:cNvPr id="8" name="Slide Number Placeholder 5">
            <a:extLst>
              <a:ext uri="{FF2B5EF4-FFF2-40B4-BE49-F238E27FC236}">
                <a16:creationId xmlns:a16="http://schemas.microsoft.com/office/drawing/2014/main" id="{46025B2B-3891-DEF6-4C14-218C3ADC1A50}"/>
              </a:ext>
            </a:extLst>
          </p:cNvPr>
          <p:cNvSpPr txBox="1">
            <a:spLocks noGrp="1"/>
          </p:cNvSpPr>
          <p:nvPr>
            <p:ph type="sldNum" sz="quarter" idx="8"/>
          </p:nvPr>
        </p:nvSpPr>
        <p:spPr>
          <a:xfrm>
            <a:off x="10373346" y="6356351"/>
            <a:ext cx="987552" cy="365129"/>
          </a:xfrm>
        </p:spPr>
        <p:txBody>
          <a:bodyPr/>
          <a:lstStyle>
            <a:lvl1pPr>
              <a:defRPr sz="900"/>
            </a:lvl1pPr>
          </a:lstStyle>
          <a:p>
            <a:pPr lvl="0"/>
            <a:fld id="{42E44128-4F13-42E3-8D41-7569137F97A2}" type="slidenum">
              <a:t>‹#›</a:t>
            </a:fld>
            <a:endParaRPr lang="en-US"/>
          </a:p>
        </p:txBody>
      </p:sp>
    </p:spTree>
    <p:extLst>
      <p:ext uri="{BB962C8B-B14F-4D97-AF65-F5344CB8AC3E}">
        <p14:creationId xmlns:p14="http://schemas.microsoft.com/office/powerpoint/2010/main" val="1183451799"/>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Closing">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9F46F5-CEDC-0E5D-5FDC-FF14B6BEA7F6}"/>
              </a:ext>
            </a:extLst>
          </p:cNvPr>
          <p:cNvSpPr txBox="1">
            <a:spLocks noGrp="1"/>
          </p:cNvSpPr>
          <p:nvPr>
            <p:ph type="ctrTitle"/>
          </p:nvPr>
        </p:nvSpPr>
        <p:spPr>
          <a:xfrm>
            <a:off x="4267203" y="1615735"/>
            <a:ext cx="4179566" cy="1524734"/>
          </a:xfrm>
        </p:spPr>
        <p:txBody>
          <a:bodyPr anchor="b">
            <a:noAutofit/>
          </a:bodyPr>
          <a:lstStyle>
            <a:lvl1pPr>
              <a:defRPr sz="3600" spc="150">
                <a:solidFill>
                  <a:srgbClr val="FFFFFF"/>
                </a:solidFill>
              </a:defRPr>
            </a:lvl1pPr>
          </a:lstStyle>
          <a:p>
            <a:pPr lvl="0"/>
            <a:r>
              <a:rPr lang="en-US"/>
              <a:t>CLICK TO add title</a:t>
            </a:r>
          </a:p>
        </p:txBody>
      </p:sp>
      <p:sp>
        <p:nvSpPr>
          <p:cNvPr id="3" name="Subtitle 2">
            <a:extLst>
              <a:ext uri="{FF2B5EF4-FFF2-40B4-BE49-F238E27FC236}">
                <a16:creationId xmlns:a16="http://schemas.microsoft.com/office/drawing/2014/main" id="{A06070EC-70A7-7E81-444F-CB9BA4A715CB}"/>
              </a:ext>
            </a:extLst>
          </p:cNvPr>
          <p:cNvSpPr txBox="1">
            <a:spLocks noGrp="1"/>
          </p:cNvSpPr>
          <p:nvPr>
            <p:ph type="subTitle" idx="1"/>
          </p:nvPr>
        </p:nvSpPr>
        <p:spPr>
          <a:xfrm>
            <a:off x="4267203" y="3238100"/>
            <a:ext cx="4179566" cy="2850184"/>
          </a:xfrm>
        </p:spPr>
        <p:txBody>
          <a:bodyPr/>
          <a:lstStyle>
            <a:lvl1pPr marL="0" indent="0">
              <a:lnSpc>
                <a:spcPct val="150000"/>
              </a:lnSpc>
              <a:buNone/>
              <a:defRPr sz="1800" spc="50">
                <a:solidFill>
                  <a:srgbClr val="FFFFFF"/>
                </a:solidFill>
              </a:defRPr>
            </a:lvl1pPr>
          </a:lstStyle>
          <a:p>
            <a:pPr lvl="0"/>
            <a:r>
              <a:rPr lang="en-US"/>
              <a:t>Click to add subtitle</a:t>
            </a:r>
          </a:p>
        </p:txBody>
      </p:sp>
      <p:pic>
        <p:nvPicPr>
          <p:cNvPr id="4" name="Graphic 5">
            <a:extLst>
              <a:ext uri="{FF2B5EF4-FFF2-40B4-BE49-F238E27FC236}">
                <a16:creationId xmlns:a16="http://schemas.microsoft.com/office/drawing/2014/main" id="{CA868CCC-2D37-F321-B979-62EAC72FA707}"/>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0" y="0"/>
            <a:ext cx="3176936" cy="6858000"/>
          </a:xfrm>
          <a:prstGeom prst="rect">
            <a:avLst/>
          </a:prstGeom>
          <a:noFill/>
          <a:ln cap="flat">
            <a:noFill/>
          </a:ln>
        </p:spPr>
      </p:pic>
      <p:sp>
        <p:nvSpPr>
          <p:cNvPr id="5" name="Footer Placeholder 7">
            <a:extLst>
              <a:ext uri="{FF2B5EF4-FFF2-40B4-BE49-F238E27FC236}">
                <a16:creationId xmlns:a16="http://schemas.microsoft.com/office/drawing/2014/main" id="{A9DD4A20-BB76-B881-FDB4-B5B00083ABD6}"/>
              </a:ext>
            </a:extLst>
          </p:cNvPr>
          <p:cNvSpPr txBox="1">
            <a:spLocks noGrp="1"/>
          </p:cNvSpPr>
          <p:nvPr>
            <p:ph type="ftr" sz="quarter" idx="9"/>
          </p:nvPr>
        </p:nvSpPr>
        <p:spPr>
          <a:xfrm>
            <a:off x="4267203" y="6356351"/>
            <a:ext cx="4179566" cy="365129"/>
          </a:xfrm>
        </p:spPr>
        <p:txBody>
          <a:bodyPr anchorCtr="0"/>
          <a:lstStyle>
            <a:lvl1pPr algn="l">
              <a:defRPr sz="900"/>
            </a:lvl1pPr>
          </a:lstStyle>
          <a:p>
            <a:pPr lvl="0"/>
            <a:r>
              <a:rPr lang="en-US"/>
              <a:t>PRESENTATION TITLE</a:t>
            </a:r>
          </a:p>
        </p:txBody>
      </p:sp>
      <p:sp>
        <p:nvSpPr>
          <p:cNvPr id="6" name="Slide Number Placeholder 8">
            <a:extLst>
              <a:ext uri="{FF2B5EF4-FFF2-40B4-BE49-F238E27FC236}">
                <a16:creationId xmlns:a16="http://schemas.microsoft.com/office/drawing/2014/main" id="{E1FA0E67-A7C1-2D41-3812-F70F975190D2}"/>
              </a:ext>
            </a:extLst>
          </p:cNvPr>
          <p:cNvSpPr txBox="1">
            <a:spLocks noGrp="1"/>
          </p:cNvSpPr>
          <p:nvPr>
            <p:ph type="sldNum" sz="quarter" idx="8"/>
          </p:nvPr>
        </p:nvSpPr>
        <p:spPr>
          <a:xfrm>
            <a:off x="9579428" y="6356351"/>
            <a:ext cx="1774374" cy="365129"/>
          </a:xfrm>
        </p:spPr>
        <p:txBody>
          <a:bodyPr/>
          <a:lstStyle>
            <a:lvl1pPr>
              <a:defRPr sz="900"/>
            </a:lvl1pPr>
          </a:lstStyle>
          <a:p>
            <a:pPr lvl="0"/>
            <a:fld id="{41604EB4-1CF0-4ACF-A46A-2F40A91531F6}" type="slidenum">
              <a:t>‹#›</a:t>
            </a:fld>
            <a:endParaRPr lang="en-US"/>
          </a:p>
        </p:txBody>
      </p:sp>
    </p:spTree>
    <p:extLst>
      <p:ext uri="{BB962C8B-B14F-4D97-AF65-F5344CB8AC3E}">
        <p14:creationId xmlns:p14="http://schemas.microsoft.com/office/powerpoint/2010/main" val="1084863577"/>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5F6EF32-0C33-291A-3102-3B3F5841B70B}"/>
              </a:ext>
            </a:extLst>
          </p:cNvPr>
          <p:cNvSpPr txBox="1">
            <a:spLocks noGrp="1"/>
          </p:cNvSpPr>
          <p:nvPr>
            <p:ph type="title"/>
          </p:nvPr>
        </p:nvSpPr>
        <p:spPr>
          <a:xfrm>
            <a:off x="838203" y="365129"/>
            <a:ext cx="10515600" cy="1325559"/>
          </a:xfrm>
          <a:prstGeom prst="rect">
            <a:avLst/>
          </a:prstGeom>
          <a:noFill/>
          <a:ln>
            <a:noFill/>
          </a:ln>
        </p:spPr>
        <p:txBody>
          <a:bodyPr vert="horz" wrap="square" lIns="91440" tIns="45720" rIns="91440" bIns="45720" anchor="ctr" anchorCtr="0" compatLnSpc="1">
            <a:normAutofit/>
          </a:bodyPr>
          <a:lstStyle/>
          <a:p>
            <a:pPr lvl="0"/>
            <a:r>
              <a:rPr lang="en-US"/>
              <a:t>Click to edit Master title style</a:t>
            </a:r>
          </a:p>
        </p:txBody>
      </p:sp>
      <p:sp>
        <p:nvSpPr>
          <p:cNvPr id="3" name="Text Placeholder 2">
            <a:extLst>
              <a:ext uri="{FF2B5EF4-FFF2-40B4-BE49-F238E27FC236}">
                <a16:creationId xmlns:a16="http://schemas.microsoft.com/office/drawing/2014/main" id="{DA5B7BF2-21B9-F75B-B43E-66DC0D86738C}"/>
              </a:ext>
            </a:extLst>
          </p:cNvPr>
          <p:cNvSpPr txBox="1">
            <a:spLocks noGrp="1"/>
          </p:cNvSpPr>
          <p:nvPr>
            <p:ph type="body" idx="1"/>
          </p:nvPr>
        </p:nvSpPr>
        <p:spPr>
          <a:xfrm>
            <a:off x="838203" y="1825627"/>
            <a:ext cx="10515600" cy="4351336"/>
          </a:xfrm>
          <a:prstGeom prst="rect">
            <a:avLst/>
          </a:prstGeom>
          <a:noFill/>
          <a:ln>
            <a:noFill/>
          </a:ln>
        </p:spPr>
        <p:txBody>
          <a:bodyPr vert="horz" wrap="square" lIns="91440" tIns="45720" rIns="91440" bIns="45720" anchor="t" anchorCtr="0" compatLnSpc="1">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BB82DC7-2410-9FB3-0E03-D26213F29C32}"/>
              </a:ext>
            </a:extLst>
          </p:cNvPr>
          <p:cNvSpPr txBox="1">
            <a:spLocks noGrp="1"/>
          </p:cNvSpPr>
          <p:nvPr>
            <p:ph type="dt" sz="half" idx="2"/>
          </p:nvPr>
        </p:nvSpPr>
        <p:spPr>
          <a:xfrm>
            <a:off x="838203" y="6356351"/>
            <a:ext cx="2743200" cy="365129"/>
          </a:xfrm>
          <a:prstGeom prst="rect">
            <a:avLst/>
          </a:prstGeom>
          <a:noFill/>
          <a:ln>
            <a:noFill/>
          </a:ln>
        </p:spPr>
        <p:txBody>
          <a:bodyPr vert="horz" wrap="square" lIns="91440" tIns="45720" rIns="91440" bIns="45720" anchor="ctr" anchorCtr="0" compatLnSpc="1">
            <a:noAutofit/>
          </a:bodyPr>
          <a:lstStyle>
            <a:lvl1pPr marL="0" marR="0" lvl="0" indent="0" algn="l" defTabSz="914400" rtl="0" fontAlgn="auto" hangingPunct="1">
              <a:lnSpc>
                <a:spcPct val="100000"/>
              </a:lnSpc>
              <a:spcBef>
                <a:spcPts val="0"/>
              </a:spcBef>
              <a:spcAft>
                <a:spcPts val="0"/>
              </a:spcAft>
              <a:buNone/>
              <a:tabLst/>
              <a:defRPr lang="en-US" sz="1200" b="0" i="0" u="none" strike="noStrike" kern="1200" cap="none" spc="0" baseline="0">
                <a:solidFill>
                  <a:srgbClr val="898989"/>
                </a:solidFill>
                <a:uFillTx/>
                <a:latin typeface="Tenorite"/>
              </a:defRPr>
            </a:lvl1pPr>
          </a:lstStyle>
          <a:p>
            <a:pPr lvl="0"/>
            <a:endParaRPr lang="en-US"/>
          </a:p>
        </p:txBody>
      </p:sp>
      <p:sp>
        <p:nvSpPr>
          <p:cNvPr id="5" name="Footer Placeholder 4">
            <a:extLst>
              <a:ext uri="{FF2B5EF4-FFF2-40B4-BE49-F238E27FC236}">
                <a16:creationId xmlns:a16="http://schemas.microsoft.com/office/drawing/2014/main" id="{643CB52A-8395-5CB5-57BD-29066A2BCD01}"/>
              </a:ext>
            </a:extLst>
          </p:cNvPr>
          <p:cNvSpPr txBox="1">
            <a:spLocks noGrp="1"/>
          </p:cNvSpPr>
          <p:nvPr>
            <p:ph type="ftr" sz="quarter" idx="3"/>
          </p:nvPr>
        </p:nvSpPr>
        <p:spPr>
          <a:xfrm>
            <a:off x="4038603" y="6356351"/>
            <a:ext cx="4114800" cy="365129"/>
          </a:xfrm>
          <a:prstGeom prst="rect">
            <a:avLst/>
          </a:prstGeom>
          <a:noFill/>
          <a:ln>
            <a:noFill/>
          </a:ln>
        </p:spPr>
        <p:txBody>
          <a:bodyPr vert="horz" wrap="square" lIns="91440" tIns="45720" rIns="91440" bIns="45720" anchor="ctr" anchorCtr="1" compatLnSpc="1">
            <a:noAutofit/>
          </a:bodyPr>
          <a:lstStyle>
            <a:lvl1pPr marL="0" marR="0" lvl="0" indent="0" algn="ctr" defTabSz="914400" rtl="0" fontAlgn="auto" hangingPunct="1">
              <a:lnSpc>
                <a:spcPct val="100000"/>
              </a:lnSpc>
              <a:spcBef>
                <a:spcPts val="0"/>
              </a:spcBef>
              <a:spcAft>
                <a:spcPts val="0"/>
              </a:spcAft>
              <a:buNone/>
              <a:tabLst/>
              <a:defRPr lang="en-US" sz="1200" b="0" i="0" u="none" strike="noStrike" kern="1200" cap="none" spc="0" baseline="0">
                <a:solidFill>
                  <a:srgbClr val="898989"/>
                </a:solidFill>
                <a:uFillTx/>
                <a:latin typeface="Tenorite"/>
              </a:defRPr>
            </a:lvl1pPr>
          </a:lstStyle>
          <a:p>
            <a:pPr lvl="0"/>
            <a:r>
              <a:rPr lang="en-US"/>
              <a:t>PRESENTATION TITLE</a:t>
            </a:r>
          </a:p>
        </p:txBody>
      </p:sp>
      <p:sp>
        <p:nvSpPr>
          <p:cNvPr id="6" name="Slide Number Placeholder 5">
            <a:extLst>
              <a:ext uri="{FF2B5EF4-FFF2-40B4-BE49-F238E27FC236}">
                <a16:creationId xmlns:a16="http://schemas.microsoft.com/office/drawing/2014/main" id="{D031754D-6955-C5CC-B9EB-EE62B8B3ED68}"/>
              </a:ext>
            </a:extLst>
          </p:cNvPr>
          <p:cNvSpPr txBox="1">
            <a:spLocks noGrp="1"/>
          </p:cNvSpPr>
          <p:nvPr>
            <p:ph type="sldNum" sz="quarter" idx="4"/>
          </p:nvPr>
        </p:nvSpPr>
        <p:spPr>
          <a:xfrm>
            <a:off x="8610603" y="6356351"/>
            <a:ext cx="2743200" cy="365129"/>
          </a:xfrm>
          <a:prstGeom prst="rect">
            <a:avLst/>
          </a:prstGeom>
          <a:noFill/>
          <a:ln>
            <a:noFill/>
          </a:ln>
        </p:spPr>
        <p:txBody>
          <a:bodyPr vert="horz" wrap="square" lIns="91440" tIns="45720" rIns="91440" bIns="45720" anchor="ctr" anchorCtr="0" compatLnSpc="1">
            <a:noAutofit/>
          </a:bodyPr>
          <a:lstStyle>
            <a:lvl1pPr marL="0" marR="0" lvl="0" indent="0" algn="r" defTabSz="914400" rtl="0" fontAlgn="auto" hangingPunct="1">
              <a:lnSpc>
                <a:spcPct val="100000"/>
              </a:lnSpc>
              <a:spcBef>
                <a:spcPts val="0"/>
              </a:spcBef>
              <a:spcAft>
                <a:spcPts val="0"/>
              </a:spcAft>
              <a:buNone/>
              <a:tabLst/>
              <a:defRPr lang="en-US" sz="1200" b="0" i="0" u="none" strike="noStrike" kern="1200" cap="none" spc="0" baseline="0">
                <a:solidFill>
                  <a:srgbClr val="898989"/>
                </a:solidFill>
                <a:uFillTx/>
                <a:latin typeface="Tenorite"/>
              </a:defRPr>
            </a:lvl1pPr>
          </a:lstStyle>
          <a:p>
            <a:pPr lvl="0"/>
            <a:fld id="{6836761C-9226-4D2C-A924-FB90C5E3B87A}" type="slidenum">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marL="0" marR="0" lvl="0" indent="0" algn="l" defTabSz="914400" rtl="0" fontAlgn="auto" hangingPunct="1">
        <a:lnSpc>
          <a:spcPct val="90000"/>
        </a:lnSpc>
        <a:spcBef>
          <a:spcPts val="0"/>
        </a:spcBef>
        <a:spcAft>
          <a:spcPts val="0"/>
        </a:spcAft>
        <a:buNone/>
        <a:tabLst/>
        <a:defRPr lang="en-US" sz="4400" b="0" i="0" u="none" strike="noStrike" kern="1200" cap="all" spc="0" baseline="0">
          <a:solidFill>
            <a:srgbClr val="000000"/>
          </a:solidFill>
          <a:uFillTx/>
          <a:latin typeface="Tenorite"/>
        </a:defRPr>
      </a:lvl1pPr>
    </p:titleStyle>
    <p:bodyStyle>
      <a:lvl1pPr marL="228600" marR="0" lvl="0" indent="-228600" algn="l" defTabSz="914400" rtl="0" fontAlgn="auto" hangingPunct="1">
        <a:lnSpc>
          <a:spcPct val="90000"/>
        </a:lnSpc>
        <a:spcBef>
          <a:spcPts val="1000"/>
        </a:spcBef>
        <a:spcAft>
          <a:spcPts val="0"/>
        </a:spcAft>
        <a:buSzPct val="100000"/>
        <a:buFont typeface="Arial" pitchFamily="34"/>
        <a:buChar char="•"/>
        <a:tabLst/>
        <a:defRPr lang="en-US" sz="2800" b="0" i="0" u="none" strike="noStrike" kern="1200" cap="none" spc="0" baseline="0">
          <a:solidFill>
            <a:srgbClr val="000000"/>
          </a:solidFill>
          <a:uFillTx/>
          <a:latin typeface="Tenorite"/>
        </a:defRPr>
      </a:lvl1pPr>
      <a:lvl2pPr marL="685800" marR="0" lvl="1" indent="-228600" algn="l" defTabSz="914400" rtl="0" fontAlgn="auto" hangingPunct="1">
        <a:lnSpc>
          <a:spcPct val="90000"/>
        </a:lnSpc>
        <a:spcBef>
          <a:spcPts val="500"/>
        </a:spcBef>
        <a:spcAft>
          <a:spcPts val="0"/>
        </a:spcAft>
        <a:buSzPct val="100000"/>
        <a:buFont typeface="Arial" pitchFamily="34"/>
        <a:buChar char="•"/>
        <a:tabLst/>
        <a:defRPr lang="en-US" sz="2400" b="0" i="0" u="none" strike="noStrike" kern="1200" cap="none" spc="0" baseline="0">
          <a:solidFill>
            <a:srgbClr val="000000"/>
          </a:solidFill>
          <a:uFillTx/>
          <a:latin typeface="Tenorite"/>
        </a:defRPr>
      </a:lvl2pPr>
      <a:lvl3pPr marL="1143000" marR="0" lvl="2" indent="-228600" algn="l" defTabSz="914400" rtl="0" fontAlgn="auto" hangingPunct="1">
        <a:lnSpc>
          <a:spcPct val="90000"/>
        </a:lnSpc>
        <a:spcBef>
          <a:spcPts val="500"/>
        </a:spcBef>
        <a:spcAft>
          <a:spcPts val="0"/>
        </a:spcAft>
        <a:buSzPct val="100000"/>
        <a:buFont typeface="Arial" pitchFamily="34"/>
        <a:buChar char="•"/>
        <a:tabLst/>
        <a:defRPr lang="en-US" sz="2000" b="0" i="0" u="none" strike="noStrike" kern="1200" cap="none" spc="0" baseline="0">
          <a:solidFill>
            <a:srgbClr val="000000"/>
          </a:solidFill>
          <a:uFillTx/>
          <a:latin typeface="Tenorite"/>
        </a:defRPr>
      </a:lvl3pPr>
      <a:lvl4pPr marL="1600200" marR="0" lvl="3" indent="-228600" algn="l" defTabSz="914400" rtl="0" fontAlgn="auto" hangingPunct="1">
        <a:lnSpc>
          <a:spcPct val="90000"/>
        </a:lnSpc>
        <a:spcBef>
          <a:spcPts val="500"/>
        </a:spcBef>
        <a:spcAft>
          <a:spcPts val="0"/>
        </a:spcAft>
        <a:buSzPct val="100000"/>
        <a:buFont typeface="Arial" pitchFamily="34"/>
        <a:buChar char="•"/>
        <a:tabLst/>
        <a:defRPr lang="en-US" sz="1800" b="0" i="0" u="none" strike="noStrike" kern="1200" cap="none" spc="0" baseline="0">
          <a:solidFill>
            <a:srgbClr val="000000"/>
          </a:solidFill>
          <a:uFillTx/>
          <a:latin typeface="Tenorite"/>
        </a:defRPr>
      </a:lvl4pPr>
      <a:lvl5pPr marL="2057400" marR="0" lvl="4" indent="-228600" algn="l" defTabSz="914400" rtl="0" fontAlgn="auto" hangingPunct="1">
        <a:lnSpc>
          <a:spcPct val="90000"/>
        </a:lnSpc>
        <a:spcBef>
          <a:spcPts val="500"/>
        </a:spcBef>
        <a:spcAft>
          <a:spcPts val="0"/>
        </a:spcAft>
        <a:buSzPct val="100000"/>
        <a:buFont typeface="Arial" pitchFamily="34"/>
        <a:buChar char="•"/>
        <a:tabLst/>
        <a:defRPr lang="en-US" sz="1800" b="0" i="0" u="none" strike="noStrike" kern="1200" cap="none" spc="0" baseline="0">
          <a:solidFill>
            <a:srgbClr val="000000"/>
          </a:solidFill>
          <a:uFillTx/>
          <a:latin typeface="Tenorite"/>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microsoft.com/office/2007/relationships/media" Target="../media/media1.mp4"/><Relationship Id="rId2" Type="http://schemas.openxmlformats.org/officeDocument/2006/relationships/video" Target="../media/media1.mp4"/><Relationship Id="rId3" Type="http://schemas.openxmlformats.org/officeDocument/2006/relationships/slideLayout" Target="../slideLayouts/slideLayout4.xml"/><Relationship Id="rId4" Type="http://schemas.openxmlformats.org/officeDocument/2006/relationships/notesSlide" Target="../notesSlides/notesSlide1.xml"/><Relationship Id="rId5"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 Id="rId3" Type="http://schemas.openxmlformats.org/officeDocument/2006/relationships/image" Target="../media/image8.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1.png"/><Relationship Id="rId3" Type="http://schemas.openxmlformats.org/officeDocument/2006/relationships/image" Target="../media/image19.png"/><Relationship Id="rId4" Type="http://schemas.openxmlformats.org/officeDocument/2006/relationships/notesSlide" Target="../notesSlides/notesSlide1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2.png"/><Relationship Id="rId3" Type="http://schemas.openxmlformats.org/officeDocument/2006/relationships/image" Target="../media/image20.png"/><Relationship Id="rId4" Type="http://schemas.openxmlformats.org/officeDocument/2006/relationships/notesSlide" Target="../notesSlides/notesSlide1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3.png"/><Relationship Id="rId3" Type="http://schemas.openxmlformats.org/officeDocument/2006/relationships/image" Target="../media/image21.png"/><Relationship Id="rId4" Type="http://schemas.openxmlformats.org/officeDocument/2006/relationships/notesSlide" Target="../notesSlides/notesSlide1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4.png"/><Relationship Id="rId3" Type="http://schemas.openxmlformats.org/officeDocument/2006/relationships/image" Target="../media/image22.png"/><Relationship Id="rId4" Type="http://schemas.openxmlformats.org/officeDocument/2006/relationships/notesSlide" Target="../notesSlides/notesSlide1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5.png"/><Relationship Id="rId3" Type="http://schemas.openxmlformats.org/officeDocument/2006/relationships/image" Target="../media/image23.png"/><Relationship Id="rId4" Type="http://schemas.openxmlformats.org/officeDocument/2006/relationships/notesSlide" Target="../notesSlides/notesSlide20.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6.png"/><Relationship Id="rId3" Type="http://schemas.openxmlformats.org/officeDocument/2006/relationships/image" Target="../media/image24.png"/><Relationship Id="rId4" Type="http://schemas.openxmlformats.org/officeDocument/2006/relationships/notesSlide" Target="../notesSlides/notesSlide2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7.png"/><Relationship Id="rId3" Type="http://schemas.openxmlformats.org/officeDocument/2006/relationships/image" Target="../media/image25.png"/><Relationship Id="rId4" Type="http://schemas.openxmlformats.org/officeDocument/2006/relationships/notesSlide" Target="../notesSlides/notesSlide2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4.xml"/><Relationship Id="rId3" Type="http://schemas.openxmlformats.org/officeDocument/2006/relationships/image" Target="../media/image18.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09217D-E1D3-EF4E-F86E-72C88307DCB2}"/>
              </a:ext>
            </a:extLst>
          </p:cNvPr>
          <p:cNvSpPr txBox="1">
            <a:spLocks noGrp="1"/>
          </p:cNvSpPr>
          <p:nvPr>
            <p:ph type="title"/>
          </p:nvPr>
        </p:nvSpPr>
        <p:spPr>
          <a:xfrm>
            <a:off x="6995160" y="822960"/>
            <a:ext cx="4754880" cy="5120640"/>
          </a:xfrm>
        </p:spPr>
        <p:txBody>
          <a:bodyPr anchor="ctr" wrap="square">
            <a:normAutofit/>
          </a:bodyPr>
          <a:lstStyle/>
          <a:p>
            <a:pPr lvl="0">
              <a:spcAft>
                <a:spcPts val="800"/>
              </a:spcAft>
            </a:pPr>
            <a:r>
              <a:rPr sz="3600" b="1" i="0">
                <a:solidFill>
                  <a:srgbClr val="FFFFFF"/>
                </a:solidFill>
                <a:latin typeface="Tenorite"/>
              </a:rPr>
              <a:t>Insurance Charge Analysis</a:t>
            </a:r>
            <a:endParaRPr lang="en-US" sz="1800" b="1" dirty="0"/>
          </a:p>
          <a:p>
            <a:pPr>
              <a:spcAft>
                <a:spcPts val="800"/>
              </a:spcAft>
            </a:pPr>
            <a:r>
              <a:rPr sz="1600" b="0" i="0" cap="none">
                <a:solidFill>
                  <a:srgbClr val="FFFFFF"/>
                </a:solidFill>
                <a:latin typeface="Tenorite"/>
              </a:rPr>
              <a:t>Key factors influencing medical insurance charges</a:t>
            </a:r>
          </a:p>
          <a:p>
            <a:pPr>
              <a:spcAft>
                <a:spcPts val="800"/>
              </a:spcAft>
            </a:pPr>
            <a:r>
              <a:rPr sz="1000" b="0" i="0">
                <a:solidFill>
                  <a:srgbClr val="000000"/>
                </a:solidFill>
                <a:latin typeface="Tenorite"/>
              </a:rPr>
              <a:t> </a:t>
            </a:r>
          </a:p>
          <a:p>
            <a:pPr>
              <a:spcAft>
                <a:spcPts val="800"/>
              </a:spcAft>
            </a:pPr>
            <a:r>
              <a:rPr sz="1800" b="1" i="0" cap="none">
                <a:solidFill>
                  <a:srgbClr val="FFFFFF"/>
                </a:solidFill>
                <a:latin typeface="Tenorite"/>
              </a:rPr>
              <a:t>Paul O. Bankole</a:t>
            </a:r>
          </a:p>
          <a:p>
            <a:pPr>
              <a:spcAft>
                <a:spcPts val="800"/>
              </a:spcAft>
            </a:pPr>
            <a:r>
              <a:rPr sz="1400" b="0" i="0" cap="none">
                <a:solidFill>
                  <a:srgbClr val="BFBFBF"/>
                </a:solidFill>
                <a:latin typeface="Tenorite"/>
              </a:rPr>
              <a:t>Junior Data Analyst</a:t>
            </a:r>
          </a:p>
          <a:p>
            <a:pPr>
              <a:spcAft>
                <a:spcPts val="800"/>
              </a:spcAft>
            </a:pPr>
            <a:r>
              <a:rPr sz="1000" b="0" i="0">
                <a:solidFill>
                  <a:srgbClr val="000000"/>
                </a:solidFill>
                <a:latin typeface="Tenorite"/>
              </a:rPr>
              <a:t> </a:t>
            </a:r>
          </a:p>
          <a:p>
            <a:pPr>
              <a:spcAft>
                <a:spcPts val="800"/>
              </a:spcAft>
            </a:pPr>
            <a:r>
              <a:rPr sz="1400" b="1" i="0" cap="none">
                <a:solidFill>
                  <a:srgbClr val="FFFFFF"/>
                </a:solidFill>
                <a:latin typeface="Tenorite"/>
              </a:rPr>
              <a:t>Aim: </a:t>
            </a:r>
            <a:r>
              <a:rPr sz="1400" b="0" i="0" cap="none">
                <a:solidFill>
                  <a:srgbClr val="D9D9D9"/>
                </a:solidFill>
                <a:latin typeface="Tenorite"/>
              </a:rPr>
              <a:t>identify which customer factors drive insurance charges, to guide pricing and customer advice.</a:t>
            </a:r>
          </a:p>
        </p:txBody>
      </p:sp>
      <p:pic>
        <p:nvPicPr>
          <p:cNvPr id="3" name="Video 3" descr="People Discussing">
            <a:extLst>
              <a:ext uri="{FF2B5EF4-FFF2-40B4-BE49-F238E27FC236}">
                <a16:creationId xmlns:a16="http://schemas.microsoft.com/office/drawing/2014/main" id="{5DB3EE4F-4798-4EA4-F077-C6F19460F972}"/>
              </a:ext>
            </a:extLst>
          </p:cNvPr>
          <p:cNvPicPr>
            <a:picLocks noChangeAspect="1"/>
          </p:cNvPicPr>
          <p:nvPr>
            <a:videoFile r:link="rId2"/>
            <p:extLst>
              <p:ext uri="{DAA4B4D4-6D71-4841-9C94-3DE7FCFB9230}">
                <p14:media xmlns:p14="http://schemas.microsoft.com/office/powerpoint/2010/main" r:embed="rId1"/>
              </p:ext>
            </p:extLst>
          </p:nvPr>
        </p:nvPicPr>
        <p:blipFill>
          <a:blip r:embed="rId5"/>
          <a:srcRect l="14399" r="31622"/>
          <a:stretch>
            <a:fillRect/>
          </a:stretch>
        </p:blipFill>
        <p:spPr>
          <a:xfrm>
            <a:off x="18" y="-5084"/>
            <a:ext cx="6576273" cy="6872602"/>
          </a:xfrm>
          <a:prstGeom prst="rect">
            <a:avLst/>
          </a:prstGeom>
          <a:noFill/>
          <a:ln cap="flat">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9130"/>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p:cTn id="7">
                  <p:endCondLst>
                    <p:cond evt="onNext" delay="0">
                      <p:tgtEl>
                        <p:sldTgt/>
                      </p:tgtEl>
                    </p:cond>
                    <p:cond evt="onPrev" delay="0">
                      <p:tgtEl>
                        <p:sldTgt/>
                      </p:tgtEl>
                    </p:cond>
                  </p:endCondLst>
                </p:cTn>
                <p:tgtEl>
                  <p:spTgt spid="3"/>
                </p:tgtEl>
              </p:cMediaNode>
            </p:video>
            <p:seq concurrent="1" nextAc="seek">
              <p:cTn id="8" dur="indefinite" nodeType="interactiveSeq">
                <p:stCondLst>
                  <p:cond evt="onClick" delay="0">
                    <p:tgtEl>
                      <p:spTgt spid="3"/>
                    </p:tgtEl>
                  </p:cond>
                </p:stCondLst>
                <p:childTnLst>
                  <p:par>
                    <p:cTn id="9" fill="hold">
                      <p:stCondLst>
                        <p:cond evt="onBegin" delay="0">
                          <p:tn val="8"/>
                        </p:cond>
                      </p:stCondLst>
                      <p:childTnLst>
                        <p:par>
                          <p:cTn id="10" fill="hold">
                            <p:stCondLst>
                              <p:cond delay="0"/>
                            </p:stCondLst>
                            <p:childTnLst>
                              <p:par>
                                <p:cTn id="11" presetID="2" presetClass="mediacall" presetSubtype="0" fill="hold" nodeType="clickEffect">
                                  <p:stCondLst>
                                    <p:cond delay="0"/>
                                  </p:stCondLst>
                                  <p:childTnLst>
                                    <p:cmd type="call" cmd="togglePause">
                                      <p:cBhvr>
                                        <p:cTn id="12"/>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0FFA86-123B-F7CA-F31A-647255C43E6E}"/>
              </a:ext>
            </a:extLst>
          </p:cNvPr>
          <p:cNvSpPr txBox="1">
            <a:spLocks noGrp="1"/>
          </p:cNvSpPr>
          <p:nvPr>
            <p:ph type="title"/>
          </p:nvPr>
        </p:nvSpPr>
        <p:spPr>
          <a:xfrm>
            <a:off x="1325880" y="182880"/>
            <a:ext cx="7863840" cy="1188720"/>
          </a:xfrm>
        </p:spPr>
        <p:txBody>
          <a:bodyPr anchor="b"/>
          <a:lstStyle/>
          <a:p>
            <a:pPr lvl="0"/>
            <a:r>
              <a:rPr sz="2600"/>
              <a:t>Dataset overview</a:t>
            </a:r>
          </a:p>
        </p:txBody>
      </p:sp>
      <p:sp>
        <p:nvSpPr>
          <p:cNvPr id="4" name="Slide Number Placeholder 5">
            <a:extLst>
              <a:ext uri="{FF2B5EF4-FFF2-40B4-BE49-F238E27FC236}">
                <a16:creationId xmlns:a16="http://schemas.microsoft.com/office/drawing/2014/main" id="{7D8C2612-90B0-819E-9DDF-F61760640FA6}"/>
              </a:ext>
            </a:extLst>
          </p:cNvPr>
          <p:cNvSpPr txBox="1"/>
          <p:nvPr/>
        </p:nvSpPr>
        <p:spPr>
          <a:xfrm>
            <a:off x="10373346" y="6356351"/>
            <a:ext cx="987552" cy="365129"/>
          </a:xfrm>
          <a:prstGeom prst="rect">
            <a:avLst/>
          </a:prstGeom>
          <a:noFill/>
          <a:ln cap="flat">
            <a:noFill/>
          </a:ln>
        </p:spPr>
        <p:txBody>
          <a:bodyPr vert="horz" wrap="square" lIns="91440" tIns="45720" rIns="91440" bIns="45720" anchor="ctr" anchorCtr="0" compatLnSpc="1">
            <a:normAutofit/>
          </a:bodyPr>
          <a:lstStyle/>
          <a:p>
            <a:pPr marL="0" marR="0" lvl="0" indent="0" algn="r" defTabSz="914400" rtl="0" fontAlgn="auto" hangingPunct="1">
              <a:lnSpc>
                <a:spcPct val="100000"/>
              </a:lnSpc>
              <a:spcBef>
                <a:spcPts val="0"/>
              </a:spcBef>
              <a:spcAft>
                <a:spcPts val="600"/>
              </a:spcAft>
              <a:buNone/>
              <a:tabLst/>
              <a:defRPr sz="1800" b="0" i="0" u="none" strike="noStrike" kern="0" cap="none" spc="0" baseline="0">
                <a:solidFill>
                  <a:srgbClr val="000000"/>
                </a:solidFill>
                <a:uFillTx/>
              </a:defRPr>
            </a:pPr>
            <a:fld id="{86128BC6-0932-42F1-B2C4-421914CC031D}" type="slidenum">
              <a:rPr lang="en-US" sz="1200" b="0" i="0" u="none" strike="noStrike" kern="1200" cap="none" spc="0" baseline="0">
                <a:solidFill>
                  <a:srgbClr val="898989"/>
                </a:solidFill>
                <a:uFillTx/>
                <a:latin typeface="Tenorite"/>
              </a:rPr>
              <a:t>2</a:t>
            </a:fld>
            <a:endParaRPr lang="en-US" sz="900" b="0" i="0" u="none" strike="noStrike" kern="1200" cap="none" spc="0" baseline="0">
              <a:solidFill>
                <a:srgbClr val="898989"/>
              </a:solidFill>
              <a:uFillTx/>
              <a:latin typeface="Tenorite"/>
            </a:endParaRPr>
          </a:p>
        </p:txBody>
      </p:sp>
      <p:sp>
        <p:nvSpPr>
          <p:cNvPr id="5" name="Rectangle 4"/>
          <p:cNvSpPr/>
          <p:nvPr/>
        </p:nvSpPr>
        <p:spPr>
          <a:xfrm>
            <a:off x="914400" y="1600200"/>
            <a:ext cx="2514600" cy="12344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1709928"/>
            <a:ext cx="2148840" cy="678942"/>
          </a:xfrm>
          <a:prstGeom prst="rect">
            <a:avLst/>
          </a:prstGeom>
          <a:noFill/>
        </p:spPr>
        <p:txBody>
          <a:bodyPr wrap="square" lIns="45720" rIns="45720" tIns="27432" bIns="27432" anchor="b">
            <a:spAutoFit/>
          </a:bodyPr>
          <a:lstStyle/>
          <a:p>
            <a:pPr>
              <a:spcAft>
                <a:spcPts val="600"/>
              </a:spcAft>
            </a:pPr>
            <a:r>
              <a:rPr sz="3200" b="1" i="0">
                <a:solidFill>
                  <a:srgbClr val="000000"/>
                </a:solidFill>
                <a:latin typeface="Tenorite"/>
              </a:rPr>
              <a:t>1,338</a:t>
            </a:r>
          </a:p>
        </p:txBody>
      </p:sp>
      <p:sp>
        <p:nvSpPr>
          <p:cNvPr id="7" name="TextBox 6"/>
          <p:cNvSpPr txBox="1"/>
          <p:nvPr/>
        </p:nvSpPr>
        <p:spPr>
          <a:xfrm>
            <a:off x="1097280" y="2361895"/>
            <a:ext cx="2148840" cy="381304"/>
          </a:xfrm>
          <a:prstGeom prst="rect">
            <a:avLst/>
          </a:prstGeom>
          <a:noFill/>
        </p:spPr>
        <p:txBody>
          <a:bodyPr wrap="square" lIns="45720" rIns="45720" tIns="27432" bIns="27432" anchor="t">
            <a:spAutoFit/>
          </a:bodyPr>
          <a:lstStyle/>
          <a:p>
            <a:pPr>
              <a:spcAft>
                <a:spcPts val="600"/>
              </a:spcAft>
            </a:pPr>
            <a:r>
              <a:rPr sz="1300" b="0" i="0">
                <a:solidFill>
                  <a:srgbClr val="595959"/>
                </a:solidFill>
                <a:latin typeface="Tenorite"/>
              </a:rPr>
              <a:t>customer records</a:t>
            </a:r>
          </a:p>
        </p:txBody>
      </p:sp>
      <p:sp>
        <p:nvSpPr>
          <p:cNvPr id="8" name="Rectangle 7"/>
          <p:cNvSpPr/>
          <p:nvPr/>
        </p:nvSpPr>
        <p:spPr>
          <a:xfrm>
            <a:off x="3611880" y="1600200"/>
            <a:ext cx="2514600" cy="12344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794760" y="1709928"/>
            <a:ext cx="2148840" cy="678942"/>
          </a:xfrm>
          <a:prstGeom prst="rect">
            <a:avLst/>
          </a:prstGeom>
          <a:noFill/>
        </p:spPr>
        <p:txBody>
          <a:bodyPr wrap="square" lIns="45720" rIns="45720" tIns="27432" bIns="27432" anchor="b">
            <a:spAutoFit/>
          </a:bodyPr>
          <a:lstStyle/>
          <a:p>
            <a:pPr>
              <a:spcAft>
                <a:spcPts val="600"/>
              </a:spcAft>
            </a:pPr>
            <a:r>
              <a:rPr sz="3200" b="1" i="0">
                <a:solidFill>
                  <a:srgbClr val="000000"/>
                </a:solidFill>
                <a:latin typeface="Tenorite"/>
              </a:rPr>
              <a:t>7</a:t>
            </a:r>
          </a:p>
        </p:txBody>
      </p:sp>
      <p:sp>
        <p:nvSpPr>
          <p:cNvPr id="10" name="TextBox 9"/>
          <p:cNvSpPr txBox="1"/>
          <p:nvPr/>
        </p:nvSpPr>
        <p:spPr>
          <a:xfrm>
            <a:off x="3794760" y="2361895"/>
            <a:ext cx="2148840" cy="381304"/>
          </a:xfrm>
          <a:prstGeom prst="rect">
            <a:avLst/>
          </a:prstGeom>
          <a:noFill/>
        </p:spPr>
        <p:txBody>
          <a:bodyPr wrap="square" lIns="45720" rIns="45720" tIns="27432" bIns="27432" anchor="t">
            <a:spAutoFit/>
          </a:bodyPr>
          <a:lstStyle/>
          <a:p>
            <a:pPr>
              <a:spcAft>
                <a:spcPts val="600"/>
              </a:spcAft>
            </a:pPr>
            <a:r>
              <a:rPr sz="1300" b="0" i="0">
                <a:solidFill>
                  <a:srgbClr val="595959"/>
                </a:solidFill>
                <a:latin typeface="Tenorite"/>
              </a:rPr>
              <a:t>columns: 6 features + charges</a:t>
            </a:r>
          </a:p>
        </p:txBody>
      </p:sp>
      <p:sp>
        <p:nvSpPr>
          <p:cNvPr id="11" name="Rectangle 10"/>
          <p:cNvSpPr/>
          <p:nvPr/>
        </p:nvSpPr>
        <p:spPr>
          <a:xfrm>
            <a:off x="6309360" y="1600200"/>
            <a:ext cx="2514600" cy="12344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92240" y="1709928"/>
            <a:ext cx="2148840" cy="678942"/>
          </a:xfrm>
          <a:prstGeom prst="rect">
            <a:avLst/>
          </a:prstGeom>
          <a:noFill/>
        </p:spPr>
        <p:txBody>
          <a:bodyPr wrap="square" lIns="45720" rIns="45720" tIns="27432" bIns="27432" anchor="b">
            <a:spAutoFit/>
          </a:bodyPr>
          <a:lstStyle/>
          <a:p>
            <a:pPr>
              <a:spcAft>
                <a:spcPts val="600"/>
              </a:spcAft>
            </a:pPr>
            <a:r>
              <a:rPr sz="3200" b="1" i="0">
                <a:solidFill>
                  <a:srgbClr val="000000"/>
                </a:solidFill>
                <a:latin typeface="Tenorite"/>
              </a:rPr>
              <a:t>0</a:t>
            </a:r>
          </a:p>
        </p:txBody>
      </p:sp>
      <p:sp>
        <p:nvSpPr>
          <p:cNvPr id="13" name="TextBox 12"/>
          <p:cNvSpPr txBox="1"/>
          <p:nvPr/>
        </p:nvSpPr>
        <p:spPr>
          <a:xfrm>
            <a:off x="6492240" y="2361895"/>
            <a:ext cx="2148840" cy="381304"/>
          </a:xfrm>
          <a:prstGeom prst="rect">
            <a:avLst/>
          </a:prstGeom>
          <a:noFill/>
        </p:spPr>
        <p:txBody>
          <a:bodyPr wrap="square" lIns="45720" rIns="45720" tIns="27432" bIns="27432" anchor="t">
            <a:spAutoFit/>
          </a:bodyPr>
          <a:lstStyle/>
          <a:p>
            <a:pPr>
              <a:spcAft>
                <a:spcPts val="600"/>
              </a:spcAft>
            </a:pPr>
            <a:r>
              <a:rPr sz="1300" b="0" i="0">
                <a:solidFill>
                  <a:srgbClr val="595959"/>
                </a:solidFill>
                <a:latin typeface="Tenorite"/>
              </a:rPr>
              <a:t>missing values</a:t>
            </a:r>
          </a:p>
        </p:txBody>
      </p:sp>
      <p:sp>
        <p:nvSpPr>
          <p:cNvPr id="14" name="TextBox 13"/>
          <p:cNvSpPr txBox="1"/>
          <p:nvPr/>
        </p:nvSpPr>
        <p:spPr>
          <a:xfrm>
            <a:off x="914400" y="3063240"/>
            <a:ext cx="7863840" cy="2286000"/>
          </a:xfrm>
          <a:prstGeom prst="rect">
            <a:avLst/>
          </a:prstGeom>
          <a:noFill/>
        </p:spPr>
        <p:txBody>
          <a:bodyPr wrap="square" lIns="45720" rIns="45720" tIns="27432" bIns="27432" anchor="t">
            <a:spAutoFit/>
          </a:bodyPr>
          <a:lstStyle/>
          <a:p>
            <a:pPr>
              <a:spcAft>
                <a:spcPts val="300"/>
              </a:spcAft>
            </a:pPr>
            <a:r>
              <a:rPr sz="1400" b="1" i="0">
                <a:solidFill>
                  <a:srgbClr val="000000"/>
                </a:solidFill>
                <a:latin typeface="Tenorite"/>
              </a:rPr>
              <a:t>age  </a:t>
            </a:r>
            <a:r>
              <a:rPr sz="1400" b="0" i="0">
                <a:solidFill>
                  <a:srgbClr val="000000"/>
                </a:solidFill>
                <a:latin typeface="Tenorite"/>
              </a:rPr>
              <a:t>age of the insured person (18–64)</a:t>
            </a:r>
          </a:p>
          <a:p>
            <a:pPr>
              <a:spcAft>
                <a:spcPts val="300"/>
              </a:spcAft>
            </a:pPr>
            <a:r>
              <a:rPr sz="1400" b="1" i="0">
                <a:solidFill>
                  <a:srgbClr val="000000"/>
                </a:solidFill>
                <a:latin typeface="Tenorite"/>
              </a:rPr>
              <a:t>sex  </a:t>
            </a:r>
            <a:r>
              <a:rPr sz="1400" b="0" i="0">
                <a:solidFill>
                  <a:srgbClr val="000000"/>
                </a:solidFill>
                <a:latin typeface="Tenorite"/>
              </a:rPr>
              <a:t>female / male</a:t>
            </a:r>
          </a:p>
          <a:p>
            <a:pPr>
              <a:spcAft>
                <a:spcPts val="300"/>
              </a:spcAft>
            </a:pPr>
            <a:r>
              <a:rPr sz="1400" b="1" i="0">
                <a:solidFill>
                  <a:srgbClr val="000000"/>
                </a:solidFill>
                <a:latin typeface="Tenorite"/>
              </a:rPr>
              <a:t>bmi  </a:t>
            </a:r>
            <a:r>
              <a:rPr sz="1400" b="0" i="0">
                <a:solidFill>
                  <a:srgbClr val="000000"/>
                </a:solidFill>
                <a:latin typeface="Tenorite"/>
              </a:rPr>
              <a:t>Body Mass Index (weight relative to height)</a:t>
            </a:r>
          </a:p>
          <a:p>
            <a:pPr>
              <a:spcAft>
                <a:spcPts val="300"/>
              </a:spcAft>
            </a:pPr>
            <a:r>
              <a:rPr sz="1400" b="1" i="0">
                <a:solidFill>
                  <a:srgbClr val="000000"/>
                </a:solidFill>
                <a:latin typeface="Tenorite"/>
              </a:rPr>
              <a:t>children  </a:t>
            </a:r>
            <a:r>
              <a:rPr sz="1400" b="0" i="0">
                <a:solidFill>
                  <a:srgbClr val="000000"/>
                </a:solidFill>
                <a:latin typeface="Tenorite"/>
              </a:rPr>
              <a:t>number of dependants covered (0–5)</a:t>
            </a:r>
          </a:p>
          <a:p>
            <a:pPr>
              <a:spcAft>
                <a:spcPts val="300"/>
              </a:spcAft>
            </a:pPr>
            <a:r>
              <a:rPr sz="1400" b="1" i="0">
                <a:solidFill>
                  <a:srgbClr val="000000"/>
                </a:solidFill>
                <a:latin typeface="Tenorite"/>
              </a:rPr>
              <a:t>smoker  </a:t>
            </a:r>
            <a:r>
              <a:rPr sz="1400" b="0" i="0">
                <a:solidFill>
                  <a:srgbClr val="000000"/>
                </a:solidFill>
                <a:latin typeface="Tenorite"/>
              </a:rPr>
              <a:t>yes / no</a:t>
            </a:r>
          </a:p>
          <a:p>
            <a:pPr>
              <a:spcAft>
                <a:spcPts val="300"/>
              </a:spcAft>
            </a:pPr>
            <a:r>
              <a:rPr sz="1400" b="1" i="0">
                <a:solidFill>
                  <a:srgbClr val="000000"/>
                </a:solidFill>
                <a:latin typeface="Tenorite"/>
              </a:rPr>
              <a:t>region  </a:t>
            </a:r>
            <a:r>
              <a:rPr sz="1400" b="0" i="0">
                <a:solidFill>
                  <a:srgbClr val="000000"/>
                </a:solidFill>
                <a:latin typeface="Tenorite"/>
              </a:rPr>
              <a:t>northeast, northwest, southeast, southwest</a:t>
            </a:r>
          </a:p>
          <a:p>
            <a:pPr>
              <a:spcAft>
                <a:spcPts val="300"/>
              </a:spcAft>
            </a:pPr>
            <a:r>
              <a:rPr sz="1400" b="1" i="0">
                <a:solidFill>
                  <a:srgbClr val="000000"/>
                </a:solidFill>
                <a:latin typeface="Tenorite"/>
              </a:rPr>
              <a:t>charges  </a:t>
            </a:r>
            <a:r>
              <a:rPr sz="1400" b="0" i="0">
                <a:solidFill>
                  <a:srgbClr val="000000"/>
                </a:solidFill>
                <a:latin typeface="Tenorite"/>
              </a:rPr>
              <a:t>medical insurance cost billed (the target)</a:t>
            </a:r>
          </a:p>
        </p:txBody>
      </p:sp>
      <p:sp>
        <p:nvSpPr>
          <p:cNvPr id="15" name="TextBox 14"/>
          <p:cNvSpPr txBox="1"/>
          <p:nvPr/>
        </p:nvSpPr>
        <p:spPr>
          <a:xfrm>
            <a:off x="914400" y="4983480"/>
            <a:ext cx="8046720" cy="731520"/>
          </a:xfrm>
          <a:prstGeom prst="rect">
            <a:avLst/>
          </a:prstGeom>
          <a:noFill/>
        </p:spPr>
        <p:txBody>
          <a:bodyPr wrap="square" lIns="45720" rIns="45720" tIns="27432" bIns="27432" anchor="t">
            <a:spAutoFit/>
          </a:bodyPr>
          <a:lstStyle/>
          <a:p>
            <a:pPr>
              <a:spcAft>
                <a:spcPts val="600"/>
              </a:spcAft>
            </a:pPr>
            <a:r>
              <a:rPr sz="1400" b="1" i="0">
                <a:solidFill>
                  <a:srgbClr val="C00000"/>
                </a:solidFill>
                <a:latin typeface="Tenorite"/>
              </a:rPr>
              <a:t>Business question: </a:t>
            </a:r>
            <a:r>
              <a:rPr sz="1400" b="0" i="0">
                <a:solidFill>
                  <a:srgbClr val="000000"/>
                </a:solidFill>
                <a:latin typeface="Tenorite"/>
              </a:rPr>
              <a:t>which factors influence charges the most, so pricing and customer advice can be based on evidence?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2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13213A-1B4F-6FA6-2ACF-7D47135639CD}"/>
              </a:ext>
            </a:extLst>
          </p:cNvPr>
          <p:cNvSpPr txBox="1">
            <a:spLocks noGrp="1"/>
          </p:cNvSpPr>
          <p:nvPr>
            <p:ph type="title"/>
          </p:nvPr>
        </p:nvSpPr>
        <p:spPr>
          <a:xfrm>
            <a:off x="5738646" y="441435"/>
            <a:ext cx="6337733" cy="4225158"/>
          </a:xfrm>
        </p:spPr>
        <p:txBody>
          <a:bodyPr/>
          <a:lstStyle/>
          <a:p>
            <a:pPr lvl="0"/>
            <a:r>
              <a:rPr lang="en-GB" dirty="0"/>
              <a:t>        Data preparation</a:t>
            </a:r>
            <a:endParaRPr lang="en-US" dirty="0"/>
          </a:p>
        </p:txBody>
      </p:sp>
      <p:pic>
        <p:nvPicPr>
          <p:cNvPr id="3" name="Picture Placeholder 15" descr="Yound man drawing on a clear whiteboard">
            <a:extLst>
              <a:ext uri="{FF2B5EF4-FFF2-40B4-BE49-F238E27FC236}">
                <a16:creationId xmlns:a16="http://schemas.microsoft.com/office/drawing/2014/main" id="{375F2CDD-8878-1AB2-CACA-0F3165A0C1D7}"/>
              </a:ext>
            </a:extLst>
          </p:cNvPr>
          <p:cNvPicPr>
            <a:picLocks noGrp="1" noChangeAspect="1"/>
          </p:cNvPicPr>
          <p:nvPr>
            <p:ph type="pic" idx="4294967295"/>
          </p:nvPr>
        </p:nvPicPr>
        <p:blipFill>
          <a:blip r:embed="rId3"/>
          <a:srcRect l="18112" r="18112"/>
          <a:stretch>
            <a:fillRect/>
          </a:stretch>
        </p:blipFill>
        <p:spPr>
          <a:xfrm>
            <a:off x="0" y="-5084"/>
            <a:ext cx="6576291" cy="6872602"/>
          </a:xfrm>
        </p:spPr>
      </p:pic>
      <p:cxnSp>
        <p:nvCxnSpPr>
          <p:cNvPr id="4" name="Straight Connector 20">
            <a:extLst>
              <a:ext uri="{FF2B5EF4-FFF2-40B4-BE49-F238E27FC236}">
                <a16:creationId xmlns:a16="http://schemas.microsoft.com/office/drawing/2014/main" id="{DC40454A-D961-38FD-2EF7-ED80FFFD6A1C}"/>
              </a:ext>
              <a:ext uri="{C183D7F6-B498-43B3-948B-1728B52AA6E4}">
                <adec:decorative xmlns:adec="http://schemas.microsoft.com/office/drawing/2017/decorative" val="1"/>
              </a:ext>
            </a:extLst>
          </p:cNvPr>
          <p:cNvCxnSpPr/>
          <p:nvPr/>
        </p:nvCxnSpPr>
        <p:spPr>
          <a:xfrm flipH="1" flipV="1">
            <a:off x="0" y="254642"/>
            <a:ext cx="6096003" cy="855759"/>
          </a:xfrm>
          <a:prstGeom prst="straightConnector1">
            <a:avLst/>
          </a:prstGeom>
          <a:noFill/>
          <a:ln w="6345" cap="flat">
            <a:solidFill>
              <a:srgbClr val="FFFFFF"/>
            </a:solidFill>
            <a:prstDash val="solid"/>
            <a:miter/>
          </a:ln>
        </p:spPr>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ADE1AC-DF7A-9711-3837-D7FC1F58A2F6}"/>
              </a:ext>
            </a:extLst>
          </p:cNvPr>
          <p:cNvSpPr txBox="1">
            <a:spLocks noGrp="1"/>
          </p:cNvSpPr>
          <p:nvPr>
            <p:ph type="title"/>
          </p:nvPr>
        </p:nvSpPr>
        <p:spPr>
          <a:xfrm>
            <a:off x="1325880" y="182880"/>
            <a:ext cx="7863840" cy="1188720"/>
          </a:xfrm>
        </p:spPr>
        <p:txBody>
          <a:bodyPr anchor="b"/>
          <a:lstStyle/>
          <a:p>
            <a:pPr lvl="0"/>
            <a:r>
              <a:rPr sz="2600"/>
              <a:t>Data cleaning: results</a:t>
            </a:r>
            <a:endParaRPr lang="en-US"/>
          </a:p>
        </p:txBody>
      </p:sp>
      <p:sp>
        <p:nvSpPr>
          <p:cNvPr id="4" name="Slide Number Placeholder 5">
            <a:extLst>
              <a:ext uri="{FF2B5EF4-FFF2-40B4-BE49-F238E27FC236}">
                <a16:creationId xmlns:a16="http://schemas.microsoft.com/office/drawing/2014/main" id="{B8AFE90B-D07A-82C7-CD63-576295DE7FAE}"/>
              </a:ext>
            </a:extLst>
          </p:cNvPr>
          <p:cNvSpPr txBox="1"/>
          <p:nvPr/>
        </p:nvSpPr>
        <p:spPr>
          <a:xfrm>
            <a:off x="10373346" y="6356351"/>
            <a:ext cx="987552" cy="365129"/>
          </a:xfrm>
          <a:prstGeom prst="rect">
            <a:avLst/>
          </a:prstGeom>
          <a:noFill/>
          <a:ln cap="flat">
            <a:noFill/>
          </a:ln>
        </p:spPr>
        <p:txBody>
          <a:bodyPr vert="horz" wrap="square" lIns="91440" tIns="45720" rIns="91440" bIns="45720" anchor="ctr" anchorCtr="0" compatLnSpc="1">
            <a:noAutofit/>
          </a:bodyPr>
          <a:lstStyle/>
          <a:p>
            <a:pPr marL="0" marR="0" lvl="0" indent="0" algn="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fld id="{1F9C7083-9952-4B41-8FAE-1E9BEEA48467}" type="slidenum">
              <a:rPr lang="en-US" sz="1200" b="0" i="0" u="none" strike="noStrike" kern="1200" cap="none" spc="0" baseline="0">
                <a:solidFill>
                  <a:srgbClr val="898989"/>
                </a:solidFill>
                <a:uFillTx/>
                <a:latin typeface="Tenorite"/>
              </a:rPr>
              <a:t>4</a:t>
            </a:fld>
            <a:endParaRPr lang="en-US" sz="900" b="0" i="0" u="none" strike="noStrike" kern="1200" cap="none" spc="0" baseline="0">
              <a:solidFill>
                <a:srgbClr val="898989"/>
              </a:solidFill>
              <a:uFillTx/>
              <a:latin typeface="Tenorite"/>
            </a:endParaRPr>
          </a:p>
        </p:txBody>
      </p:sp>
      <p:sp>
        <p:nvSpPr>
          <p:cNvPr id="5" name="Rectangle 4"/>
          <p:cNvSpPr/>
          <p:nvPr/>
        </p:nvSpPr>
        <p:spPr>
          <a:xfrm>
            <a:off x="914400" y="1600200"/>
            <a:ext cx="3840480" cy="141732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1709928"/>
            <a:ext cx="3474720" cy="779526"/>
          </a:xfrm>
          <a:prstGeom prst="rect">
            <a:avLst/>
          </a:prstGeom>
          <a:noFill/>
        </p:spPr>
        <p:txBody>
          <a:bodyPr wrap="square" lIns="45720" rIns="45720" tIns="27432" bIns="27432" anchor="b">
            <a:spAutoFit/>
          </a:bodyPr>
          <a:lstStyle/>
          <a:p>
            <a:pPr>
              <a:spcAft>
                <a:spcPts val="600"/>
              </a:spcAft>
            </a:pPr>
            <a:r>
              <a:rPr sz="4000" b="1" i="0">
                <a:solidFill>
                  <a:srgbClr val="000000"/>
                </a:solidFill>
                <a:latin typeface="Tenorite"/>
              </a:rPr>
              <a:t>0</a:t>
            </a:r>
          </a:p>
        </p:txBody>
      </p:sp>
      <p:sp>
        <p:nvSpPr>
          <p:cNvPr id="7" name="TextBox 6"/>
          <p:cNvSpPr txBox="1"/>
          <p:nvPr/>
        </p:nvSpPr>
        <p:spPr>
          <a:xfrm>
            <a:off x="1097280" y="2467965"/>
            <a:ext cx="3474720" cy="458114"/>
          </a:xfrm>
          <a:prstGeom prst="rect">
            <a:avLst/>
          </a:prstGeom>
          <a:noFill/>
        </p:spPr>
        <p:txBody>
          <a:bodyPr wrap="square" lIns="45720" rIns="45720" tIns="27432" bIns="27432" anchor="t">
            <a:spAutoFit/>
          </a:bodyPr>
          <a:lstStyle/>
          <a:p>
            <a:pPr>
              <a:spcAft>
                <a:spcPts val="600"/>
              </a:spcAft>
            </a:pPr>
            <a:r>
              <a:rPr sz="1300" b="0" i="0">
                <a:solidFill>
                  <a:srgbClr val="595959"/>
                </a:solidFill>
                <a:latin typeface="Tenorite"/>
              </a:rPr>
              <a:t>missing values in any column, so no imputation needed</a:t>
            </a:r>
          </a:p>
        </p:txBody>
      </p:sp>
      <p:sp>
        <p:nvSpPr>
          <p:cNvPr id="8" name="Rectangle 7"/>
          <p:cNvSpPr/>
          <p:nvPr/>
        </p:nvSpPr>
        <p:spPr>
          <a:xfrm>
            <a:off x="4983480" y="1600200"/>
            <a:ext cx="3840480" cy="141732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166360" y="1709928"/>
            <a:ext cx="3474720" cy="779526"/>
          </a:xfrm>
          <a:prstGeom prst="rect">
            <a:avLst/>
          </a:prstGeom>
          <a:noFill/>
        </p:spPr>
        <p:txBody>
          <a:bodyPr wrap="square" lIns="45720" rIns="45720" tIns="27432" bIns="27432" anchor="b">
            <a:spAutoFit/>
          </a:bodyPr>
          <a:lstStyle/>
          <a:p>
            <a:pPr>
              <a:spcAft>
                <a:spcPts val="600"/>
              </a:spcAft>
            </a:pPr>
            <a:r>
              <a:rPr sz="4000" b="1" i="0">
                <a:solidFill>
                  <a:srgbClr val="C00000"/>
                </a:solidFill>
                <a:latin typeface="Tenorite"/>
              </a:rPr>
              <a:t>1</a:t>
            </a:r>
          </a:p>
        </p:txBody>
      </p:sp>
      <p:sp>
        <p:nvSpPr>
          <p:cNvPr id="10" name="TextBox 9"/>
          <p:cNvSpPr txBox="1"/>
          <p:nvPr/>
        </p:nvSpPr>
        <p:spPr>
          <a:xfrm>
            <a:off x="5166360" y="2467965"/>
            <a:ext cx="3474720" cy="458114"/>
          </a:xfrm>
          <a:prstGeom prst="rect">
            <a:avLst/>
          </a:prstGeom>
          <a:noFill/>
        </p:spPr>
        <p:txBody>
          <a:bodyPr wrap="square" lIns="45720" rIns="45720" tIns="27432" bIns="27432" anchor="t">
            <a:spAutoFit/>
          </a:bodyPr>
          <a:lstStyle/>
          <a:p>
            <a:pPr>
              <a:spcAft>
                <a:spcPts val="600"/>
              </a:spcAft>
            </a:pPr>
            <a:r>
              <a:rPr sz="1300" b="0" i="0">
                <a:solidFill>
                  <a:srgbClr val="595959"/>
                </a:solidFill>
                <a:latin typeface="Tenorite"/>
              </a:rPr>
              <a:t>exact duplicate row found and removed</a:t>
            </a:r>
          </a:p>
        </p:txBody>
      </p:sp>
      <p:sp>
        <p:nvSpPr>
          <p:cNvPr id="11" name="Rectangle 10"/>
          <p:cNvSpPr/>
          <p:nvPr/>
        </p:nvSpPr>
        <p:spPr>
          <a:xfrm>
            <a:off x="914400" y="3200400"/>
            <a:ext cx="3840480" cy="141732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97280" y="3310128"/>
            <a:ext cx="3474720" cy="779526"/>
          </a:xfrm>
          <a:prstGeom prst="rect">
            <a:avLst/>
          </a:prstGeom>
          <a:noFill/>
        </p:spPr>
        <p:txBody>
          <a:bodyPr wrap="square" lIns="45720" rIns="45720" tIns="27432" bIns="27432" anchor="b">
            <a:spAutoFit/>
          </a:bodyPr>
          <a:lstStyle/>
          <a:p>
            <a:pPr>
              <a:spcAft>
                <a:spcPts val="600"/>
              </a:spcAft>
            </a:pPr>
            <a:r>
              <a:rPr sz="4000" b="1" i="0">
                <a:solidFill>
                  <a:srgbClr val="000000"/>
                </a:solidFill>
                <a:latin typeface="Tenorite"/>
              </a:rPr>
              <a:t>1,337</a:t>
            </a:r>
          </a:p>
        </p:txBody>
      </p:sp>
      <p:sp>
        <p:nvSpPr>
          <p:cNvPr id="13" name="TextBox 12"/>
          <p:cNvSpPr txBox="1"/>
          <p:nvPr/>
        </p:nvSpPr>
        <p:spPr>
          <a:xfrm>
            <a:off x="1097280" y="4068165"/>
            <a:ext cx="3474720" cy="458114"/>
          </a:xfrm>
          <a:prstGeom prst="rect">
            <a:avLst/>
          </a:prstGeom>
          <a:noFill/>
        </p:spPr>
        <p:txBody>
          <a:bodyPr wrap="square" lIns="45720" rIns="45720" tIns="27432" bIns="27432" anchor="t">
            <a:spAutoFit/>
          </a:bodyPr>
          <a:lstStyle/>
          <a:p>
            <a:pPr>
              <a:spcAft>
                <a:spcPts val="600"/>
              </a:spcAft>
            </a:pPr>
            <a:r>
              <a:rPr sz="1300" b="0" i="0">
                <a:solidFill>
                  <a:srgbClr val="595959"/>
                </a:solidFill>
                <a:latin typeface="Tenorite"/>
              </a:rPr>
              <a:t>clean rows used for the analysis</a:t>
            </a:r>
          </a:p>
        </p:txBody>
      </p:sp>
      <p:sp>
        <p:nvSpPr>
          <p:cNvPr id="14" name="Rectangle 13"/>
          <p:cNvSpPr/>
          <p:nvPr/>
        </p:nvSpPr>
        <p:spPr>
          <a:xfrm>
            <a:off x="4983480" y="3200400"/>
            <a:ext cx="3840480" cy="141732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166360" y="3310128"/>
            <a:ext cx="3474720" cy="779526"/>
          </a:xfrm>
          <a:prstGeom prst="rect">
            <a:avLst/>
          </a:prstGeom>
          <a:noFill/>
        </p:spPr>
        <p:txBody>
          <a:bodyPr wrap="square" lIns="45720" rIns="45720" tIns="27432" bIns="27432" anchor="b">
            <a:spAutoFit/>
          </a:bodyPr>
          <a:lstStyle/>
          <a:p>
            <a:pPr>
              <a:spcAft>
                <a:spcPts val="600"/>
              </a:spcAft>
            </a:pPr>
            <a:r>
              <a:rPr sz="4000" b="1" i="0">
                <a:solidFill>
                  <a:srgbClr val="000000"/>
                </a:solidFill>
                <a:latin typeface="Tenorite"/>
              </a:rPr>
              <a:t>3</a:t>
            </a:r>
          </a:p>
        </p:txBody>
      </p:sp>
      <p:sp>
        <p:nvSpPr>
          <p:cNvPr id="16" name="TextBox 15"/>
          <p:cNvSpPr txBox="1"/>
          <p:nvPr/>
        </p:nvSpPr>
        <p:spPr>
          <a:xfrm>
            <a:off x="5166360" y="4068165"/>
            <a:ext cx="3474720" cy="458114"/>
          </a:xfrm>
          <a:prstGeom prst="rect">
            <a:avLst/>
          </a:prstGeom>
          <a:noFill/>
        </p:spPr>
        <p:txBody>
          <a:bodyPr wrap="square" lIns="45720" rIns="45720" tIns="27432" bIns="27432" anchor="t">
            <a:spAutoFit/>
          </a:bodyPr>
          <a:lstStyle/>
          <a:p>
            <a:pPr>
              <a:spcAft>
                <a:spcPts val="600"/>
              </a:spcAft>
            </a:pPr>
            <a:r>
              <a:rPr sz="1300" b="0" i="0">
                <a:solidFill>
                  <a:srgbClr val="595959"/>
                </a:solidFill>
                <a:latin typeface="Tenorite"/>
              </a:rPr>
              <a:t>text columns (sex, smoker, region) converted to category</a:t>
            </a:r>
          </a:p>
        </p:txBody>
      </p:sp>
      <p:sp>
        <p:nvSpPr>
          <p:cNvPr id="17" name="TextBox 16"/>
          <p:cNvSpPr txBox="1"/>
          <p:nvPr/>
        </p:nvSpPr>
        <p:spPr>
          <a:xfrm>
            <a:off x="914400" y="4983480"/>
            <a:ext cx="7863840" cy="1097280"/>
          </a:xfrm>
          <a:prstGeom prst="rect">
            <a:avLst/>
          </a:prstGeom>
          <a:noFill/>
        </p:spPr>
        <p:txBody>
          <a:bodyPr wrap="square" lIns="45720" rIns="45720" tIns="27432" bIns="27432" anchor="t">
            <a:spAutoFit/>
          </a:bodyPr>
          <a:lstStyle/>
          <a:p>
            <a:pPr>
              <a:spcAft>
                <a:spcPts val="600"/>
              </a:spcAft>
            </a:pPr>
            <a:r>
              <a:rPr sz="1300" b="1" i="0">
                <a:solidFill>
                  <a:srgbClr val="595959"/>
                </a:solidFill>
                <a:latin typeface="Tenorite"/>
              </a:rPr>
              <a:t>The duplicate: </a:t>
            </a:r>
            <a:r>
              <a:rPr sz="1300" b="0" i="0">
                <a:solidFill>
                  <a:srgbClr val="595959"/>
                </a:solidFill>
                <a:latin typeface="Tenorite"/>
              </a:rPr>
              <a:t>a 19-year-old male non-smoker in the northwest (BMI 30.59, $1,639.56) appeared twice. Numeric columns were already the correct types.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5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D2E8F1-5DF1-293A-0A89-42272332E44B}"/>
              </a:ext>
            </a:extLst>
          </p:cNvPr>
          <p:cNvSpPr txBox="1">
            <a:spLocks noGrp="1"/>
          </p:cNvSpPr>
          <p:nvPr>
            <p:ph type="title"/>
          </p:nvPr>
        </p:nvSpPr>
        <p:spPr>
          <a:xfrm>
            <a:off x="1325880" y="182880"/>
            <a:ext cx="7863840" cy="1188720"/>
          </a:xfrm>
        </p:spPr>
        <p:txBody>
          <a:bodyPr anchor="b"/>
          <a:lstStyle/>
          <a:p>
            <a:pPr lvl="0"/>
            <a:r>
              <a:rPr sz="2600"/>
              <a:t>New columns created</a:t>
            </a:r>
            <a:endParaRPr lang="en-US"/>
          </a:p>
        </p:txBody>
      </p:sp>
      <p:sp>
        <p:nvSpPr>
          <p:cNvPr id="4" name="Slide Number Placeholder 5">
            <a:extLst>
              <a:ext uri="{FF2B5EF4-FFF2-40B4-BE49-F238E27FC236}">
                <a16:creationId xmlns:a16="http://schemas.microsoft.com/office/drawing/2014/main" id="{D0D61F7C-1C5C-0FE7-886E-01D58CB7820C}"/>
              </a:ext>
            </a:extLst>
          </p:cNvPr>
          <p:cNvSpPr txBox="1"/>
          <p:nvPr/>
        </p:nvSpPr>
        <p:spPr>
          <a:xfrm>
            <a:off x="10373346" y="6356351"/>
            <a:ext cx="987552" cy="365129"/>
          </a:xfrm>
          <a:prstGeom prst="rect">
            <a:avLst/>
          </a:prstGeom>
          <a:noFill/>
          <a:ln cap="flat">
            <a:noFill/>
          </a:ln>
        </p:spPr>
        <p:txBody>
          <a:bodyPr vert="horz" wrap="square" lIns="91440" tIns="45720" rIns="91440" bIns="45720" anchor="ctr" anchorCtr="0" compatLnSpc="1">
            <a:noAutofit/>
          </a:bodyPr>
          <a:lstStyle/>
          <a:p>
            <a:pPr marL="0" marR="0" lvl="0" indent="0" algn="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fld id="{326DB1E0-B703-4900-A0E1-9F146F1CA96F}" type="slidenum">
              <a:rPr lang="en-US" sz="1200" b="0" i="0" u="none" strike="noStrike" kern="1200" cap="none" spc="0" baseline="0">
                <a:solidFill>
                  <a:srgbClr val="898989"/>
                </a:solidFill>
                <a:uFillTx/>
                <a:latin typeface="Tenorite"/>
              </a:rPr>
              <a:t>5</a:t>
            </a:fld>
            <a:endParaRPr lang="en-US" sz="900" b="0" i="0" u="none" strike="noStrike" kern="1200" cap="none" spc="0" baseline="0">
              <a:solidFill>
                <a:srgbClr val="898989"/>
              </a:solidFill>
              <a:uFillTx/>
              <a:latin typeface="Tenorite"/>
            </a:endParaRPr>
          </a:p>
        </p:txBody>
      </p:sp>
      <p:sp>
        <p:nvSpPr>
          <p:cNvPr id="5" name="TextBox 4"/>
          <p:cNvSpPr txBox="1"/>
          <p:nvPr/>
        </p:nvSpPr>
        <p:spPr>
          <a:xfrm>
            <a:off x="914400" y="1508760"/>
            <a:ext cx="3931920" cy="365760"/>
          </a:xfrm>
          <a:prstGeom prst="rect">
            <a:avLst/>
          </a:prstGeom>
          <a:noFill/>
        </p:spPr>
        <p:txBody>
          <a:bodyPr wrap="square" lIns="45720" rIns="45720" tIns="27432" bIns="27432" anchor="t">
            <a:spAutoFit/>
          </a:bodyPr>
          <a:lstStyle/>
          <a:p>
            <a:pPr>
              <a:spcAft>
                <a:spcPts val="0"/>
              </a:spcAft>
            </a:pPr>
            <a:r>
              <a:rPr sz="1400" b="1" i="0">
                <a:solidFill>
                  <a:srgbClr val="000000"/>
                </a:solidFill>
                <a:latin typeface="Tenorite"/>
              </a:rPr>
              <a:t>bmi_category</a:t>
            </a:r>
          </a:p>
        </p:txBody>
      </p:sp>
      <p:graphicFrame>
        <p:nvGraphicFramePr>
          <p:cNvPr id="6" name="Table 5"/>
          <p:cNvGraphicFramePr>
            <a:graphicFrameLocks noGrp="1"/>
          </p:cNvGraphicFramePr>
          <p:nvPr/>
        </p:nvGraphicFramePr>
        <p:xfrm>
          <a:off x="914400" y="1874519"/>
          <a:ext cx="3931920" cy="1554480"/>
        </p:xfrm>
        <a:graphic>
          <a:graphicData uri="http://schemas.openxmlformats.org/drawingml/2006/table">
            <a:tbl>
              <a:tblPr firstRow="1" bandRow="0">
                <a:tableStyleId>{5C22544A-7EE6-4342-B048-85BDC9FD1C3A}</a:tableStyleId>
              </a:tblPr>
              <a:tblGrid>
                <a:gridCol w="1143000"/>
                <a:gridCol w="868680"/>
                <a:gridCol w="914400"/>
                <a:gridCol w="1005840"/>
              </a:tblGrid>
              <a:tr h="310896">
                <a:tc>
                  <a:txBody>
                    <a:bodyPr wrap="square"/>
                    <a:lstStyle/>
                    <a:p>
                      <a:pPr algn="l">
                        <a:spcAft>
                          <a:spcPts val="0"/>
                        </a:spcAft>
                      </a:pPr>
                      <a:r>
                        <a:rPr sz="1200" b="1" i="0">
                          <a:solidFill>
                            <a:srgbClr val="FFFFFF"/>
                          </a:solidFill>
                          <a:latin typeface="Tenorite"/>
                        </a:rPr>
                        <a:t>Category</a:t>
                      </a:r>
                    </a:p>
                  </a:txBody>
                  <a:tcPr marL="91440" marR="91440" marT="18288" marB="18288" anchor="ctr">
                    <a:solidFill>
                      <a:srgbClr val="000000"/>
                    </a:solidFill>
                  </a:tcPr>
                </a:tc>
                <a:tc>
                  <a:txBody>
                    <a:bodyPr wrap="square"/>
                    <a:lstStyle/>
                    <a:p>
                      <a:pPr algn="r">
                        <a:spcAft>
                          <a:spcPts val="0"/>
                        </a:spcAft>
                      </a:pPr>
                      <a:r>
                        <a:rPr sz="1200" b="1" i="0">
                          <a:solidFill>
                            <a:srgbClr val="FFFFFF"/>
                          </a:solidFill>
                          <a:latin typeface="Tenorite"/>
                        </a:rPr>
                        <a:t>BMI</a:t>
                      </a:r>
                    </a:p>
                  </a:txBody>
                  <a:tcPr marL="91440" marR="91440" marT="18288" marB="18288" anchor="ctr">
                    <a:solidFill>
                      <a:srgbClr val="000000"/>
                    </a:solidFill>
                  </a:tcPr>
                </a:tc>
                <a:tc>
                  <a:txBody>
                    <a:bodyPr wrap="square"/>
                    <a:lstStyle/>
                    <a:p>
                      <a:pPr algn="r">
                        <a:spcAft>
                          <a:spcPts val="0"/>
                        </a:spcAft>
                      </a:pPr>
                      <a:r>
                        <a:rPr sz="1200" b="1" i="0">
                          <a:solidFill>
                            <a:srgbClr val="FFFFFF"/>
                          </a:solidFill>
                          <a:latin typeface="Tenorite"/>
                        </a:rPr>
                        <a:t>Count</a:t>
                      </a:r>
                    </a:p>
                  </a:txBody>
                  <a:tcPr marL="91440" marR="91440" marT="18288" marB="18288" anchor="ctr">
                    <a:solidFill>
                      <a:srgbClr val="000000"/>
                    </a:solidFill>
                  </a:tcPr>
                </a:tc>
                <a:tc>
                  <a:txBody>
                    <a:bodyPr wrap="square"/>
                    <a:lstStyle/>
                    <a:p>
                      <a:pPr algn="r">
                        <a:spcAft>
                          <a:spcPts val="0"/>
                        </a:spcAft>
                      </a:pPr>
                      <a:r>
                        <a:rPr sz="1200" b="1" i="0">
                          <a:solidFill>
                            <a:srgbClr val="FFFFFF"/>
                          </a:solidFill>
                          <a:latin typeface="Tenorite"/>
                        </a:rPr>
                        <a:t>Avg charge</a:t>
                      </a:r>
                    </a:p>
                  </a:txBody>
                  <a:tcPr marL="91440" marR="91440" marT="18288" marB="18288" anchor="ctr">
                    <a:solidFill>
                      <a:srgbClr val="000000"/>
                    </a:solidFill>
                  </a:tcPr>
                </a:tc>
              </a:tr>
              <a:tr h="310896">
                <a:tc>
                  <a:txBody>
                    <a:bodyPr wrap="square"/>
                    <a:lstStyle/>
                    <a:p>
                      <a:pPr algn="l">
                        <a:spcAft>
                          <a:spcPts val="0"/>
                        </a:spcAft>
                      </a:pPr>
                      <a:r>
                        <a:rPr sz="1200" b="0" i="0">
                          <a:solidFill>
                            <a:srgbClr val="000000"/>
                          </a:solidFill>
                          <a:latin typeface="Tenorite"/>
                        </a:rPr>
                        <a:t>Underweight</a:t>
                      </a:r>
                    </a:p>
                  </a:txBody>
                  <a:tcPr marL="91440" marR="91440" marT="18288" marB="18288" anchor="ctr">
                    <a:solidFill>
                      <a:srgbClr val="FFFFFF"/>
                    </a:solidFill>
                  </a:tcPr>
                </a:tc>
                <a:tc>
                  <a:txBody>
                    <a:bodyPr wrap="square"/>
                    <a:lstStyle/>
                    <a:p>
                      <a:pPr algn="r">
                        <a:spcAft>
                          <a:spcPts val="0"/>
                        </a:spcAft>
                      </a:pPr>
                      <a:r>
                        <a:rPr sz="1200" b="0" i="0">
                          <a:solidFill>
                            <a:srgbClr val="000000"/>
                          </a:solidFill>
                          <a:latin typeface="Tenorite"/>
                        </a:rPr>
                        <a:t>&lt; 18.5</a:t>
                      </a:r>
                    </a:p>
                  </a:txBody>
                  <a:tcPr marL="91440" marR="91440" marT="18288" marB="18288" anchor="ctr">
                    <a:solidFill>
                      <a:srgbClr val="FFFFFF"/>
                    </a:solidFill>
                  </a:tcPr>
                </a:tc>
                <a:tc>
                  <a:txBody>
                    <a:bodyPr wrap="square"/>
                    <a:lstStyle/>
                    <a:p>
                      <a:pPr algn="r">
                        <a:spcAft>
                          <a:spcPts val="0"/>
                        </a:spcAft>
                      </a:pPr>
                      <a:r>
                        <a:rPr sz="1200" b="0" i="0">
                          <a:solidFill>
                            <a:srgbClr val="000000"/>
                          </a:solidFill>
                          <a:latin typeface="Tenorite"/>
                        </a:rPr>
                        <a:t>20</a:t>
                      </a:r>
                    </a:p>
                  </a:txBody>
                  <a:tcPr marL="91440" marR="91440" marT="18288" marB="18288" anchor="ctr">
                    <a:solidFill>
                      <a:srgbClr val="FFFFFF"/>
                    </a:solidFill>
                  </a:tcPr>
                </a:tc>
                <a:tc>
                  <a:txBody>
                    <a:bodyPr wrap="square"/>
                    <a:lstStyle/>
                    <a:p>
                      <a:pPr algn="r">
                        <a:spcAft>
                          <a:spcPts val="0"/>
                        </a:spcAft>
                      </a:pPr>
                      <a:r>
                        <a:rPr sz="1200" b="0" i="0">
                          <a:solidFill>
                            <a:srgbClr val="000000"/>
                          </a:solidFill>
                          <a:latin typeface="Tenorite"/>
                        </a:rPr>
                        <a:t>$8,852</a:t>
                      </a:r>
                    </a:p>
                  </a:txBody>
                  <a:tcPr marL="91440" marR="91440" marT="18288" marB="18288" anchor="ctr">
                    <a:solidFill>
                      <a:srgbClr val="FFFFFF"/>
                    </a:solidFill>
                  </a:tcPr>
                </a:tc>
              </a:tr>
              <a:tr h="310896">
                <a:tc>
                  <a:txBody>
                    <a:bodyPr wrap="square"/>
                    <a:lstStyle/>
                    <a:p>
                      <a:pPr algn="l">
                        <a:spcAft>
                          <a:spcPts val="0"/>
                        </a:spcAft>
                      </a:pPr>
                      <a:r>
                        <a:rPr sz="1200" b="0" i="0">
                          <a:solidFill>
                            <a:srgbClr val="000000"/>
                          </a:solidFill>
                          <a:latin typeface="Tenorite"/>
                        </a:rPr>
                        <a:t>Normal</a:t>
                      </a:r>
                    </a:p>
                  </a:txBody>
                  <a:tcPr marL="91440" marR="91440" marT="18288" marB="18288" anchor="ctr">
                    <a:solidFill>
                      <a:srgbClr val="F2F2F2"/>
                    </a:solidFill>
                  </a:tcPr>
                </a:tc>
                <a:tc>
                  <a:txBody>
                    <a:bodyPr wrap="square"/>
                    <a:lstStyle/>
                    <a:p>
                      <a:pPr algn="r">
                        <a:spcAft>
                          <a:spcPts val="0"/>
                        </a:spcAft>
                      </a:pPr>
                      <a:r>
                        <a:rPr sz="1200" b="0" i="0">
                          <a:solidFill>
                            <a:srgbClr val="000000"/>
                          </a:solidFill>
                          <a:latin typeface="Tenorite"/>
                        </a:rPr>
                        <a:t>18.5–24.9</a:t>
                      </a:r>
                    </a:p>
                  </a:txBody>
                  <a:tcPr marL="91440" marR="91440" marT="18288" marB="18288" anchor="ctr">
                    <a:solidFill>
                      <a:srgbClr val="F2F2F2"/>
                    </a:solidFill>
                  </a:tcPr>
                </a:tc>
                <a:tc>
                  <a:txBody>
                    <a:bodyPr wrap="square"/>
                    <a:lstStyle/>
                    <a:p>
                      <a:pPr algn="r">
                        <a:spcAft>
                          <a:spcPts val="0"/>
                        </a:spcAft>
                      </a:pPr>
                      <a:r>
                        <a:rPr sz="1200" b="0" i="0">
                          <a:solidFill>
                            <a:srgbClr val="000000"/>
                          </a:solidFill>
                          <a:latin typeface="Tenorite"/>
                        </a:rPr>
                        <a:t>225</a:t>
                      </a:r>
                    </a:p>
                  </a:txBody>
                  <a:tcPr marL="91440" marR="91440" marT="18288" marB="18288" anchor="ctr">
                    <a:solidFill>
                      <a:srgbClr val="F2F2F2"/>
                    </a:solidFill>
                  </a:tcPr>
                </a:tc>
                <a:tc>
                  <a:txBody>
                    <a:bodyPr wrap="square"/>
                    <a:lstStyle/>
                    <a:p>
                      <a:pPr algn="r">
                        <a:spcAft>
                          <a:spcPts val="0"/>
                        </a:spcAft>
                      </a:pPr>
                      <a:r>
                        <a:rPr sz="1200" b="0" i="0">
                          <a:solidFill>
                            <a:srgbClr val="000000"/>
                          </a:solidFill>
                          <a:latin typeface="Tenorite"/>
                        </a:rPr>
                        <a:t>$10,409</a:t>
                      </a:r>
                    </a:p>
                  </a:txBody>
                  <a:tcPr marL="91440" marR="91440" marT="18288" marB="18288" anchor="ctr">
                    <a:solidFill>
                      <a:srgbClr val="F2F2F2"/>
                    </a:solidFill>
                  </a:tcPr>
                </a:tc>
              </a:tr>
              <a:tr h="310896">
                <a:tc>
                  <a:txBody>
                    <a:bodyPr wrap="square"/>
                    <a:lstStyle/>
                    <a:p>
                      <a:pPr algn="l">
                        <a:spcAft>
                          <a:spcPts val="0"/>
                        </a:spcAft>
                      </a:pPr>
                      <a:r>
                        <a:rPr sz="1200" b="0" i="0">
                          <a:solidFill>
                            <a:srgbClr val="000000"/>
                          </a:solidFill>
                          <a:latin typeface="Tenorite"/>
                        </a:rPr>
                        <a:t>Overweight</a:t>
                      </a:r>
                    </a:p>
                  </a:txBody>
                  <a:tcPr marL="91440" marR="91440" marT="18288" marB="18288" anchor="ctr">
                    <a:solidFill>
                      <a:srgbClr val="FFFFFF"/>
                    </a:solidFill>
                  </a:tcPr>
                </a:tc>
                <a:tc>
                  <a:txBody>
                    <a:bodyPr wrap="square"/>
                    <a:lstStyle/>
                    <a:p>
                      <a:pPr algn="r">
                        <a:spcAft>
                          <a:spcPts val="0"/>
                        </a:spcAft>
                      </a:pPr>
                      <a:r>
                        <a:rPr sz="1200" b="0" i="0">
                          <a:solidFill>
                            <a:srgbClr val="000000"/>
                          </a:solidFill>
                          <a:latin typeface="Tenorite"/>
                        </a:rPr>
                        <a:t>25–29.9</a:t>
                      </a:r>
                    </a:p>
                  </a:txBody>
                  <a:tcPr marL="91440" marR="91440" marT="18288" marB="18288" anchor="ctr">
                    <a:solidFill>
                      <a:srgbClr val="FFFFFF"/>
                    </a:solidFill>
                  </a:tcPr>
                </a:tc>
                <a:tc>
                  <a:txBody>
                    <a:bodyPr wrap="square"/>
                    <a:lstStyle/>
                    <a:p>
                      <a:pPr algn="r">
                        <a:spcAft>
                          <a:spcPts val="0"/>
                        </a:spcAft>
                      </a:pPr>
                      <a:r>
                        <a:rPr sz="1200" b="0" i="0">
                          <a:solidFill>
                            <a:srgbClr val="000000"/>
                          </a:solidFill>
                          <a:latin typeface="Tenorite"/>
                        </a:rPr>
                        <a:t>386</a:t>
                      </a:r>
                    </a:p>
                  </a:txBody>
                  <a:tcPr marL="91440" marR="91440" marT="18288" marB="18288" anchor="ctr">
                    <a:solidFill>
                      <a:srgbClr val="FFFFFF"/>
                    </a:solidFill>
                  </a:tcPr>
                </a:tc>
                <a:tc>
                  <a:txBody>
                    <a:bodyPr wrap="square"/>
                    <a:lstStyle/>
                    <a:p>
                      <a:pPr algn="r">
                        <a:spcAft>
                          <a:spcPts val="0"/>
                        </a:spcAft>
                      </a:pPr>
                      <a:r>
                        <a:rPr sz="1200" b="0" i="0">
                          <a:solidFill>
                            <a:srgbClr val="000000"/>
                          </a:solidFill>
                          <a:latin typeface="Tenorite"/>
                        </a:rPr>
                        <a:t>$10,988</a:t>
                      </a:r>
                    </a:p>
                  </a:txBody>
                  <a:tcPr marL="91440" marR="91440" marT="18288" marB="18288" anchor="ctr">
                    <a:solidFill>
                      <a:srgbClr val="FFFFFF"/>
                    </a:solidFill>
                  </a:tcPr>
                </a:tc>
              </a:tr>
              <a:tr h="310896">
                <a:tc>
                  <a:txBody>
                    <a:bodyPr wrap="square"/>
                    <a:lstStyle/>
                    <a:p>
                      <a:pPr algn="l">
                        <a:spcAft>
                          <a:spcPts val="0"/>
                        </a:spcAft>
                      </a:pPr>
                      <a:r>
                        <a:rPr sz="1200" b="1" i="0">
                          <a:solidFill>
                            <a:srgbClr val="C00000"/>
                          </a:solidFill>
                          <a:latin typeface="Tenorite"/>
                        </a:rPr>
                        <a:t>Obese</a:t>
                      </a:r>
                    </a:p>
                  </a:txBody>
                  <a:tcPr marL="91440" marR="91440" marT="18288" marB="18288" anchor="ctr">
                    <a:solidFill>
                      <a:srgbClr val="FBE5E5"/>
                    </a:solidFill>
                  </a:tcPr>
                </a:tc>
                <a:tc>
                  <a:txBody>
                    <a:bodyPr wrap="square"/>
                    <a:lstStyle/>
                    <a:p>
                      <a:pPr algn="r">
                        <a:spcAft>
                          <a:spcPts val="0"/>
                        </a:spcAft>
                      </a:pPr>
                      <a:r>
                        <a:rPr sz="1200" b="1" i="0">
                          <a:solidFill>
                            <a:srgbClr val="C00000"/>
                          </a:solidFill>
                          <a:latin typeface="Tenorite"/>
                        </a:rPr>
                        <a:t>30+</a:t>
                      </a:r>
                    </a:p>
                  </a:txBody>
                  <a:tcPr marL="91440" marR="91440" marT="18288" marB="18288" anchor="ctr">
                    <a:solidFill>
                      <a:srgbClr val="FBE5E5"/>
                    </a:solidFill>
                  </a:tcPr>
                </a:tc>
                <a:tc>
                  <a:txBody>
                    <a:bodyPr wrap="square"/>
                    <a:lstStyle/>
                    <a:p>
                      <a:pPr algn="r">
                        <a:spcAft>
                          <a:spcPts val="0"/>
                        </a:spcAft>
                      </a:pPr>
                      <a:r>
                        <a:rPr sz="1200" b="1" i="0">
                          <a:solidFill>
                            <a:srgbClr val="C00000"/>
                          </a:solidFill>
                          <a:latin typeface="Tenorite"/>
                        </a:rPr>
                        <a:t>706</a:t>
                      </a:r>
                    </a:p>
                  </a:txBody>
                  <a:tcPr marL="91440" marR="91440" marT="18288" marB="18288" anchor="ctr">
                    <a:solidFill>
                      <a:srgbClr val="FBE5E5"/>
                    </a:solidFill>
                  </a:tcPr>
                </a:tc>
                <a:tc>
                  <a:txBody>
                    <a:bodyPr wrap="square"/>
                    <a:lstStyle/>
                    <a:p>
                      <a:pPr algn="r">
                        <a:spcAft>
                          <a:spcPts val="0"/>
                        </a:spcAft>
                      </a:pPr>
                      <a:r>
                        <a:rPr sz="1200" b="1" i="0">
                          <a:solidFill>
                            <a:srgbClr val="C00000"/>
                          </a:solidFill>
                          <a:latin typeface="Tenorite"/>
                        </a:rPr>
                        <a:t>$15,572</a:t>
                      </a:r>
                    </a:p>
                  </a:txBody>
                  <a:tcPr marL="91440" marR="91440" marT="18288" marB="18288" anchor="ctr">
                    <a:solidFill>
                      <a:srgbClr val="FBE5E5"/>
                    </a:solidFill>
                  </a:tcPr>
                </a:tc>
              </a:tr>
            </a:tbl>
          </a:graphicData>
        </a:graphic>
      </p:graphicFrame>
      <p:sp>
        <p:nvSpPr>
          <p:cNvPr id="7" name="TextBox 6"/>
          <p:cNvSpPr txBox="1"/>
          <p:nvPr/>
        </p:nvSpPr>
        <p:spPr>
          <a:xfrm>
            <a:off x="5029200" y="1508760"/>
            <a:ext cx="3931920" cy="365760"/>
          </a:xfrm>
          <a:prstGeom prst="rect">
            <a:avLst/>
          </a:prstGeom>
          <a:noFill/>
        </p:spPr>
        <p:txBody>
          <a:bodyPr wrap="square" lIns="45720" rIns="45720" tIns="27432" bIns="27432" anchor="t">
            <a:spAutoFit/>
          </a:bodyPr>
          <a:lstStyle/>
          <a:p>
            <a:pPr>
              <a:spcAft>
                <a:spcPts val="0"/>
              </a:spcAft>
            </a:pPr>
            <a:r>
              <a:rPr sz="1400" b="1" i="0">
                <a:solidFill>
                  <a:srgbClr val="000000"/>
                </a:solidFill>
                <a:latin typeface="Tenorite"/>
              </a:rPr>
              <a:t>age_group</a:t>
            </a:r>
          </a:p>
        </p:txBody>
      </p:sp>
      <p:graphicFrame>
        <p:nvGraphicFramePr>
          <p:cNvPr id="8" name="Table 7"/>
          <p:cNvGraphicFramePr>
            <a:graphicFrameLocks noGrp="1"/>
          </p:cNvGraphicFramePr>
          <p:nvPr/>
        </p:nvGraphicFramePr>
        <p:xfrm>
          <a:off x="5029200" y="1874519"/>
          <a:ext cx="3931920" cy="1243584"/>
        </p:xfrm>
        <a:graphic>
          <a:graphicData uri="http://schemas.openxmlformats.org/drawingml/2006/table">
            <a:tbl>
              <a:tblPr firstRow="1" bandRow="0">
                <a:tableStyleId>{5C22544A-7EE6-4342-B048-85BDC9FD1C3A}</a:tableStyleId>
              </a:tblPr>
              <a:tblGrid>
                <a:gridCol w="1188720"/>
                <a:gridCol w="731520"/>
                <a:gridCol w="960120"/>
                <a:gridCol w="1051560"/>
              </a:tblGrid>
              <a:tr h="310896">
                <a:tc>
                  <a:txBody>
                    <a:bodyPr wrap="square"/>
                    <a:lstStyle/>
                    <a:p>
                      <a:pPr algn="l">
                        <a:spcAft>
                          <a:spcPts val="0"/>
                        </a:spcAft>
                      </a:pPr>
                      <a:r>
                        <a:rPr sz="1200" b="1" i="0">
                          <a:solidFill>
                            <a:srgbClr val="FFFFFF"/>
                          </a:solidFill>
                          <a:latin typeface="Tenorite"/>
                        </a:rPr>
                        <a:t>Group</a:t>
                      </a:r>
                    </a:p>
                  </a:txBody>
                  <a:tcPr marL="91440" marR="91440" marT="18288" marB="18288" anchor="ctr">
                    <a:solidFill>
                      <a:srgbClr val="000000"/>
                    </a:solidFill>
                  </a:tcPr>
                </a:tc>
                <a:tc>
                  <a:txBody>
                    <a:bodyPr wrap="square"/>
                    <a:lstStyle/>
                    <a:p>
                      <a:pPr algn="r">
                        <a:spcAft>
                          <a:spcPts val="0"/>
                        </a:spcAft>
                      </a:pPr>
                      <a:r>
                        <a:rPr sz="1200" b="1" i="0">
                          <a:solidFill>
                            <a:srgbClr val="FFFFFF"/>
                          </a:solidFill>
                          <a:latin typeface="Tenorite"/>
                        </a:rPr>
                        <a:t>Ages</a:t>
                      </a:r>
                    </a:p>
                  </a:txBody>
                  <a:tcPr marL="91440" marR="91440" marT="18288" marB="18288" anchor="ctr">
                    <a:solidFill>
                      <a:srgbClr val="000000"/>
                    </a:solidFill>
                  </a:tcPr>
                </a:tc>
                <a:tc>
                  <a:txBody>
                    <a:bodyPr wrap="square"/>
                    <a:lstStyle/>
                    <a:p>
                      <a:pPr algn="r">
                        <a:spcAft>
                          <a:spcPts val="0"/>
                        </a:spcAft>
                      </a:pPr>
                      <a:r>
                        <a:rPr sz="1200" b="1" i="0">
                          <a:solidFill>
                            <a:srgbClr val="FFFFFF"/>
                          </a:solidFill>
                          <a:latin typeface="Tenorite"/>
                        </a:rPr>
                        <a:t>Count</a:t>
                      </a:r>
                    </a:p>
                  </a:txBody>
                  <a:tcPr marL="91440" marR="91440" marT="18288" marB="18288" anchor="ctr">
                    <a:solidFill>
                      <a:srgbClr val="000000"/>
                    </a:solidFill>
                  </a:tcPr>
                </a:tc>
                <a:tc>
                  <a:txBody>
                    <a:bodyPr wrap="square"/>
                    <a:lstStyle/>
                    <a:p>
                      <a:pPr algn="r">
                        <a:spcAft>
                          <a:spcPts val="0"/>
                        </a:spcAft>
                      </a:pPr>
                      <a:r>
                        <a:rPr sz="1200" b="1" i="0">
                          <a:solidFill>
                            <a:srgbClr val="FFFFFF"/>
                          </a:solidFill>
                          <a:latin typeface="Tenorite"/>
                        </a:rPr>
                        <a:t>Avg charge</a:t>
                      </a:r>
                    </a:p>
                  </a:txBody>
                  <a:tcPr marL="91440" marR="91440" marT="18288" marB="18288" anchor="ctr">
                    <a:solidFill>
                      <a:srgbClr val="000000"/>
                    </a:solidFill>
                  </a:tcPr>
                </a:tc>
              </a:tr>
              <a:tr h="310896">
                <a:tc>
                  <a:txBody>
                    <a:bodyPr wrap="square"/>
                    <a:lstStyle/>
                    <a:p>
                      <a:pPr algn="l">
                        <a:spcAft>
                          <a:spcPts val="0"/>
                        </a:spcAft>
                      </a:pPr>
                      <a:r>
                        <a:rPr sz="1200" b="0" i="0">
                          <a:solidFill>
                            <a:srgbClr val="000000"/>
                          </a:solidFill>
                          <a:latin typeface="Tenorite"/>
                        </a:rPr>
                        <a:t>Young</a:t>
                      </a:r>
                    </a:p>
                  </a:txBody>
                  <a:tcPr marL="91440" marR="91440" marT="18288" marB="18288" anchor="ctr">
                    <a:solidFill>
                      <a:srgbClr val="FFFFFF"/>
                    </a:solidFill>
                  </a:tcPr>
                </a:tc>
                <a:tc>
                  <a:txBody>
                    <a:bodyPr wrap="square"/>
                    <a:lstStyle/>
                    <a:p>
                      <a:pPr algn="r">
                        <a:spcAft>
                          <a:spcPts val="0"/>
                        </a:spcAft>
                      </a:pPr>
                      <a:r>
                        <a:rPr sz="1200" b="0" i="0">
                          <a:solidFill>
                            <a:srgbClr val="000000"/>
                          </a:solidFill>
                          <a:latin typeface="Tenorite"/>
                        </a:rPr>
                        <a:t>18–34</a:t>
                      </a:r>
                    </a:p>
                  </a:txBody>
                  <a:tcPr marL="91440" marR="91440" marT="18288" marB="18288" anchor="ctr">
                    <a:solidFill>
                      <a:srgbClr val="FFFFFF"/>
                    </a:solidFill>
                  </a:tcPr>
                </a:tc>
                <a:tc>
                  <a:txBody>
                    <a:bodyPr wrap="square"/>
                    <a:lstStyle/>
                    <a:p>
                      <a:pPr algn="r">
                        <a:spcAft>
                          <a:spcPts val="0"/>
                        </a:spcAft>
                      </a:pPr>
                      <a:r>
                        <a:rPr sz="1200" b="0" i="0">
                          <a:solidFill>
                            <a:srgbClr val="000000"/>
                          </a:solidFill>
                          <a:latin typeface="Tenorite"/>
                        </a:rPr>
                        <a:t>548</a:t>
                      </a:r>
                    </a:p>
                  </a:txBody>
                  <a:tcPr marL="91440" marR="91440" marT="18288" marB="18288" anchor="ctr">
                    <a:solidFill>
                      <a:srgbClr val="FFFFFF"/>
                    </a:solidFill>
                  </a:tcPr>
                </a:tc>
                <a:tc>
                  <a:txBody>
                    <a:bodyPr wrap="square"/>
                    <a:lstStyle/>
                    <a:p>
                      <a:pPr algn="r">
                        <a:spcAft>
                          <a:spcPts val="0"/>
                        </a:spcAft>
                      </a:pPr>
                      <a:r>
                        <a:rPr sz="1200" b="0" i="0">
                          <a:solidFill>
                            <a:srgbClr val="000000"/>
                          </a:solidFill>
                          <a:latin typeface="Tenorite"/>
                        </a:rPr>
                        <a:t>$9,688</a:t>
                      </a:r>
                    </a:p>
                  </a:txBody>
                  <a:tcPr marL="91440" marR="91440" marT="18288" marB="18288" anchor="ctr">
                    <a:solidFill>
                      <a:srgbClr val="FFFFFF"/>
                    </a:solidFill>
                  </a:tcPr>
                </a:tc>
              </a:tr>
              <a:tr h="310896">
                <a:tc>
                  <a:txBody>
                    <a:bodyPr wrap="square"/>
                    <a:lstStyle/>
                    <a:p>
                      <a:pPr algn="l">
                        <a:spcAft>
                          <a:spcPts val="0"/>
                        </a:spcAft>
                      </a:pPr>
                      <a:r>
                        <a:rPr sz="1200" b="0" i="0">
                          <a:solidFill>
                            <a:srgbClr val="000000"/>
                          </a:solidFill>
                          <a:latin typeface="Tenorite"/>
                        </a:rPr>
                        <a:t>Middle-aged</a:t>
                      </a:r>
                    </a:p>
                  </a:txBody>
                  <a:tcPr marL="91440" marR="91440" marT="18288" marB="18288" anchor="ctr">
                    <a:solidFill>
                      <a:srgbClr val="F2F2F2"/>
                    </a:solidFill>
                  </a:tcPr>
                </a:tc>
                <a:tc>
                  <a:txBody>
                    <a:bodyPr wrap="square"/>
                    <a:lstStyle/>
                    <a:p>
                      <a:pPr algn="r">
                        <a:spcAft>
                          <a:spcPts val="0"/>
                        </a:spcAft>
                      </a:pPr>
                      <a:r>
                        <a:rPr sz="1200" b="0" i="0">
                          <a:solidFill>
                            <a:srgbClr val="000000"/>
                          </a:solidFill>
                          <a:latin typeface="Tenorite"/>
                        </a:rPr>
                        <a:t>35–49</a:t>
                      </a:r>
                    </a:p>
                  </a:txBody>
                  <a:tcPr marL="91440" marR="91440" marT="18288" marB="18288" anchor="ctr">
                    <a:solidFill>
                      <a:srgbClr val="F2F2F2"/>
                    </a:solidFill>
                  </a:tcPr>
                </a:tc>
                <a:tc>
                  <a:txBody>
                    <a:bodyPr wrap="square"/>
                    <a:lstStyle/>
                    <a:p>
                      <a:pPr algn="r">
                        <a:spcAft>
                          <a:spcPts val="0"/>
                        </a:spcAft>
                      </a:pPr>
                      <a:r>
                        <a:rPr sz="1200" b="0" i="0">
                          <a:solidFill>
                            <a:srgbClr val="000000"/>
                          </a:solidFill>
                          <a:latin typeface="Tenorite"/>
                        </a:rPr>
                        <a:t>404</a:t>
                      </a:r>
                    </a:p>
                  </a:txBody>
                  <a:tcPr marL="91440" marR="91440" marT="18288" marB="18288" anchor="ctr">
                    <a:solidFill>
                      <a:srgbClr val="F2F2F2"/>
                    </a:solidFill>
                  </a:tcPr>
                </a:tc>
                <a:tc>
                  <a:txBody>
                    <a:bodyPr wrap="square"/>
                    <a:lstStyle/>
                    <a:p>
                      <a:pPr algn="r">
                        <a:spcAft>
                          <a:spcPts val="0"/>
                        </a:spcAft>
                      </a:pPr>
                      <a:r>
                        <a:rPr sz="1200" b="0" i="0">
                          <a:solidFill>
                            <a:srgbClr val="000000"/>
                          </a:solidFill>
                          <a:latin typeface="Tenorite"/>
                        </a:rPr>
                        <a:t>$13,744</a:t>
                      </a:r>
                    </a:p>
                  </a:txBody>
                  <a:tcPr marL="91440" marR="91440" marT="18288" marB="18288" anchor="ctr">
                    <a:solidFill>
                      <a:srgbClr val="F2F2F2"/>
                    </a:solidFill>
                  </a:tcPr>
                </a:tc>
              </a:tr>
              <a:tr h="310896">
                <a:tc>
                  <a:txBody>
                    <a:bodyPr wrap="square"/>
                    <a:lstStyle/>
                    <a:p>
                      <a:pPr algn="l">
                        <a:spcAft>
                          <a:spcPts val="0"/>
                        </a:spcAft>
                      </a:pPr>
                      <a:r>
                        <a:rPr sz="1200" b="1" i="0">
                          <a:solidFill>
                            <a:srgbClr val="C00000"/>
                          </a:solidFill>
                          <a:latin typeface="Tenorite"/>
                        </a:rPr>
                        <a:t>Senior</a:t>
                      </a:r>
                    </a:p>
                  </a:txBody>
                  <a:tcPr marL="91440" marR="91440" marT="18288" marB="18288" anchor="ctr">
                    <a:solidFill>
                      <a:srgbClr val="FBE5E5"/>
                    </a:solidFill>
                  </a:tcPr>
                </a:tc>
                <a:tc>
                  <a:txBody>
                    <a:bodyPr wrap="square"/>
                    <a:lstStyle/>
                    <a:p>
                      <a:pPr algn="r">
                        <a:spcAft>
                          <a:spcPts val="0"/>
                        </a:spcAft>
                      </a:pPr>
                      <a:r>
                        <a:rPr sz="1200" b="1" i="0">
                          <a:solidFill>
                            <a:srgbClr val="C00000"/>
                          </a:solidFill>
                          <a:latin typeface="Tenorite"/>
                        </a:rPr>
                        <a:t>50–64</a:t>
                      </a:r>
                    </a:p>
                  </a:txBody>
                  <a:tcPr marL="91440" marR="91440" marT="18288" marB="18288" anchor="ctr">
                    <a:solidFill>
                      <a:srgbClr val="FBE5E5"/>
                    </a:solidFill>
                  </a:tcPr>
                </a:tc>
                <a:tc>
                  <a:txBody>
                    <a:bodyPr wrap="square"/>
                    <a:lstStyle/>
                    <a:p>
                      <a:pPr algn="r">
                        <a:spcAft>
                          <a:spcPts val="0"/>
                        </a:spcAft>
                      </a:pPr>
                      <a:r>
                        <a:rPr sz="1200" b="1" i="0">
                          <a:solidFill>
                            <a:srgbClr val="C00000"/>
                          </a:solidFill>
                          <a:latin typeface="Tenorite"/>
                        </a:rPr>
                        <a:t>385</a:t>
                      </a:r>
                    </a:p>
                  </a:txBody>
                  <a:tcPr marL="91440" marR="91440" marT="18288" marB="18288" anchor="ctr">
                    <a:solidFill>
                      <a:srgbClr val="FBE5E5"/>
                    </a:solidFill>
                  </a:tcPr>
                </a:tc>
                <a:tc>
                  <a:txBody>
                    <a:bodyPr wrap="square"/>
                    <a:lstStyle/>
                    <a:p>
                      <a:pPr algn="r">
                        <a:spcAft>
                          <a:spcPts val="0"/>
                        </a:spcAft>
                      </a:pPr>
                      <a:r>
                        <a:rPr sz="1200" b="1" i="0">
                          <a:solidFill>
                            <a:srgbClr val="C00000"/>
                          </a:solidFill>
                          <a:latin typeface="Tenorite"/>
                        </a:rPr>
                        <a:t>$17,903</a:t>
                      </a:r>
                    </a:p>
                  </a:txBody>
                  <a:tcPr marL="91440" marR="91440" marT="18288" marB="18288" anchor="ctr">
                    <a:solidFill>
                      <a:srgbClr val="FBE5E5"/>
                    </a:solidFill>
                  </a:tcPr>
                </a:tc>
              </a:tr>
            </a:tbl>
          </a:graphicData>
        </a:graphic>
      </p:graphicFrame>
      <p:sp>
        <p:nvSpPr>
          <p:cNvPr id="9" name="TextBox 8"/>
          <p:cNvSpPr txBox="1"/>
          <p:nvPr/>
        </p:nvSpPr>
        <p:spPr>
          <a:xfrm>
            <a:off x="914400" y="3703320"/>
            <a:ext cx="8046720" cy="2286000"/>
          </a:xfrm>
          <a:prstGeom prst="rect">
            <a:avLst/>
          </a:prstGeom>
          <a:noFill/>
        </p:spPr>
        <p:txBody>
          <a:bodyPr wrap="square" lIns="45720" rIns="45720" tIns="27432" bIns="27432" anchor="t">
            <a:spAutoFit/>
          </a:bodyPr>
          <a:lstStyle/>
          <a:p>
            <a:pPr>
              <a:spcAft>
                <a:spcPts val="1000"/>
              </a:spcAft>
            </a:pPr>
            <a:r>
              <a:rPr sz="1300" b="1" i="0">
                <a:solidFill>
                  <a:srgbClr val="000000"/>
                </a:solidFill>
                <a:latin typeface="Tenorite"/>
              </a:rPr>
              <a:t>Why these cut-offs: </a:t>
            </a:r>
            <a:r>
              <a:rPr sz="1300" b="0" i="0">
                <a:solidFill>
                  <a:srgbClr val="000000"/>
                </a:solidFill>
                <a:latin typeface="Tenorite"/>
              </a:rPr>
              <a:t>BMI uses the standard WHO bands. Age groups split the 18–64 range into three similar-sized groups, so each average is based on enough customers.</a:t>
            </a:r>
          </a:p>
          <a:p>
            <a:pPr>
              <a:spcAft>
                <a:spcPts val="1000"/>
              </a:spcAft>
            </a:pPr>
            <a:r>
              <a:rPr sz="1300" b="1" i="0">
                <a:solidFill>
                  <a:srgbClr val="000000"/>
                </a:solidFill>
                <a:latin typeface="Tenorite"/>
              </a:rPr>
              <a:t>What they show: </a:t>
            </a:r>
            <a:r>
              <a:rPr sz="1300" b="0" i="0">
                <a:solidFill>
                  <a:srgbClr val="000000"/>
                </a:solidFill>
                <a:latin typeface="Tenorite"/>
              </a:rPr>
              <a:t>over half of customers (53%) are obese, and the average charge nearly doubles from the youngest to the oldest group.</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5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9E7E9F-61C8-E1FD-7352-7628F4821A15}"/>
              </a:ext>
            </a:extLst>
          </p:cNvPr>
          <p:cNvSpPr txBox="1">
            <a:spLocks noGrp="1"/>
          </p:cNvSpPr>
          <p:nvPr>
            <p:ph type="title"/>
          </p:nvPr>
        </p:nvSpPr>
        <p:spPr>
          <a:xfrm>
            <a:off x="1325880" y="182880"/>
            <a:ext cx="7863840" cy="1188720"/>
          </a:xfrm>
        </p:spPr>
        <p:txBody>
          <a:bodyPr anchor="b"/>
          <a:lstStyle/>
          <a:p>
            <a:pPr lvl="0"/>
            <a:r>
              <a:rPr sz="2600"/>
              <a:t>Analysis approach</a:t>
            </a:r>
            <a:endParaRPr lang="en-US"/>
          </a:p>
        </p:txBody>
      </p:sp>
      <p:sp>
        <p:nvSpPr>
          <p:cNvPr id="4" name="Slide Number Placeholder 5">
            <a:extLst>
              <a:ext uri="{FF2B5EF4-FFF2-40B4-BE49-F238E27FC236}">
                <a16:creationId xmlns:a16="http://schemas.microsoft.com/office/drawing/2014/main" id="{72791B93-0D17-69EC-9585-9E5CDE4D62A3}"/>
              </a:ext>
            </a:extLst>
          </p:cNvPr>
          <p:cNvSpPr txBox="1"/>
          <p:nvPr/>
        </p:nvSpPr>
        <p:spPr>
          <a:xfrm>
            <a:off x="10373346" y="6356351"/>
            <a:ext cx="987552" cy="365129"/>
          </a:xfrm>
          <a:prstGeom prst="rect">
            <a:avLst/>
          </a:prstGeom>
          <a:noFill/>
          <a:ln cap="flat">
            <a:noFill/>
          </a:ln>
        </p:spPr>
        <p:txBody>
          <a:bodyPr vert="horz" wrap="square" lIns="91440" tIns="45720" rIns="91440" bIns="45720" anchor="ctr" anchorCtr="0" compatLnSpc="1">
            <a:noAutofit/>
          </a:bodyPr>
          <a:lstStyle/>
          <a:p>
            <a:pPr marL="0" marR="0" lvl="0" indent="0" algn="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fld id="{2EB4A871-383C-4939-9D5A-9A1EF3334CEA}" type="slidenum">
              <a:rPr lang="en-US" sz="1200"/>
              <a:t>6</a:t>
            </a:fld>
            <a:endParaRPr lang="en-US" sz="900" b="0" i="0" u="none" strike="noStrike" kern="1200" cap="none" spc="0" baseline="0">
              <a:solidFill>
                <a:srgbClr val="898989"/>
              </a:solidFill>
              <a:uFillTx/>
              <a:latin typeface="Tenorite"/>
            </a:endParaRPr>
          </a:p>
        </p:txBody>
      </p:sp>
      <p:sp>
        <p:nvSpPr>
          <p:cNvPr id="5" name="Oval 4"/>
          <p:cNvSpPr/>
          <p:nvPr/>
        </p:nvSpPr>
        <p:spPr>
          <a:xfrm>
            <a:off x="914400" y="1627632"/>
            <a:ext cx="438912" cy="438912"/>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27632"/>
            <a:ext cx="438912" cy="438912"/>
          </a:xfrm>
          <a:prstGeom prst="rect">
            <a:avLst/>
          </a:prstGeom>
          <a:noFill/>
        </p:spPr>
        <p:txBody>
          <a:bodyPr wrap="square" lIns="0" rIns="0" tIns="27432" bIns="27432" anchor="ctr">
            <a:spAutoFit/>
          </a:bodyPr>
          <a:lstStyle/>
          <a:p>
            <a:pPr algn="ctr">
              <a:spcAft>
                <a:spcPts val="0"/>
              </a:spcAft>
            </a:pPr>
            <a:r>
              <a:rPr sz="1400" b="1" i="0">
                <a:solidFill>
                  <a:srgbClr val="FFFFFF"/>
                </a:solidFill>
                <a:latin typeface="Tenorite"/>
              </a:rPr>
              <a:t>1</a:t>
            </a:r>
          </a:p>
        </p:txBody>
      </p:sp>
      <p:sp>
        <p:nvSpPr>
          <p:cNvPr id="7" name="TextBox 6"/>
          <p:cNvSpPr txBox="1"/>
          <p:nvPr/>
        </p:nvSpPr>
        <p:spPr>
          <a:xfrm>
            <a:off x="1554480" y="1572768"/>
            <a:ext cx="1463040" cy="548640"/>
          </a:xfrm>
          <a:prstGeom prst="rect">
            <a:avLst/>
          </a:prstGeom>
          <a:noFill/>
        </p:spPr>
        <p:txBody>
          <a:bodyPr wrap="square" lIns="45720" rIns="45720" tIns="27432" bIns="27432" anchor="ctr">
            <a:spAutoFit/>
          </a:bodyPr>
          <a:lstStyle/>
          <a:p>
            <a:pPr>
              <a:spcAft>
                <a:spcPts val="0"/>
              </a:spcAft>
            </a:pPr>
            <a:r>
              <a:rPr sz="1500" b="1" i="0">
                <a:solidFill>
                  <a:srgbClr val="000000"/>
                </a:solidFill>
                <a:latin typeface="Tenorite"/>
              </a:rPr>
              <a:t>Inspect</a:t>
            </a:r>
          </a:p>
        </p:txBody>
      </p:sp>
      <p:sp>
        <p:nvSpPr>
          <p:cNvPr id="8" name="TextBox 7"/>
          <p:cNvSpPr txBox="1"/>
          <p:nvPr/>
        </p:nvSpPr>
        <p:spPr>
          <a:xfrm>
            <a:off x="3017520" y="1572768"/>
            <a:ext cx="5852160" cy="548640"/>
          </a:xfrm>
          <a:prstGeom prst="rect">
            <a:avLst/>
          </a:prstGeom>
          <a:noFill/>
        </p:spPr>
        <p:txBody>
          <a:bodyPr wrap="square" lIns="45720" rIns="45720" tIns="27432" bIns="27432" anchor="ctr">
            <a:spAutoFit/>
          </a:bodyPr>
          <a:lstStyle/>
          <a:p>
            <a:pPr>
              <a:spcAft>
                <a:spcPts val="0"/>
              </a:spcAft>
            </a:pPr>
            <a:r>
              <a:rPr sz="1300" b="0" i="0">
                <a:solidFill>
                  <a:srgbClr val="595959"/>
                </a:solidFill>
                <a:latin typeface="Tenorite"/>
              </a:rPr>
              <a:t>Loaded the CSV with Pandas; used .head(), .info(), .shape, .describe()</a:t>
            </a:r>
          </a:p>
        </p:txBody>
      </p:sp>
      <p:sp>
        <p:nvSpPr>
          <p:cNvPr id="9" name="Oval 8"/>
          <p:cNvSpPr/>
          <p:nvPr/>
        </p:nvSpPr>
        <p:spPr>
          <a:xfrm>
            <a:off x="914400" y="2267712"/>
            <a:ext cx="438912" cy="438912"/>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267712"/>
            <a:ext cx="438912" cy="438912"/>
          </a:xfrm>
          <a:prstGeom prst="rect">
            <a:avLst/>
          </a:prstGeom>
          <a:noFill/>
        </p:spPr>
        <p:txBody>
          <a:bodyPr wrap="square" lIns="0" rIns="0" tIns="27432" bIns="27432" anchor="ctr">
            <a:spAutoFit/>
          </a:bodyPr>
          <a:lstStyle/>
          <a:p>
            <a:pPr algn="ctr">
              <a:spcAft>
                <a:spcPts val="0"/>
              </a:spcAft>
            </a:pPr>
            <a:r>
              <a:rPr sz="1400" b="1" i="0">
                <a:solidFill>
                  <a:srgbClr val="FFFFFF"/>
                </a:solidFill>
                <a:latin typeface="Tenorite"/>
              </a:rPr>
              <a:t>2</a:t>
            </a:r>
          </a:p>
        </p:txBody>
      </p:sp>
      <p:sp>
        <p:nvSpPr>
          <p:cNvPr id="11" name="TextBox 10"/>
          <p:cNvSpPr txBox="1"/>
          <p:nvPr/>
        </p:nvSpPr>
        <p:spPr>
          <a:xfrm>
            <a:off x="1554480" y="2212848"/>
            <a:ext cx="1463040" cy="548640"/>
          </a:xfrm>
          <a:prstGeom prst="rect">
            <a:avLst/>
          </a:prstGeom>
          <a:noFill/>
        </p:spPr>
        <p:txBody>
          <a:bodyPr wrap="square" lIns="45720" rIns="45720" tIns="27432" bIns="27432" anchor="ctr">
            <a:spAutoFit/>
          </a:bodyPr>
          <a:lstStyle/>
          <a:p>
            <a:pPr>
              <a:spcAft>
                <a:spcPts val="0"/>
              </a:spcAft>
            </a:pPr>
            <a:r>
              <a:rPr sz="1500" b="1" i="0">
                <a:solidFill>
                  <a:srgbClr val="000000"/>
                </a:solidFill>
                <a:latin typeface="Tenorite"/>
              </a:rPr>
              <a:t>Clean</a:t>
            </a:r>
          </a:p>
        </p:txBody>
      </p:sp>
      <p:sp>
        <p:nvSpPr>
          <p:cNvPr id="12" name="TextBox 11"/>
          <p:cNvSpPr txBox="1"/>
          <p:nvPr/>
        </p:nvSpPr>
        <p:spPr>
          <a:xfrm>
            <a:off x="3017520" y="2212848"/>
            <a:ext cx="5852160" cy="548640"/>
          </a:xfrm>
          <a:prstGeom prst="rect">
            <a:avLst/>
          </a:prstGeom>
          <a:noFill/>
        </p:spPr>
        <p:txBody>
          <a:bodyPr wrap="square" lIns="45720" rIns="45720" tIns="27432" bIns="27432" anchor="ctr">
            <a:spAutoFit/>
          </a:bodyPr>
          <a:lstStyle/>
          <a:p>
            <a:pPr>
              <a:spcAft>
                <a:spcPts val="0"/>
              </a:spcAft>
            </a:pPr>
            <a:r>
              <a:rPr sz="1300" b="0" i="0">
                <a:solidFill>
                  <a:srgbClr val="595959"/>
                </a:solidFill>
                <a:latin typeface="Tenorite"/>
              </a:rPr>
              <a:t>Checked missing values and duplicates; fixed data types</a:t>
            </a:r>
          </a:p>
        </p:txBody>
      </p:sp>
      <p:sp>
        <p:nvSpPr>
          <p:cNvPr id="13" name="Oval 12"/>
          <p:cNvSpPr/>
          <p:nvPr/>
        </p:nvSpPr>
        <p:spPr>
          <a:xfrm>
            <a:off x="914400" y="2907792"/>
            <a:ext cx="438912" cy="438912"/>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2907792"/>
            <a:ext cx="438912" cy="438912"/>
          </a:xfrm>
          <a:prstGeom prst="rect">
            <a:avLst/>
          </a:prstGeom>
          <a:noFill/>
        </p:spPr>
        <p:txBody>
          <a:bodyPr wrap="square" lIns="0" rIns="0" tIns="27432" bIns="27432" anchor="ctr">
            <a:spAutoFit/>
          </a:bodyPr>
          <a:lstStyle/>
          <a:p>
            <a:pPr algn="ctr">
              <a:spcAft>
                <a:spcPts val="0"/>
              </a:spcAft>
            </a:pPr>
            <a:r>
              <a:rPr sz="1400" b="1" i="0">
                <a:solidFill>
                  <a:srgbClr val="FFFFFF"/>
                </a:solidFill>
                <a:latin typeface="Tenorite"/>
              </a:rPr>
              <a:t>3</a:t>
            </a:r>
          </a:p>
        </p:txBody>
      </p:sp>
      <p:sp>
        <p:nvSpPr>
          <p:cNvPr id="15" name="TextBox 14"/>
          <p:cNvSpPr txBox="1"/>
          <p:nvPr/>
        </p:nvSpPr>
        <p:spPr>
          <a:xfrm>
            <a:off x="1554480" y="2852928"/>
            <a:ext cx="1463040" cy="548640"/>
          </a:xfrm>
          <a:prstGeom prst="rect">
            <a:avLst/>
          </a:prstGeom>
          <a:noFill/>
        </p:spPr>
        <p:txBody>
          <a:bodyPr wrap="square" lIns="45720" rIns="45720" tIns="27432" bIns="27432" anchor="ctr">
            <a:spAutoFit/>
          </a:bodyPr>
          <a:lstStyle/>
          <a:p>
            <a:pPr>
              <a:spcAft>
                <a:spcPts val="0"/>
              </a:spcAft>
            </a:pPr>
            <a:r>
              <a:rPr sz="1500" b="1" i="0">
                <a:solidFill>
                  <a:srgbClr val="000000"/>
                </a:solidFill>
                <a:latin typeface="Tenorite"/>
              </a:rPr>
              <a:t>Explore</a:t>
            </a:r>
          </a:p>
        </p:txBody>
      </p:sp>
      <p:sp>
        <p:nvSpPr>
          <p:cNvPr id="16" name="TextBox 15"/>
          <p:cNvSpPr txBox="1"/>
          <p:nvPr/>
        </p:nvSpPr>
        <p:spPr>
          <a:xfrm>
            <a:off x="3017520" y="2852928"/>
            <a:ext cx="5852160" cy="548640"/>
          </a:xfrm>
          <a:prstGeom prst="rect">
            <a:avLst/>
          </a:prstGeom>
          <a:noFill/>
        </p:spPr>
        <p:txBody>
          <a:bodyPr wrap="square" lIns="45720" rIns="45720" tIns="27432" bIns="27432" anchor="ctr">
            <a:spAutoFit/>
          </a:bodyPr>
          <a:lstStyle/>
          <a:p>
            <a:pPr>
              <a:spcAft>
                <a:spcPts val="0"/>
              </a:spcAft>
            </a:pPr>
            <a:r>
              <a:rPr sz="1300" b="0" i="0">
                <a:solidFill>
                  <a:srgbClr val="595959"/>
                </a:solidFill>
                <a:latin typeface="Tenorite"/>
              </a:rPr>
              <a:t>Average, median, min and max charges; groupby by smoker, sex, region, children</a:t>
            </a:r>
          </a:p>
        </p:txBody>
      </p:sp>
      <p:sp>
        <p:nvSpPr>
          <p:cNvPr id="17" name="Oval 16"/>
          <p:cNvSpPr/>
          <p:nvPr/>
        </p:nvSpPr>
        <p:spPr>
          <a:xfrm>
            <a:off x="914400" y="3547871"/>
            <a:ext cx="438912" cy="438912"/>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3547871"/>
            <a:ext cx="438912" cy="438912"/>
          </a:xfrm>
          <a:prstGeom prst="rect">
            <a:avLst/>
          </a:prstGeom>
          <a:noFill/>
        </p:spPr>
        <p:txBody>
          <a:bodyPr wrap="square" lIns="0" rIns="0" tIns="27432" bIns="27432" anchor="ctr">
            <a:spAutoFit/>
          </a:bodyPr>
          <a:lstStyle/>
          <a:p>
            <a:pPr algn="ctr">
              <a:spcAft>
                <a:spcPts val="0"/>
              </a:spcAft>
            </a:pPr>
            <a:r>
              <a:rPr sz="1400" b="1" i="0">
                <a:solidFill>
                  <a:srgbClr val="FFFFFF"/>
                </a:solidFill>
                <a:latin typeface="Tenorite"/>
              </a:rPr>
              <a:t>4</a:t>
            </a:r>
          </a:p>
        </p:txBody>
      </p:sp>
      <p:sp>
        <p:nvSpPr>
          <p:cNvPr id="19" name="TextBox 18"/>
          <p:cNvSpPr txBox="1"/>
          <p:nvPr/>
        </p:nvSpPr>
        <p:spPr>
          <a:xfrm>
            <a:off x="1554480" y="3493007"/>
            <a:ext cx="1463040" cy="548640"/>
          </a:xfrm>
          <a:prstGeom prst="rect">
            <a:avLst/>
          </a:prstGeom>
          <a:noFill/>
        </p:spPr>
        <p:txBody>
          <a:bodyPr wrap="square" lIns="45720" rIns="45720" tIns="27432" bIns="27432" anchor="ctr">
            <a:spAutoFit/>
          </a:bodyPr>
          <a:lstStyle/>
          <a:p>
            <a:pPr>
              <a:spcAft>
                <a:spcPts val="0"/>
              </a:spcAft>
            </a:pPr>
            <a:r>
              <a:rPr sz="1500" b="1" i="0">
                <a:solidFill>
                  <a:srgbClr val="000000"/>
                </a:solidFill>
                <a:latin typeface="Tenorite"/>
              </a:rPr>
              <a:t>Transform</a:t>
            </a:r>
          </a:p>
        </p:txBody>
      </p:sp>
      <p:sp>
        <p:nvSpPr>
          <p:cNvPr id="20" name="TextBox 19"/>
          <p:cNvSpPr txBox="1"/>
          <p:nvPr/>
        </p:nvSpPr>
        <p:spPr>
          <a:xfrm>
            <a:off x="3017520" y="3493007"/>
            <a:ext cx="5852160" cy="548640"/>
          </a:xfrm>
          <a:prstGeom prst="rect">
            <a:avLst/>
          </a:prstGeom>
          <a:noFill/>
        </p:spPr>
        <p:txBody>
          <a:bodyPr wrap="square" lIns="45720" rIns="45720" tIns="27432" bIns="27432" anchor="ctr">
            <a:spAutoFit/>
          </a:bodyPr>
          <a:lstStyle/>
          <a:p>
            <a:pPr>
              <a:spcAft>
                <a:spcPts val="0"/>
              </a:spcAft>
            </a:pPr>
            <a:r>
              <a:rPr sz="1300" b="0" i="0">
                <a:solidFill>
                  <a:srgbClr val="595959"/>
                </a:solidFill>
                <a:latin typeface="Tenorite"/>
              </a:rPr>
              <a:t>Created bmi_category and age_group with pd.cut()</a:t>
            </a:r>
          </a:p>
        </p:txBody>
      </p:sp>
      <p:sp>
        <p:nvSpPr>
          <p:cNvPr id="21" name="Oval 20"/>
          <p:cNvSpPr/>
          <p:nvPr/>
        </p:nvSpPr>
        <p:spPr>
          <a:xfrm>
            <a:off x="914400" y="4187951"/>
            <a:ext cx="438912" cy="438912"/>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4400" y="4187951"/>
            <a:ext cx="438912" cy="438912"/>
          </a:xfrm>
          <a:prstGeom prst="rect">
            <a:avLst/>
          </a:prstGeom>
          <a:noFill/>
        </p:spPr>
        <p:txBody>
          <a:bodyPr wrap="square" lIns="0" rIns="0" tIns="27432" bIns="27432" anchor="ctr">
            <a:spAutoFit/>
          </a:bodyPr>
          <a:lstStyle/>
          <a:p>
            <a:pPr algn="ctr">
              <a:spcAft>
                <a:spcPts val="0"/>
              </a:spcAft>
            </a:pPr>
            <a:r>
              <a:rPr sz="1400" b="1" i="0">
                <a:solidFill>
                  <a:srgbClr val="FFFFFF"/>
                </a:solidFill>
                <a:latin typeface="Tenorite"/>
              </a:rPr>
              <a:t>5</a:t>
            </a:r>
          </a:p>
        </p:txBody>
      </p:sp>
      <p:sp>
        <p:nvSpPr>
          <p:cNvPr id="23" name="TextBox 22"/>
          <p:cNvSpPr txBox="1"/>
          <p:nvPr/>
        </p:nvSpPr>
        <p:spPr>
          <a:xfrm>
            <a:off x="1554480" y="4133087"/>
            <a:ext cx="1463040" cy="548640"/>
          </a:xfrm>
          <a:prstGeom prst="rect">
            <a:avLst/>
          </a:prstGeom>
          <a:noFill/>
        </p:spPr>
        <p:txBody>
          <a:bodyPr wrap="square" lIns="45720" rIns="45720" tIns="27432" bIns="27432" anchor="ctr">
            <a:spAutoFit/>
          </a:bodyPr>
          <a:lstStyle/>
          <a:p>
            <a:pPr>
              <a:spcAft>
                <a:spcPts val="0"/>
              </a:spcAft>
            </a:pPr>
            <a:r>
              <a:rPr sz="1500" b="1" i="0">
                <a:solidFill>
                  <a:srgbClr val="000000"/>
                </a:solidFill>
                <a:latin typeface="Tenorite"/>
              </a:rPr>
              <a:t>Matplotlib</a:t>
            </a:r>
          </a:p>
        </p:txBody>
      </p:sp>
      <p:sp>
        <p:nvSpPr>
          <p:cNvPr id="24" name="TextBox 23"/>
          <p:cNvSpPr txBox="1"/>
          <p:nvPr/>
        </p:nvSpPr>
        <p:spPr>
          <a:xfrm>
            <a:off x="3017520" y="4133087"/>
            <a:ext cx="5852160" cy="548640"/>
          </a:xfrm>
          <a:prstGeom prst="rect">
            <a:avLst/>
          </a:prstGeom>
          <a:noFill/>
        </p:spPr>
        <p:txBody>
          <a:bodyPr wrap="square" lIns="45720" rIns="45720" tIns="27432" bIns="27432" anchor="ctr">
            <a:spAutoFit/>
          </a:bodyPr>
          <a:lstStyle/>
          <a:p>
            <a:pPr>
              <a:spcAft>
                <a:spcPts val="0"/>
              </a:spcAft>
            </a:pPr>
            <a:r>
              <a:rPr sz="1300" b="0" i="0">
                <a:solidFill>
                  <a:srgbClr val="595959"/>
                </a:solidFill>
                <a:latin typeface="Tenorite"/>
              </a:rPr>
              <a:t>Bar (region), line (age) and pie (smokers) charts</a:t>
            </a:r>
          </a:p>
        </p:txBody>
      </p:sp>
      <p:sp>
        <p:nvSpPr>
          <p:cNvPr id="25" name="Oval 24"/>
          <p:cNvSpPr/>
          <p:nvPr/>
        </p:nvSpPr>
        <p:spPr>
          <a:xfrm>
            <a:off x="914400" y="4828031"/>
            <a:ext cx="438912" cy="438912"/>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4400" y="4828031"/>
            <a:ext cx="438912" cy="438912"/>
          </a:xfrm>
          <a:prstGeom prst="rect">
            <a:avLst/>
          </a:prstGeom>
          <a:noFill/>
        </p:spPr>
        <p:txBody>
          <a:bodyPr wrap="square" lIns="0" rIns="0" tIns="27432" bIns="27432" anchor="ctr">
            <a:spAutoFit/>
          </a:bodyPr>
          <a:lstStyle/>
          <a:p>
            <a:pPr algn="ctr">
              <a:spcAft>
                <a:spcPts val="0"/>
              </a:spcAft>
            </a:pPr>
            <a:r>
              <a:rPr sz="1400" b="1" i="0">
                <a:solidFill>
                  <a:srgbClr val="FFFFFF"/>
                </a:solidFill>
                <a:latin typeface="Tenorite"/>
              </a:rPr>
              <a:t>6</a:t>
            </a:r>
          </a:p>
        </p:txBody>
      </p:sp>
      <p:sp>
        <p:nvSpPr>
          <p:cNvPr id="27" name="TextBox 26"/>
          <p:cNvSpPr txBox="1"/>
          <p:nvPr/>
        </p:nvSpPr>
        <p:spPr>
          <a:xfrm>
            <a:off x="1554480" y="4773168"/>
            <a:ext cx="1463040" cy="548640"/>
          </a:xfrm>
          <a:prstGeom prst="rect">
            <a:avLst/>
          </a:prstGeom>
          <a:noFill/>
        </p:spPr>
        <p:txBody>
          <a:bodyPr wrap="square" lIns="45720" rIns="45720" tIns="27432" bIns="27432" anchor="ctr">
            <a:spAutoFit/>
          </a:bodyPr>
          <a:lstStyle/>
          <a:p>
            <a:pPr>
              <a:spcAft>
                <a:spcPts val="0"/>
              </a:spcAft>
            </a:pPr>
            <a:r>
              <a:rPr sz="1500" b="1" i="0">
                <a:solidFill>
                  <a:srgbClr val="000000"/>
                </a:solidFill>
                <a:latin typeface="Tenorite"/>
              </a:rPr>
              <a:t>Seaborn</a:t>
            </a:r>
          </a:p>
        </p:txBody>
      </p:sp>
      <p:sp>
        <p:nvSpPr>
          <p:cNvPr id="28" name="TextBox 27"/>
          <p:cNvSpPr txBox="1"/>
          <p:nvPr/>
        </p:nvSpPr>
        <p:spPr>
          <a:xfrm>
            <a:off x="3017520" y="4773168"/>
            <a:ext cx="5852160" cy="548640"/>
          </a:xfrm>
          <a:prstGeom prst="rect">
            <a:avLst/>
          </a:prstGeom>
          <a:noFill/>
        </p:spPr>
        <p:txBody>
          <a:bodyPr wrap="square" lIns="45720" rIns="45720" tIns="27432" bIns="27432" anchor="ctr">
            <a:spAutoFit/>
          </a:bodyPr>
          <a:lstStyle/>
          <a:p>
            <a:pPr>
              <a:spcAft>
                <a:spcPts val="0"/>
              </a:spcAft>
            </a:pPr>
            <a:r>
              <a:rPr sz="1300" b="0" i="0">
                <a:solidFill>
                  <a:srgbClr val="595959"/>
                </a:solidFill>
                <a:latin typeface="Tenorite"/>
              </a:rPr>
              <a:t>Histogram, boxplot, scatter plot and correlation heatmap</a:t>
            </a:r>
          </a:p>
        </p:txBody>
      </p:sp>
      <p:sp>
        <p:nvSpPr>
          <p:cNvPr id="29" name="Oval 28"/>
          <p:cNvSpPr/>
          <p:nvPr/>
        </p:nvSpPr>
        <p:spPr>
          <a:xfrm>
            <a:off x="914400" y="5468111"/>
            <a:ext cx="438912" cy="438912"/>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14400" y="5468111"/>
            <a:ext cx="438912" cy="438912"/>
          </a:xfrm>
          <a:prstGeom prst="rect">
            <a:avLst/>
          </a:prstGeom>
          <a:noFill/>
        </p:spPr>
        <p:txBody>
          <a:bodyPr wrap="square" lIns="0" rIns="0" tIns="27432" bIns="27432" anchor="ctr">
            <a:spAutoFit/>
          </a:bodyPr>
          <a:lstStyle/>
          <a:p>
            <a:pPr algn="ctr">
              <a:spcAft>
                <a:spcPts val="0"/>
              </a:spcAft>
            </a:pPr>
            <a:r>
              <a:rPr sz="1400" b="1" i="0">
                <a:solidFill>
                  <a:srgbClr val="FFFFFF"/>
                </a:solidFill>
                <a:latin typeface="Tenorite"/>
              </a:rPr>
              <a:t>7</a:t>
            </a:r>
          </a:p>
        </p:txBody>
      </p:sp>
      <p:sp>
        <p:nvSpPr>
          <p:cNvPr id="31" name="TextBox 30"/>
          <p:cNvSpPr txBox="1"/>
          <p:nvPr/>
        </p:nvSpPr>
        <p:spPr>
          <a:xfrm>
            <a:off x="1554480" y="5413247"/>
            <a:ext cx="1463040" cy="548640"/>
          </a:xfrm>
          <a:prstGeom prst="rect">
            <a:avLst/>
          </a:prstGeom>
          <a:noFill/>
        </p:spPr>
        <p:txBody>
          <a:bodyPr wrap="square" lIns="45720" rIns="45720" tIns="27432" bIns="27432" anchor="ctr">
            <a:spAutoFit/>
          </a:bodyPr>
          <a:lstStyle/>
          <a:p>
            <a:pPr>
              <a:spcAft>
                <a:spcPts val="0"/>
              </a:spcAft>
            </a:pPr>
            <a:r>
              <a:rPr sz="1500" b="1" i="0">
                <a:solidFill>
                  <a:srgbClr val="000000"/>
                </a:solidFill>
                <a:latin typeface="Tenorite"/>
              </a:rPr>
              <a:t>Insights</a:t>
            </a:r>
          </a:p>
        </p:txBody>
      </p:sp>
      <p:sp>
        <p:nvSpPr>
          <p:cNvPr id="32" name="TextBox 31"/>
          <p:cNvSpPr txBox="1"/>
          <p:nvPr/>
        </p:nvSpPr>
        <p:spPr>
          <a:xfrm>
            <a:off x="3017520" y="5413247"/>
            <a:ext cx="5852160" cy="548640"/>
          </a:xfrm>
          <a:prstGeom prst="rect">
            <a:avLst/>
          </a:prstGeom>
          <a:noFill/>
        </p:spPr>
        <p:txBody>
          <a:bodyPr wrap="square" lIns="45720" rIns="45720" tIns="27432" bIns="27432" anchor="ctr">
            <a:spAutoFit/>
          </a:bodyPr>
          <a:lstStyle/>
          <a:p>
            <a:pPr>
              <a:spcAft>
                <a:spcPts val="0"/>
              </a:spcAft>
            </a:pPr>
            <a:r>
              <a:rPr sz="1300" b="0" i="0">
                <a:solidFill>
                  <a:srgbClr val="595959"/>
                </a:solidFill>
                <a:latin typeface="Tenorite"/>
              </a:rPr>
              <a:t>Summarised the main drivers and turned them into recommendations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30">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FC73766E-3A12-0345-86FC-A993660530CD}"/>
              </a:ext>
            </a:extLst>
          </p:cNvPr>
          <p:cNvSpPr txBox="1">
            <a:spLocks noGrp="1"/>
          </p:cNvSpPr>
          <p:nvPr>
            <p:ph type="title"/>
          </p:nvPr>
        </p:nvSpPr>
        <p:spPr>
          <a:xfrm>
            <a:off x="838203" y="264234"/>
            <a:ext cx="10367677" cy="662784"/>
          </a:xfrm>
        </p:spPr>
        <p:txBody>
          <a:bodyPr/>
          <a:lstStyle/>
          <a:p>
            <a:pPr lvl="0"/>
            <a:r>
              <a:rPr lang="en-GB"/>
              <a:t>View the first 5 rows</a:t>
            </a:r>
          </a:p>
        </p:txBody>
      </p:sp>
      <p:graphicFrame>
        <p:nvGraphicFramePr>
          <p:cNvPr id="3" name="Table Placeholder 2">
            <a:extLst>
              <a:ext uri="{FF2B5EF4-FFF2-40B4-BE49-F238E27FC236}">
                <a16:creationId xmlns:a16="http://schemas.microsoft.com/office/drawing/2014/main" id="{F12734B9-A636-5A68-BC43-3D66C8B29B6C}"/>
              </a:ext>
            </a:extLst>
          </p:cNvPr>
          <p:cNvGraphicFramePr>
            <a:graphicFrameLocks noGrp="1"/>
          </p:cNvGraphicFramePr>
          <p:nvPr>
            <p:ph type="tbl" idx="4294967295"/>
            <p:extLst>
              <p:ext uri="{D42A27DB-BD31-4B8C-83A1-F6EECF244321}">
                <p14:modId xmlns:p14="http://schemas.microsoft.com/office/powerpoint/2010/main" val="1040637496"/>
              </p:ext>
            </p:extLst>
          </p:nvPr>
        </p:nvGraphicFramePr>
        <p:xfrm>
          <a:off x="838203" y="1187805"/>
          <a:ext cx="9537192" cy="3570967"/>
        </p:xfrm>
        <a:graphic>
          <a:graphicData uri="http://schemas.openxmlformats.org/drawingml/2006/table">
            <a:tbl>
              <a:tblPr firstRow="1" bandRow="1">
                <a:effectLst/>
                <a:tableStyleId>{7E9639D4-E3E2-4D34-9284-5A2195B3D0D7}</a:tableStyleId>
              </a:tblPr>
              <a:tblGrid>
                <a:gridCol w="548640">
                  <a:extLst>
                    <a:ext uri="{9D8B030D-6E8A-4147-A177-3AD203B41FA5}">
                      <a16:colId xmlns:a16="http://schemas.microsoft.com/office/drawing/2014/main" val="1546645412"/>
                    </a:ext>
                  </a:extLst>
                </a:gridCol>
                <a:gridCol w="822960">
                  <a:extLst>
                    <a:ext uri="{9D8B030D-6E8A-4147-A177-3AD203B41FA5}">
                      <a16:colId xmlns:a16="http://schemas.microsoft.com/office/drawing/2014/main" val="4082746883"/>
                    </a:ext>
                  </a:extLst>
                </a:gridCol>
                <a:gridCol w="1097280">
                  <a:extLst>
                    <a:ext uri="{9D8B030D-6E8A-4147-A177-3AD203B41FA5}">
                      <a16:colId xmlns:a16="http://schemas.microsoft.com/office/drawing/2014/main" val="3060038689"/>
                    </a:ext>
                  </a:extLst>
                </a:gridCol>
                <a:gridCol w="1097280">
                  <a:extLst>
                    <a:ext uri="{9D8B030D-6E8A-4147-A177-3AD203B41FA5}">
                      <a16:colId xmlns:a16="http://schemas.microsoft.com/office/drawing/2014/main" val="1908345113"/>
                    </a:ext>
                  </a:extLst>
                </a:gridCol>
                <a:gridCol w="1280160">
                  <a:extLst>
                    <a:ext uri="{9D8B030D-6E8A-4147-A177-3AD203B41FA5}">
                      <a16:colId xmlns:a16="http://schemas.microsoft.com/office/drawing/2014/main" val="3678104846"/>
                    </a:ext>
                  </a:extLst>
                </a:gridCol>
                <a:gridCol w="1188720">
                  <a:extLst>
                    <a:ext uri="{9D8B030D-6E8A-4147-A177-3AD203B41FA5}">
                      <a16:colId xmlns:a16="http://schemas.microsoft.com/office/drawing/2014/main" val="2201065318"/>
                    </a:ext>
                  </a:extLst>
                </a:gridCol>
                <a:gridCol w="1463040">
                  <a:extLst>
                    <a:ext uri="{9D8B030D-6E8A-4147-A177-3AD203B41FA5}">
                      <a16:colId xmlns:a16="http://schemas.microsoft.com/office/drawing/2014/main" val="4182594093"/>
                    </a:ext>
                  </a:extLst>
                </a:gridCol>
                <a:gridCol w="2039112">
                  <a:extLst>
                    <a:ext uri="{9D8B030D-6E8A-4147-A177-3AD203B41FA5}">
                      <a16:colId xmlns:a16="http://schemas.microsoft.com/office/drawing/2014/main" val="591465159"/>
                    </a:ext>
                  </a:extLst>
                </a:gridCol>
              </a:tblGrid>
              <a:tr h="733348">
                <a:tc>
                  <a:txBody>
                    <a:bodyPr/>
                    <a:lstStyle/>
                    <a:p>
                      <a:pPr lvl="0" algn="ctr"/>
                      <a:endParaRPr lang="en-US" b="0"/>
                    </a:p>
                  </a:txBody>
                  <a:tcPr anchor="ctr"/>
                </a:tc>
                <a:tc>
                  <a:txBody>
                    <a:bodyPr/>
                    <a:lstStyle/>
                    <a:p>
                      <a:pPr lvl="0" algn="r">
                        <a:buNone/>
                      </a:pPr>
                      <a:r>
                        <a:rPr lang="en-US" b="1"/>
                        <a:t>age</a:t>
                      </a:r>
                    </a:p>
                  </a:txBody>
                  <a:tcPr anchor="ctr"/>
                </a:tc>
                <a:tc>
                  <a:txBody>
                    <a:bodyPr/>
                    <a:lstStyle/>
                    <a:p>
                      <a:pPr lvl="0" algn="r">
                        <a:buNone/>
                      </a:pPr>
                      <a:r>
                        <a:rPr lang="en-US" b="1"/>
                        <a:t>sex</a:t>
                      </a:r>
                    </a:p>
                  </a:txBody>
                  <a:tcPr anchor="ctr"/>
                </a:tc>
                <a:tc>
                  <a:txBody>
                    <a:bodyPr/>
                    <a:lstStyle/>
                    <a:p>
                      <a:pPr lvl="0" algn="r">
                        <a:buNone/>
                      </a:pPr>
                      <a:r>
                        <a:rPr lang="en-US" b="1"/>
                        <a:t>bmi</a:t>
                      </a:r>
                    </a:p>
                  </a:txBody>
                  <a:tcPr anchor="ctr"/>
                </a:tc>
                <a:tc>
                  <a:txBody>
                    <a:bodyPr/>
                    <a:lstStyle/>
                    <a:p>
                      <a:pPr lvl="0" algn="r">
                        <a:buNone/>
                      </a:pPr>
                      <a:r>
                        <a:rPr lang="en-US" b="1"/>
                        <a:t>children</a:t>
                      </a:r>
                    </a:p>
                  </a:txBody>
                  <a:tcPr anchor="ctr"/>
                </a:tc>
                <a:tc>
                  <a:txBody>
                    <a:bodyPr/>
                    <a:lstStyle/>
                    <a:p>
                      <a:pPr lvl="0" algn="r">
                        <a:buNone/>
                      </a:pPr>
                      <a:r>
                        <a:rPr lang="en-US" b="1"/>
                        <a:t>smoker</a:t>
                      </a:r>
                    </a:p>
                  </a:txBody>
                  <a:tcPr anchor="ctr"/>
                </a:tc>
                <a:tc>
                  <a:txBody>
                    <a:bodyPr/>
                    <a:lstStyle/>
                    <a:p>
                      <a:pPr lvl="0" algn="r">
                        <a:buNone/>
                      </a:pPr>
                      <a:r>
                        <a:rPr lang="en-US" b="1" dirty="0"/>
                        <a:t>region</a:t>
                      </a:r>
                    </a:p>
                  </a:txBody>
                  <a:tcPr anchor="ctr"/>
                </a:tc>
                <a:tc>
                  <a:txBody>
                    <a:bodyPr/>
                    <a:lstStyle/>
                    <a:p>
                      <a:pPr lvl="0" algn="r">
                        <a:buNone/>
                      </a:pPr>
                      <a:r>
                        <a:rPr lang="en-US" b="1"/>
                        <a:t>charges</a:t>
                      </a:r>
                    </a:p>
                  </a:txBody>
                  <a:tcPr anchor="ctr"/>
                </a:tc>
                <a:extLst>
                  <a:ext uri="{0D108BD9-81ED-4DB2-BD59-A6C34878D82A}">
                    <a16:rowId xmlns:a16="http://schemas.microsoft.com/office/drawing/2014/main" val="3337329033"/>
                  </a:ext>
                </a:extLst>
              </a:tr>
              <a:tr h="531842">
                <a:tc>
                  <a:txBody>
                    <a:bodyPr/>
                    <a:lstStyle/>
                    <a:p>
                      <a:pPr lvl="0" fontAlgn="ctr">
                        <a:buNone/>
                      </a:pPr>
                      <a:r>
                        <a:rPr lang="en-US" b="1"/>
                        <a:t>0</a:t>
                      </a:r>
                    </a:p>
                  </a:txBody>
                  <a:tcPr anchor="ctr"/>
                </a:tc>
                <a:tc>
                  <a:txBody>
                    <a:bodyPr/>
                    <a:lstStyle/>
                    <a:p>
                      <a:pPr lvl="0" algn="r">
                        <a:buNone/>
                      </a:pPr>
                      <a:r>
                        <a:rPr lang="en-US"/>
                        <a:t>19</a:t>
                      </a:r>
                    </a:p>
                  </a:txBody>
                  <a:tcPr anchor="ctr"/>
                </a:tc>
                <a:tc>
                  <a:txBody>
                    <a:bodyPr/>
                    <a:lstStyle/>
                    <a:p>
                      <a:pPr lvl="0" algn="r">
                        <a:buNone/>
                      </a:pPr>
                      <a:r>
                        <a:rPr lang="en-US"/>
                        <a:t>female</a:t>
                      </a:r>
                    </a:p>
                  </a:txBody>
                  <a:tcPr anchor="ctr"/>
                </a:tc>
                <a:tc>
                  <a:txBody>
                    <a:bodyPr/>
                    <a:lstStyle/>
                    <a:p>
                      <a:pPr lvl="0" algn="r">
                        <a:buNone/>
                      </a:pPr>
                      <a:r>
                        <a:rPr lang="en-US"/>
                        <a:t>27.900</a:t>
                      </a:r>
                    </a:p>
                  </a:txBody>
                  <a:tcPr anchor="ctr"/>
                </a:tc>
                <a:tc>
                  <a:txBody>
                    <a:bodyPr/>
                    <a:lstStyle/>
                    <a:p>
                      <a:pPr lvl="0" algn="r">
                        <a:buNone/>
                      </a:pPr>
                      <a:r>
                        <a:rPr lang="en-US"/>
                        <a:t>0</a:t>
                      </a:r>
                    </a:p>
                  </a:txBody>
                  <a:tcPr anchor="ctr"/>
                </a:tc>
                <a:tc>
                  <a:txBody>
                    <a:bodyPr/>
                    <a:lstStyle/>
                    <a:p>
                      <a:pPr lvl="0" algn="r">
                        <a:buNone/>
                      </a:pPr>
                      <a:r>
                        <a:rPr lang="en-US"/>
                        <a:t>yes</a:t>
                      </a:r>
                    </a:p>
                  </a:txBody>
                  <a:tcPr anchor="ctr"/>
                </a:tc>
                <a:tc>
                  <a:txBody>
                    <a:bodyPr/>
                    <a:lstStyle/>
                    <a:p>
                      <a:pPr lvl="0" algn="r">
                        <a:buNone/>
                      </a:pPr>
                      <a:r>
                        <a:rPr lang="en-US"/>
                        <a:t>southwest</a:t>
                      </a:r>
                    </a:p>
                  </a:txBody>
                  <a:tcPr anchor="ctr"/>
                </a:tc>
                <a:tc>
                  <a:txBody>
                    <a:bodyPr/>
                    <a:lstStyle/>
                    <a:p>
                      <a:pPr lvl="0" algn="r">
                        <a:buNone/>
                      </a:pPr>
                      <a:r>
                        <a:rPr lang="en-US"/>
                        <a:t>16884.92400</a:t>
                      </a:r>
                    </a:p>
                  </a:txBody>
                  <a:tcPr anchor="ctr"/>
                </a:tc>
                <a:extLst>
                  <a:ext uri="{0D108BD9-81ED-4DB2-BD59-A6C34878D82A}">
                    <a16:rowId xmlns:a16="http://schemas.microsoft.com/office/drawing/2014/main" val="3505106809"/>
                  </a:ext>
                </a:extLst>
              </a:tr>
              <a:tr h="531842">
                <a:tc>
                  <a:txBody>
                    <a:bodyPr/>
                    <a:lstStyle/>
                    <a:p>
                      <a:pPr lvl="0" fontAlgn="ctr">
                        <a:buNone/>
                      </a:pPr>
                      <a:r>
                        <a:rPr lang="en-US" b="1"/>
                        <a:t>1</a:t>
                      </a:r>
                    </a:p>
                  </a:txBody>
                  <a:tcPr anchor="ctr"/>
                </a:tc>
                <a:tc>
                  <a:txBody>
                    <a:bodyPr/>
                    <a:lstStyle/>
                    <a:p>
                      <a:pPr lvl="0" algn="r">
                        <a:buNone/>
                      </a:pPr>
                      <a:r>
                        <a:rPr lang="en-US"/>
                        <a:t>18</a:t>
                      </a:r>
                    </a:p>
                  </a:txBody>
                  <a:tcPr anchor="ctr"/>
                </a:tc>
                <a:tc>
                  <a:txBody>
                    <a:bodyPr/>
                    <a:lstStyle/>
                    <a:p>
                      <a:pPr lvl="0" algn="r">
                        <a:buNone/>
                      </a:pPr>
                      <a:r>
                        <a:rPr lang="en-US"/>
                        <a:t>male</a:t>
                      </a:r>
                    </a:p>
                  </a:txBody>
                  <a:tcPr anchor="ctr"/>
                </a:tc>
                <a:tc>
                  <a:txBody>
                    <a:bodyPr/>
                    <a:lstStyle/>
                    <a:p>
                      <a:pPr lvl="0" algn="r">
                        <a:buNone/>
                      </a:pPr>
                      <a:r>
                        <a:rPr lang="en-US"/>
                        <a:t>33.770</a:t>
                      </a:r>
                    </a:p>
                  </a:txBody>
                  <a:tcPr anchor="ctr"/>
                </a:tc>
                <a:tc>
                  <a:txBody>
                    <a:bodyPr/>
                    <a:lstStyle/>
                    <a:p>
                      <a:pPr lvl="0" algn="r">
                        <a:buNone/>
                      </a:pPr>
                      <a:r>
                        <a:rPr lang="en-US"/>
                        <a:t>1</a:t>
                      </a:r>
                    </a:p>
                  </a:txBody>
                  <a:tcPr anchor="ctr"/>
                </a:tc>
                <a:tc>
                  <a:txBody>
                    <a:bodyPr/>
                    <a:lstStyle/>
                    <a:p>
                      <a:pPr lvl="0" algn="r">
                        <a:buNone/>
                      </a:pPr>
                      <a:r>
                        <a:rPr lang="en-US"/>
                        <a:t>no</a:t>
                      </a:r>
                    </a:p>
                  </a:txBody>
                  <a:tcPr anchor="ctr"/>
                </a:tc>
                <a:tc>
                  <a:txBody>
                    <a:bodyPr/>
                    <a:lstStyle/>
                    <a:p>
                      <a:pPr lvl="0" algn="r">
                        <a:buNone/>
                      </a:pPr>
                      <a:r>
                        <a:rPr lang="en-US"/>
                        <a:t>southeast</a:t>
                      </a:r>
                    </a:p>
                  </a:txBody>
                  <a:tcPr anchor="ctr"/>
                </a:tc>
                <a:tc>
                  <a:txBody>
                    <a:bodyPr/>
                    <a:lstStyle/>
                    <a:p>
                      <a:pPr lvl="0" algn="r">
                        <a:buNone/>
                      </a:pPr>
                      <a:r>
                        <a:rPr lang="en-US" dirty="0"/>
                        <a:t>1725.55230</a:t>
                      </a:r>
                    </a:p>
                  </a:txBody>
                  <a:tcPr anchor="ctr"/>
                </a:tc>
                <a:extLst>
                  <a:ext uri="{0D108BD9-81ED-4DB2-BD59-A6C34878D82A}">
                    <a16:rowId xmlns:a16="http://schemas.microsoft.com/office/drawing/2014/main" val="2636389968"/>
                  </a:ext>
                </a:extLst>
              </a:tr>
              <a:tr h="531842">
                <a:tc>
                  <a:txBody>
                    <a:bodyPr/>
                    <a:lstStyle/>
                    <a:p>
                      <a:pPr lvl="0" fontAlgn="ctr">
                        <a:buNone/>
                      </a:pPr>
                      <a:r>
                        <a:rPr lang="en-US" b="1"/>
                        <a:t>2</a:t>
                      </a:r>
                    </a:p>
                  </a:txBody>
                  <a:tcPr anchor="ctr"/>
                </a:tc>
                <a:tc>
                  <a:txBody>
                    <a:bodyPr/>
                    <a:lstStyle/>
                    <a:p>
                      <a:pPr lvl="0" algn="r">
                        <a:buNone/>
                      </a:pPr>
                      <a:r>
                        <a:rPr lang="en-US"/>
                        <a:t>28</a:t>
                      </a:r>
                    </a:p>
                  </a:txBody>
                  <a:tcPr anchor="ctr"/>
                </a:tc>
                <a:tc>
                  <a:txBody>
                    <a:bodyPr/>
                    <a:lstStyle/>
                    <a:p>
                      <a:pPr lvl="0" algn="r">
                        <a:buNone/>
                      </a:pPr>
                      <a:r>
                        <a:rPr lang="en-US"/>
                        <a:t>male</a:t>
                      </a:r>
                    </a:p>
                  </a:txBody>
                  <a:tcPr anchor="ctr"/>
                </a:tc>
                <a:tc>
                  <a:txBody>
                    <a:bodyPr/>
                    <a:lstStyle/>
                    <a:p>
                      <a:pPr lvl="0" algn="r">
                        <a:buNone/>
                      </a:pPr>
                      <a:r>
                        <a:rPr lang="en-US"/>
                        <a:t>33.000</a:t>
                      </a:r>
                    </a:p>
                  </a:txBody>
                  <a:tcPr anchor="ctr"/>
                </a:tc>
                <a:tc>
                  <a:txBody>
                    <a:bodyPr/>
                    <a:lstStyle/>
                    <a:p>
                      <a:pPr lvl="0" algn="r">
                        <a:buNone/>
                      </a:pPr>
                      <a:r>
                        <a:rPr lang="en-US"/>
                        <a:t>3</a:t>
                      </a:r>
                    </a:p>
                  </a:txBody>
                  <a:tcPr anchor="ctr"/>
                </a:tc>
                <a:tc>
                  <a:txBody>
                    <a:bodyPr/>
                    <a:lstStyle/>
                    <a:p>
                      <a:pPr lvl="0" algn="r">
                        <a:buNone/>
                      </a:pPr>
                      <a:r>
                        <a:rPr lang="en-US"/>
                        <a:t>no</a:t>
                      </a:r>
                    </a:p>
                  </a:txBody>
                  <a:tcPr anchor="ctr"/>
                </a:tc>
                <a:tc>
                  <a:txBody>
                    <a:bodyPr/>
                    <a:lstStyle/>
                    <a:p>
                      <a:pPr lvl="0" algn="r">
                        <a:buNone/>
                      </a:pPr>
                      <a:r>
                        <a:rPr lang="en-US"/>
                        <a:t>southeast</a:t>
                      </a:r>
                    </a:p>
                  </a:txBody>
                  <a:tcPr anchor="ctr"/>
                </a:tc>
                <a:tc>
                  <a:txBody>
                    <a:bodyPr/>
                    <a:lstStyle/>
                    <a:p>
                      <a:pPr lvl="0" algn="r">
                        <a:buNone/>
                      </a:pPr>
                      <a:r>
                        <a:rPr lang="en-US" dirty="0"/>
                        <a:t>4449.46200</a:t>
                      </a:r>
                    </a:p>
                  </a:txBody>
                  <a:tcPr anchor="ctr"/>
                </a:tc>
                <a:extLst>
                  <a:ext uri="{0D108BD9-81ED-4DB2-BD59-A6C34878D82A}">
                    <a16:rowId xmlns:a16="http://schemas.microsoft.com/office/drawing/2014/main" val="2972422774"/>
                  </a:ext>
                </a:extLst>
              </a:tr>
              <a:tr h="531842">
                <a:tc>
                  <a:txBody>
                    <a:bodyPr/>
                    <a:lstStyle/>
                    <a:p>
                      <a:pPr lvl="0" fontAlgn="ctr">
                        <a:buNone/>
                      </a:pPr>
                      <a:r>
                        <a:rPr lang="en-US" b="1"/>
                        <a:t>3</a:t>
                      </a:r>
                    </a:p>
                  </a:txBody>
                  <a:tcPr anchor="ctr"/>
                </a:tc>
                <a:tc>
                  <a:txBody>
                    <a:bodyPr/>
                    <a:lstStyle/>
                    <a:p>
                      <a:pPr lvl="0" algn="r">
                        <a:buNone/>
                      </a:pPr>
                      <a:r>
                        <a:rPr lang="en-US"/>
                        <a:t>33</a:t>
                      </a:r>
                    </a:p>
                  </a:txBody>
                  <a:tcPr anchor="ctr"/>
                </a:tc>
                <a:tc>
                  <a:txBody>
                    <a:bodyPr/>
                    <a:lstStyle/>
                    <a:p>
                      <a:pPr lvl="0" algn="r">
                        <a:buNone/>
                      </a:pPr>
                      <a:r>
                        <a:rPr lang="en-US"/>
                        <a:t>male</a:t>
                      </a:r>
                    </a:p>
                  </a:txBody>
                  <a:tcPr anchor="ctr"/>
                </a:tc>
                <a:tc>
                  <a:txBody>
                    <a:bodyPr/>
                    <a:lstStyle/>
                    <a:p>
                      <a:pPr lvl="0" algn="r">
                        <a:buNone/>
                      </a:pPr>
                      <a:r>
                        <a:rPr lang="en-US"/>
                        <a:t>22.705</a:t>
                      </a:r>
                    </a:p>
                  </a:txBody>
                  <a:tcPr anchor="ctr"/>
                </a:tc>
                <a:tc>
                  <a:txBody>
                    <a:bodyPr/>
                    <a:lstStyle/>
                    <a:p>
                      <a:pPr lvl="0" algn="r">
                        <a:buNone/>
                      </a:pPr>
                      <a:r>
                        <a:rPr lang="en-US"/>
                        <a:t>0</a:t>
                      </a:r>
                    </a:p>
                  </a:txBody>
                  <a:tcPr anchor="ctr"/>
                </a:tc>
                <a:tc>
                  <a:txBody>
                    <a:bodyPr/>
                    <a:lstStyle/>
                    <a:p>
                      <a:pPr lvl="0" algn="r">
                        <a:buNone/>
                      </a:pPr>
                      <a:r>
                        <a:rPr lang="en-US"/>
                        <a:t>no</a:t>
                      </a:r>
                    </a:p>
                  </a:txBody>
                  <a:tcPr anchor="ctr"/>
                </a:tc>
                <a:tc>
                  <a:txBody>
                    <a:bodyPr/>
                    <a:lstStyle/>
                    <a:p>
                      <a:pPr lvl="0" algn="r">
                        <a:buNone/>
                      </a:pPr>
                      <a:r>
                        <a:rPr lang="en-US"/>
                        <a:t>northwest</a:t>
                      </a:r>
                    </a:p>
                  </a:txBody>
                  <a:tcPr anchor="ctr"/>
                </a:tc>
                <a:tc>
                  <a:txBody>
                    <a:bodyPr/>
                    <a:lstStyle/>
                    <a:p>
                      <a:pPr lvl="0" algn="r">
                        <a:buNone/>
                      </a:pPr>
                      <a:r>
                        <a:rPr lang="en-US" dirty="0"/>
                        <a:t>21984.47061</a:t>
                      </a:r>
                    </a:p>
                  </a:txBody>
                  <a:tcPr anchor="ctr"/>
                </a:tc>
                <a:extLst>
                  <a:ext uri="{0D108BD9-81ED-4DB2-BD59-A6C34878D82A}">
                    <a16:rowId xmlns:a16="http://schemas.microsoft.com/office/drawing/2014/main" val="3114792449"/>
                  </a:ext>
                </a:extLst>
              </a:tr>
              <a:tr h="710251">
                <a:tc>
                  <a:txBody>
                    <a:bodyPr/>
                    <a:lstStyle/>
                    <a:p>
                      <a:pPr lvl="0" fontAlgn="ctr">
                        <a:buNone/>
                      </a:pPr>
                      <a:r>
                        <a:rPr lang="en-US" b="1"/>
                        <a:t>4</a:t>
                      </a:r>
                    </a:p>
                  </a:txBody>
                  <a:tcPr anchor="ctr"/>
                </a:tc>
                <a:tc>
                  <a:txBody>
                    <a:bodyPr/>
                    <a:lstStyle/>
                    <a:p>
                      <a:pPr lvl="0" algn="r">
                        <a:buNone/>
                      </a:pPr>
                      <a:r>
                        <a:rPr lang="en-US"/>
                        <a:t>32</a:t>
                      </a:r>
                    </a:p>
                  </a:txBody>
                  <a:tcPr anchor="ctr"/>
                </a:tc>
                <a:tc>
                  <a:txBody>
                    <a:bodyPr/>
                    <a:lstStyle/>
                    <a:p>
                      <a:pPr lvl="0" algn="r">
                        <a:buNone/>
                      </a:pPr>
                      <a:r>
                        <a:rPr lang="en-US"/>
                        <a:t>male</a:t>
                      </a:r>
                    </a:p>
                  </a:txBody>
                  <a:tcPr anchor="ctr"/>
                </a:tc>
                <a:tc>
                  <a:txBody>
                    <a:bodyPr/>
                    <a:lstStyle/>
                    <a:p>
                      <a:pPr lvl="0" algn="r">
                        <a:buNone/>
                      </a:pPr>
                      <a:r>
                        <a:rPr lang="en-US"/>
                        <a:t>28.880</a:t>
                      </a:r>
                    </a:p>
                  </a:txBody>
                  <a:tcPr anchor="ctr"/>
                </a:tc>
                <a:tc>
                  <a:txBody>
                    <a:bodyPr/>
                    <a:lstStyle/>
                    <a:p>
                      <a:pPr lvl="0" algn="r">
                        <a:buNone/>
                      </a:pPr>
                      <a:r>
                        <a:rPr lang="en-US"/>
                        <a:t>0</a:t>
                      </a:r>
                    </a:p>
                  </a:txBody>
                  <a:tcPr anchor="ctr"/>
                </a:tc>
                <a:tc>
                  <a:txBody>
                    <a:bodyPr/>
                    <a:lstStyle/>
                    <a:p>
                      <a:pPr lvl="0" algn="r">
                        <a:buNone/>
                      </a:pPr>
                      <a:r>
                        <a:rPr lang="en-US"/>
                        <a:t>no</a:t>
                      </a:r>
                    </a:p>
                  </a:txBody>
                  <a:tcPr anchor="ctr"/>
                </a:tc>
                <a:tc>
                  <a:txBody>
                    <a:bodyPr/>
                    <a:lstStyle/>
                    <a:p>
                      <a:pPr lvl="0" algn="r">
                        <a:buNone/>
                      </a:pPr>
                      <a:r>
                        <a:rPr lang="en-US"/>
                        <a:t>northwest</a:t>
                      </a:r>
                    </a:p>
                  </a:txBody>
                  <a:tcPr anchor="ctr"/>
                </a:tc>
                <a:tc>
                  <a:txBody>
                    <a:bodyPr/>
                    <a:lstStyle/>
                    <a:p>
                      <a:pPr lvl="0" algn="r">
                        <a:buNone/>
                      </a:pPr>
                      <a:r>
                        <a:rPr lang="en-US" dirty="0"/>
                        <a:t>3866.85520</a:t>
                      </a:r>
                    </a:p>
                  </a:txBody>
                  <a:tcPr anchor="ctr"/>
                </a:tc>
                <a:extLst>
                  <a:ext uri="{0D108BD9-81ED-4DB2-BD59-A6C34878D82A}">
                    <a16:rowId xmlns:a16="http://schemas.microsoft.com/office/drawing/2014/main" val="2234212950"/>
                  </a:ext>
                </a:extLst>
              </a:tr>
            </a:tbl>
          </a:graphicData>
        </a:graphic>
      </p:graphicFrame>
      <p:sp>
        <p:nvSpPr>
          <p:cNvPr id="4" name="Slide Number Placeholder 5">
            <a:extLst>
              <a:ext uri="{FF2B5EF4-FFF2-40B4-BE49-F238E27FC236}">
                <a16:creationId xmlns:a16="http://schemas.microsoft.com/office/drawing/2014/main" id="{63608E6F-9199-1361-FCD7-054D74AB3F10}"/>
              </a:ext>
            </a:extLst>
          </p:cNvPr>
          <p:cNvSpPr txBox="1"/>
          <p:nvPr/>
        </p:nvSpPr>
        <p:spPr>
          <a:xfrm>
            <a:off x="10373346" y="6356351"/>
            <a:ext cx="987552" cy="365129"/>
          </a:xfrm>
          <a:prstGeom prst="rect">
            <a:avLst/>
          </a:prstGeom>
          <a:noFill/>
          <a:ln cap="flat">
            <a:noFill/>
          </a:ln>
        </p:spPr>
        <p:txBody>
          <a:bodyPr vert="horz" wrap="square" lIns="91440" tIns="45720" rIns="91440" bIns="45720" anchor="ctr" anchorCtr="0" compatLnSpc="1">
            <a:noAutofit/>
          </a:bodyPr>
          <a:lstStyle/>
          <a:p>
            <a:pPr marL="0" marR="0" lvl="0" indent="0" algn="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fld id="{A99CD920-EAAE-48CA-955C-10B07BFDACD6}" type="slidenum">
              <a:rPr lang="en-US" sz="1200" b="0" i="0" u="none" strike="noStrike" kern="1200" cap="none" spc="0" baseline="0">
                <a:solidFill>
                  <a:srgbClr val="898989"/>
                </a:solidFill>
                <a:uFillTx/>
                <a:latin typeface="Tenorite"/>
              </a:rPr>
              <a:t>7</a:t>
            </a:fld>
            <a:endParaRPr lang="en-US" sz="900" b="0" i="0" u="none" strike="noStrike" kern="1200" cap="none" spc="0" baseline="0">
              <a:solidFill>
                <a:srgbClr val="898989"/>
              </a:solidFill>
              <a:uFillTx/>
              <a:latin typeface="Tenorite"/>
            </a:endParaRPr>
          </a:p>
        </p:txBody>
      </p:sp>
      <p:sp>
        <p:nvSpPr>
          <p:cNvPr id="5" name="TextBox 4"/>
          <p:cNvSpPr txBox="1"/>
          <p:nvPr/>
        </p:nvSpPr>
        <p:spPr>
          <a:xfrm>
            <a:off x="841248" y="4983480"/>
            <a:ext cx="9509760" cy="914400"/>
          </a:xfrm>
          <a:prstGeom prst="rect">
            <a:avLst/>
          </a:prstGeom>
          <a:noFill/>
        </p:spPr>
        <p:txBody>
          <a:bodyPr wrap="square" lIns="45720" rIns="45720" tIns="27432" bIns="27432" anchor="t">
            <a:spAutoFit/>
          </a:bodyPr>
          <a:lstStyle/>
          <a:p>
            <a:pPr>
              <a:spcAft>
                <a:spcPts val="600"/>
              </a:spcAft>
            </a:pPr>
            <a:r>
              <a:rPr sz="1400" b="1" i="0">
                <a:solidFill>
                  <a:srgbClr val="000000"/>
                </a:solidFill>
                <a:latin typeface="Tenorite"/>
              </a:rPr>
              <a:t>Each row is one customer: </a:t>
            </a:r>
            <a:r>
              <a:rPr sz="1400" b="0" i="0">
                <a:solidFill>
                  <a:srgbClr val="000000"/>
                </a:solidFill>
                <a:latin typeface="Tenorite"/>
              </a:rPr>
              <a:t>three numeric features (age, bmi, children), three categorical features (sex, smoker, region) and the target, charges.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52">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9C31128A-A1A6-0968-F740-86FDFB2A14DF}"/>
              </a:ext>
            </a:extLst>
          </p:cNvPr>
          <p:cNvSpPr txBox="1">
            <a:spLocks noGrp="1"/>
          </p:cNvSpPr>
          <p:nvPr>
            <p:ph type="title"/>
          </p:nvPr>
        </p:nvSpPr>
        <p:spPr>
          <a:xfrm>
            <a:off x="838203" y="264234"/>
            <a:ext cx="10367677" cy="662784"/>
          </a:xfrm>
        </p:spPr>
        <p:txBody>
          <a:bodyPr/>
          <a:lstStyle/>
          <a:p>
            <a:pPr lvl="0"/>
            <a:r>
              <a:rPr lang="en-GB"/>
              <a:t>Check data types and non-null counts</a:t>
            </a:r>
          </a:p>
        </p:txBody>
      </p:sp>
      <p:graphicFrame>
        <p:nvGraphicFramePr>
          <p:cNvPr id="3" name="Table Placeholder 2">
            <a:extLst>
              <a:ext uri="{FF2B5EF4-FFF2-40B4-BE49-F238E27FC236}">
                <a16:creationId xmlns:a16="http://schemas.microsoft.com/office/drawing/2014/main" id="{19768A8C-260B-7D2E-CD29-2D2468264C24}"/>
              </a:ext>
            </a:extLst>
          </p:cNvPr>
          <p:cNvGraphicFramePr>
            <a:graphicFrameLocks noGrp="1"/>
          </p:cNvGraphicFramePr>
          <p:nvPr>
            <p:ph type="tbl" idx="4294967295"/>
          </p:nvPr>
        </p:nvGraphicFramePr>
        <p:xfrm>
          <a:off x="838203" y="1187805"/>
          <a:ext cx="6512847" cy="4991469"/>
        </p:xfrm>
        <a:graphic>
          <a:graphicData uri="http://schemas.openxmlformats.org/drawingml/2006/table">
            <a:tbl>
              <a:tblPr firstRow="1" bandRow="1">
                <a:effectLst/>
                <a:tableStyleId>{7E9639D4-E3E2-4D34-9284-5A2195B3D0D7}</a:tableStyleId>
              </a:tblPr>
              <a:tblGrid>
                <a:gridCol w="627625">
                  <a:extLst>
                    <a:ext uri="{9D8B030D-6E8A-4147-A177-3AD203B41FA5}">
                      <a16:colId xmlns:a16="http://schemas.microsoft.com/office/drawing/2014/main" val="3936198445"/>
                    </a:ext>
                  </a:extLst>
                </a:gridCol>
                <a:gridCol w="1332134">
                  <a:extLst>
                    <a:ext uri="{9D8B030D-6E8A-4147-A177-3AD203B41FA5}">
                      <a16:colId xmlns:a16="http://schemas.microsoft.com/office/drawing/2014/main" val="2959677064"/>
                    </a:ext>
                  </a:extLst>
                </a:gridCol>
                <a:gridCol w="1374516">
                  <a:extLst>
                    <a:ext uri="{9D8B030D-6E8A-4147-A177-3AD203B41FA5}">
                      <a16:colId xmlns:a16="http://schemas.microsoft.com/office/drawing/2014/main" val="3217975771"/>
                    </a:ext>
                  </a:extLst>
                </a:gridCol>
                <a:gridCol w="1567811">
                  <a:extLst>
                    <a:ext uri="{9D8B030D-6E8A-4147-A177-3AD203B41FA5}">
                      <a16:colId xmlns:a16="http://schemas.microsoft.com/office/drawing/2014/main" val="2666530721"/>
                    </a:ext>
                  </a:extLst>
                </a:gridCol>
                <a:gridCol w="1610761">
                  <a:extLst>
                    <a:ext uri="{9D8B030D-6E8A-4147-A177-3AD203B41FA5}">
                      <a16:colId xmlns:a16="http://schemas.microsoft.com/office/drawing/2014/main" val="117219475"/>
                    </a:ext>
                  </a:extLst>
                </a:gridCol>
              </a:tblGrid>
              <a:tr h="733348">
                <a:tc>
                  <a:txBody>
                    <a:bodyPr/>
                    <a:lstStyle/>
                    <a:p>
                      <a:pPr lvl="0" algn="ctr"/>
                      <a:r>
                        <a:rPr lang="en-US" sz="1800" b="0" i="0" kern="1200">
                          <a:solidFill>
                            <a:srgbClr val="FFFFFF"/>
                          </a:solidFill>
                          <a:latin typeface="Tenorite"/>
                        </a:rPr>
                        <a:t>#</a:t>
                      </a:r>
                      <a:endParaRPr lang="en-US" b="0"/>
                    </a:p>
                  </a:txBody>
                  <a:tcPr anchor="ctr"/>
                </a:tc>
                <a:tc>
                  <a:txBody>
                    <a:bodyPr/>
                    <a:lstStyle/>
                    <a:p>
                      <a:pPr lvl="0" algn="r">
                        <a:buNone/>
                      </a:pPr>
                      <a:r>
                        <a:rPr lang="en-US" sz="1800" b="0" i="0" kern="1200">
                          <a:solidFill>
                            <a:srgbClr val="FFFFFF"/>
                          </a:solidFill>
                          <a:latin typeface="Tenorite"/>
                        </a:rPr>
                        <a:t>Column</a:t>
                      </a:r>
                      <a:endParaRPr lang="en-US" b="1"/>
                    </a:p>
                  </a:txBody>
                  <a:tcPr anchor="ctr"/>
                </a:tc>
                <a:tc>
                  <a:txBody>
                    <a:bodyPr/>
                    <a:lstStyle/>
                    <a:p>
                      <a:pPr lvl="0" algn="r">
                        <a:buNone/>
                      </a:pPr>
                      <a:r>
                        <a:rPr lang="en-US" sz="1800" b="0" i="0" kern="1200">
                          <a:solidFill>
                            <a:srgbClr val="FFFFFF"/>
                          </a:solidFill>
                          <a:latin typeface="Tenorite"/>
                        </a:rPr>
                        <a:t>Non-Null</a:t>
                      </a:r>
                      <a:endParaRPr lang="en-US" b="1"/>
                    </a:p>
                  </a:txBody>
                  <a:tcPr anchor="ctr"/>
                </a:tc>
                <a:tc>
                  <a:txBody>
                    <a:bodyPr/>
                    <a:lstStyle/>
                    <a:p>
                      <a:pPr lvl="0" algn="r">
                        <a:buNone/>
                      </a:pPr>
                      <a:r>
                        <a:rPr lang="en-US" sz="1800" b="0" i="0" kern="1200">
                          <a:solidFill>
                            <a:srgbClr val="FFFFFF"/>
                          </a:solidFill>
                          <a:latin typeface="Tenorite"/>
                        </a:rPr>
                        <a:t>Count</a:t>
                      </a:r>
                      <a:endParaRPr lang="en-US" b="1"/>
                    </a:p>
                  </a:txBody>
                  <a:tcPr anchor="ctr"/>
                </a:tc>
                <a:tc>
                  <a:txBody>
                    <a:bodyPr/>
                    <a:lstStyle/>
                    <a:p>
                      <a:pPr lvl="0" algn="r">
                        <a:buNone/>
                      </a:pPr>
                      <a:r>
                        <a:rPr lang="en-US" sz="1800" b="0" i="0" kern="1200">
                          <a:solidFill>
                            <a:srgbClr val="FFFFFF"/>
                          </a:solidFill>
                          <a:latin typeface="Tenorite"/>
                        </a:rPr>
                        <a:t>Dtype</a:t>
                      </a:r>
                      <a:endParaRPr lang="en-US" b="1"/>
                    </a:p>
                  </a:txBody>
                  <a:tcPr anchor="ctr"/>
                </a:tc>
                <a:extLst>
                  <a:ext uri="{0D108BD9-81ED-4DB2-BD59-A6C34878D82A}">
                    <a16:rowId xmlns:a16="http://schemas.microsoft.com/office/drawing/2014/main" val="3855648341"/>
                  </a:ext>
                </a:extLst>
              </a:tr>
              <a:tr h="531842">
                <a:tc>
                  <a:txBody>
                    <a:bodyPr/>
                    <a:lstStyle/>
                    <a:p>
                      <a:pPr lvl="0" fontAlgn="ctr">
                        <a:buNone/>
                      </a:pPr>
                      <a:r>
                        <a:rPr lang="en-GB" b="1"/>
                        <a:t>0</a:t>
                      </a:r>
                      <a:endParaRPr lang="en-US" b="1"/>
                    </a:p>
                  </a:txBody>
                  <a:tcPr anchor="ctr"/>
                </a:tc>
                <a:tc>
                  <a:txBody>
                    <a:bodyPr/>
                    <a:lstStyle/>
                    <a:p>
                      <a:pPr lvl="0" algn="r">
                        <a:buNone/>
                      </a:pPr>
                      <a:r>
                        <a:rPr lang="en-GB"/>
                        <a:t>age</a:t>
                      </a:r>
                      <a:endParaRPr lang="en-US"/>
                    </a:p>
                  </a:txBody>
                  <a:tcPr anchor="ctr"/>
                </a:tc>
                <a:tc>
                  <a:txBody>
                    <a:bodyPr/>
                    <a:lstStyle/>
                    <a:p>
                      <a:pPr lvl="0" algn="r">
                        <a:buNone/>
                      </a:pPr>
                      <a:r>
                        <a:rPr lang="en-GB"/>
                        <a:t>1338</a:t>
                      </a:r>
                      <a:endParaRPr lang="en-US"/>
                    </a:p>
                  </a:txBody>
                  <a:tcPr anchor="ctr"/>
                </a:tc>
                <a:tc>
                  <a:txBody>
                    <a:bodyPr/>
                    <a:lstStyle/>
                    <a:p>
                      <a:pPr lvl="0" algn="r">
                        <a:buNone/>
                      </a:pPr>
                      <a:r>
                        <a:rPr lang="en-GB"/>
                        <a:t>non-null</a:t>
                      </a:r>
                      <a:endParaRPr lang="en-US"/>
                    </a:p>
                  </a:txBody>
                  <a:tcPr anchor="ctr"/>
                </a:tc>
                <a:tc>
                  <a:txBody>
                    <a:bodyPr/>
                    <a:lstStyle/>
                    <a:p>
                      <a:pPr lvl="0" algn="r">
                        <a:buNone/>
                      </a:pPr>
                      <a:r>
                        <a:rPr lang="en-GB"/>
                        <a:t>int64</a:t>
                      </a:r>
                      <a:endParaRPr lang="en-US"/>
                    </a:p>
                  </a:txBody>
                  <a:tcPr anchor="ctr"/>
                </a:tc>
                <a:extLst>
                  <a:ext uri="{0D108BD9-81ED-4DB2-BD59-A6C34878D82A}">
                    <a16:rowId xmlns:a16="http://schemas.microsoft.com/office/drawing/2014/main" val="2883616826"/>
                  </a:ext>
                </a:extLst>
              </a:tr>
              <a:tr h="531842">
                <a:tc>
                  <a:txBody>
                    <a:bodyPr/>
                    <a:lstStyle/>
                    <a:p>
                      <a:pPr lvl="0" fontAlgn="ctr">
                        <a:buNone/>
                      </a:pPr>
                      <a:r>
                        <a:rPr lang="en-GB" b="1"/>
                        <a:t>1</a:t>
                      </a:r>
                      <a:endParaRPr lang="en-US" b="1"/>
                    </a:p>
                  </a:txBody>
                  <a:tcPr anchor="ctr"/>
                </a:tc>
                <a:tc>
                  <a:txBody>
                    <a:bodyPr/>
                    <a:lstStyle/>
                    <a:p>
                      <a:pPr lvl="0" algn="r">
                        <a:buNone/>
                      </a:pPr>
                      <a:r>
                        <a:rPr lang="en-GB"/>
                        <a:t>sex</a:t>
                      </a:r>
                      <a:endParaRPr lang="en-US"/>
                    </a:p>
                  </a:txBody>
                  <a:tcPr anchor="ctr"/>
                </a:tc>
                <a:tc>
                  <a:txBody>
                    <a:bodyPr/>
                    <a:lstStyle/>
                    <a:p>
                      <a:pPr lvl="0" algn="r">
                        <a:buNone/>
                      </a:pPr>
                      <a:r>
                        <a:rPr lang="en-GB"/>
                        <a:t>1338</a:t>
                      </a:r>
                      <a:endParaRPr lang="en-US"/>
                    </a:p>
                  </a:txBody>
                  <a:tcPr anchor="ctr"/>
                </a:tc>
                <a:tc>
                  <a:txBody>
                    <a:bodyPr/>
                    <a:lstStyle/>
                    <a:p>
                      <a:pPr marL="0" marR="0" lvl="0" indent="0" algn="r" defTabSz="914400" rtl="0" fontAlgn="auto" hangingPunct="1">
                        <a:lnSpc>
                          <a:spcPct val="100000"/>
                        </a:lnSpc>
                        <a:spcBef>
                          <a:spcPts val="0"/>
                        </a:spcBef>
                        <a:spcAft>
                          <a:spcPts val="0"/>
                        </a:spcAft>
                        <a:buNone/>
                        <a:tabLst/>
                      </a:pPr>
                      <a:r>
                        <a:rPr lang="en-GB"/>
                        <a:t>non-null</a:t>
                      </a:r>
                      <a:endParaRPr lang="en-US"/>
                    </a:p>
                  </a:txBody>
                  <a:tcPr anchor="ctr"/>
                </a:tc>
                <a:tc>
                  <a:txBody>
                    <a:bodyPr/>
                    <a:lstStyle/>
                    <a:p>
                      <a:pPr lvl="0" algn="r">
                        <a:buNone/>
                      </a:pPr>
                      <a:r>
                        <a:rPr lang="en-GB"/>
                        <a:t>object</a:t>
                      </a:r>
                      <a:endParaRPr lang="en-US"/>
                    </a:p>
                  </a:txBody>
                  <a:tcPr anchor="ctr"/>
                </a:tc>
                <a:extLst>
                  <a:ext uri="{0D108BD9-81ED-4DB2-BD59-A6C34878D82A}">
                    <a16:rowId xmlns:a16="http://schemas.microsoft.com/office/drawing/2014/main" val="359182787"/>
                  </a:ext>
                </a:extLst>
              </a:tr>
              <a:tr h="531842">
                <a:tc>
                  <a:txBody>
                    <a:bodyPr/>
                    <a:lstStyle/>
                    <a:p>
                      <a:pPr lvl="0" fontAlgn="ctr">
                        <a:buNone/>
                      </a:pPr>
                      <a:r>
                        <a:rPr lang="en-GB" b="1"/>
                        <a:t>2</a:t>
                      </a:r>
                      <a:endParaRPr lang="en-US" b="1"/>
                    </a:p>
                  </a:txBody>
                  <a:tcPr anchor="ctr"/>
                </a:tc>
                <a:tc>
                  <a:txBody>
                    <a:bodyPr/>
                    <a:lstStyle/>
                    <a:p>
                      <a:pPr lvl="0" algn="r">
                        <a:buNone/>
                      </a:pPr>
                      <a:r>
                        <a:rPr lang="en-GB"/>
                        <a:t>bmi</a:t>
                      </a:r>
                      <a:endParaRPr lang="en-US"/>
                    </a:p>
                  </a:txBody>
                  <a:tcPr anchor="ctr"/>
                </a:tc>
                <a:tc>
                  <a:txBody>
                    <a:bodyPr/>
                    <a:lstStyle/>
                    <a:p>
                      <a:pPr lvl="0" algn="r">
                        <a:buNone/>
                      </a:pPr>
                      <a:r>
                        <a:rPr lang="en-GB"/>
                        <a:t>1338</a:t>
                      </a:r>
                      <a:endParaRPr lang="en-US"/>
                    </a:p>
                  </a:txBody>
                  <a:tcPr anchor="ctr"/>
                </a:tc>
                <a:tc>
                  <a:txBody>
                    <a:bodyPr/>
                    <a:lstStyle/>
                    <a:p>
                      <a:pPr marL="0" marR="0" lvl="0" indent="0" algn="r" defTabSz="914400" rtl="0" fontAlgn="auto" hangingPunct="1">
                        <a:lnSpc>
                          <a:spcPct val="100000"/>
                        </a:lnSpc>
                        <a:spcBef>
                          <a:spcPts val="0"/>
                        </a:spcBef>
                        <a:spcAft>
                          <a:spcPts val="0"/>
                        </a:spcAft>
                        <a:buNone/>
                        <a:tabLst/>
                      </a:pPr>
                      <a:r>
                        <a:rPr lang="en-GB"/>
                        <a:t>non-null</a:t>
                      </a:r>
                      <a:endParaRPr lang="en-US"/>
                    </a:p>
                  </a:txBody>
                  <a:tcPr anchor="ctr"/>
                </a:tc>
                <a:tc>
                  <a:txBody>
                    <a:bodyPr/>
                    <a:lstStyle/>
                    <a:p>
                      <a:pPr lvl="0" algn="r">
                        <a:buNone/>
                      </a:pPr>
                      <a:r>
                        <a:rPr lang="en-GB"/>
                        <a:t>float64</a:t>
                      </a:r>
                      <a:endParaRPr lang="en-US"/>
                    </a:p>
                  </a:txBody>
                  <a:tcPr anchor="ctr"/>
                </a:tc>
                <a:extLst>
                  <a:ext uri="{0D108BD9-81ED-4DB2-BD59-A6C34878D82A}">
                    <a16:rowId xmlns:a16="http://schemas.microsoft.com/office/drawing/2014/main" val="2526260601"/>
                  </a:ext>
                </a:extLst>
              </a:tr>
              <a:tr h="531842">
                <a:tc>
                  <a:txBody>
                    <a:bodyPr/>
                    <a:lstStyle/>
                    <a:p>
                      <a:pPr lvl="0" fontAlgn="ctr">
                        <a:buNone/>
                      </a:pPr>
                      <a:r>
                        <a:rPr lang="en-GB" b="1"/>
                        <a:t>3</a:t>
                      </a:r>
                      <a:endParaRPr lang="en-US" b="1"/>
                    </a:p>
                  </a:txBody>
                  <a:tcPr anchor="ctr"/>
                </a:tc>
                <a:tc>
                  <a:txBody>
                    <a:bodyPr/>
                    <a:lstStyle/>
                    <a:p>
                      <a:pPr lvl="0" algn="r">
                        <a:buNone/>
                      </a:pPr>
                      <a:r>
                        <a:rPr lang="en-GB"/>
                        <a:t>children</a:t>
                      </a:r>
                      <a:endParaRPr lang="en-US"/>
                    </a:p>
                  </a:txBody>
                  <a:tcPr anchor="ctr"/>
                </a:tc>
                <a:tc>
                  <a:txBody>
                    <a:bodyPr/>
                    <a:lstStyle/>
                    <a:p>
                      <a:pPr lvl="0" algn="r">
                        <a:buNone/>
                      </a:pPr>
                      <a:r>
                        <a:rPr lang="en-GB"/>
                        <a:t>1338</a:t>
                      </a:r>
                      <a:endParaRPr lang="en-US"/>
                    </a:p>
                  </a:txBody>
                  <a:tcPr anchor="ctr"/>
                </a:tc>
                <a:tc>
                  <a:txBody>
                    <a:bodyPr/>
                    <a:lstStyle/>
                    <a:p>
                      <a:pPr marL="0" marR="0" lvl="0" indent="0" algn="r" defTabSz="914400" rtl="0" fontAlgn="auto" hangingPunct="1">
                        <a:lnSpc>
                          <a:spcPct val="100000"/>
                        </a:lnSpc>
                        <a:spcBef>
                          <a:spcPts val="0"/>
                        </a:spcBef>
                        <a:spcAft>
                          <a:spcPts val="0"/>
                        </a:spcAft>
                        <a:buNone/>
                        <a:tabLst/>
                      </a:pPr>
                      <a:r>
                        <a:rPr lang="en-GB"/>
                        <a:t>non-null</a:t>
                      </a:r>
                      <a:endParaRPr lang="en-US"/>
                    </a:p>
                  </a:txBody>
                  <a:tcPr anchor="ctr"/>
                </a:tc>
                <a:tc>
                  <a:txBody>
                    <a:bodyPr/>
                    <a:lstStyle/>
                    <a:p>
                      <a:pPr lvl="0" algn="r">
                        <a:buNone/>
                      </a:pPr>
                      <a:r>
                        <a:rPr lang="en-GB"/>
                        <a:t>int64</a:t>
                      </a:r>
                      <a:endParaRPr lang="en-US"/>
                    </a:p>
                  </a:txBody>
                  <a:tcPr anchor="ctr"/>
                </a:tc>
                <a:extLst>
                  <a:ext uri="{0D108BD9-81ED-4DB2-BD59-A6C34878D82A}">
                    <a16:rowId xmlns:a16="http://schemas.microsoft.com/office/drawing/2014/main" val="3331229045"/>
                  </a:ext>
                </a:extLst>
              </a:tr>
              <a:tr h="710251">
                <a:tc>
                  <a:txBody>
                    <a:bodyPr/>
                    <a:lstStyle/>
                    <a:p>
                      <a:pPr lvl="0" fontAlgn="ctr">
                        <a:buNone/>
                      </a:pPr>
                      <a:r>
                        <a:rPr lang="en-GB" b="1"/>
                        <a:t>4</a:t>
                      </a:r>
                      <a:endParaRPr lang="en-US" b="1"/>
                    </a:p>
                  </a:txBody>
                  <a:tcPr anchor="ctr"/>
                </a:tc>
                <a:tc>
                  <a:txBody>
                    <a:bodyPr/>
                    <a:lstStyle/>
                    <a:p>
                      <a:pPr lvl="0" algn="r">
                        <a:buNone/>
                      </a:pPr>
                      <a:r>
                        <a:rPr lang="en-GB"/>
                        <a:t>smoker</a:t>
                      </a:r>
                      <a:endParaRPr lang="en-US"/>
                    </a:p>
                  </a:txBody>
                  <a:tcPr anchor="ctr"/>
                </a:tc>
                <a:tc>
                  <a:txBody>
                    <a:bodyPr/>
                    <a:lstStyle/>
                    <a:p>
                      <a:pPr lvl="0" algn="r">
                        <a:buNone/>
                      </a:pPr>
                      <a:r>
                        <a:rPr lang="en-GB"/>
                        <a:t>1338</a:t>
                      </a:r>
                      <a:endParaRPr lang="en-US"/>
                    </a:p>
                  </a:txBody>
                  <a:tcPr anchor="ctr"/>
                </a:tc>
                <a:tc>
                  <a:txBody>
                    <a:bodyPr/>
                    <a:lstStyle/>
                    <a:p>
                      <a:pPr marL="0" marR="0" lvl="0" indent="0" algn="r" defTabSz="914400" rtl="0" fontAlgn="auto" hangingPunct="1">
                        <a:lnSpc>
                          <a:spcPct val="100000"/>
                        </a:lnSpc>
                        <a:spcBef>
                          <a:spcPts val="0"/>
                        </a:spcBef>
                        <a:spcAft>
                          <a:spcPts val="0"/>
                        </a:spcAft>
                        <a:buNone/>
                        <a:tabLst/>
                      </a:pPr>
                      <a:r>
                        <a:rPr lang="en-GB"/>
                        <a:t>non-null</a:t>
                      </a:r>
                      <a:endParaRPr lang="en-US"/>
                    </a:p>
                  </a:txBody>
                  <a:tcPr anchor="ctr"/>
                </a:tc>
                <a:tc>
                  <a:txBody>
                    <a:bodyPr/>
                    <a:lstStyle/>
                    <a:p>
                      <a:pPr lvl="0" algn="r">
                        <a:buNone/>
                      </a:pPr>
                      <a:r>
                        <a:rPr lang="en-GB"/>
                        <a:t>object</a:t>
                      </a:r>
                      <a:endParaRPr lang="en-US"/>
                    </a:p>
                  </a:txBody>
                  <a:tcPr anchor="ctr"/>
                </a:tc>
                <a:extLst>
                  <a:ext uri="{0D108BD9-81ED-4DB2-BD59-A6C34878D82A}">
                    <a16:rowId xmlns:a16="http://schemas.microsoft.com/office/drawing/2014/main" val="3893708843"/>
                  </a:ext>
                </a:extLst>
              </a:tr>
              <a:tr h="710251">
                <a:tc>
                  <a:txBody>
                    <a:bodyPr/>
                    <a:lstStyle/>
                    <a:p>
                      <a:pPr lvl="0" fontAlgn="ctr">
                        <a:buNone/>
                      </a:pPr>
                      <a:r>
                        <a:rPr lang="en-GB" b="1"/>
                        <a:t>5</a:t>
                      </a:r>
                      <a:endParaRPr lang="en-US" b="1"/>
                    </a:p>
                  </a:txBody>
                  <a:tcPr anchor="ctr"/>
                </a:tc>
                <a:tc>
                  <a:txBody>
                    <a:bodyPr/>
                    <a:lstStyle/>
                    <a:p>
                      <a:pPr lvl="0" algn="r">
                        <a:buNone/>
                      </a:pPr>
                      <a:r>
                        <a:rPr lang="en-GB"/>
                        <a:t>region</a:t>
                      </a:r>
                      <a:endParaRPr lang="en-US"/>
                    </a:p>
                  </a:txBody>
                  <a:tcPr anchor="ctr"/>
                </a:tc>
                <a:tc>
                  <a:txBody>
                    <a:bodyPr/>
                    <a:lstStyle/>
                    <a:p>
                      <a:pPr lvl="0" algn="r">
                        <a:buNone/>
                      </a:pPr>
                      <a:r>
                        <a:rPr lang="en-GB"/>
                        <a:t>1338</a:t>
                      </a:r>
                      <a:endParaRPr lang="en-US"/>
                    </a:p>
                  </a:txBody>
                  <a:tcPr anchor="ctr"/>
                </a:tc>
                <a:tc>
                  <a:txBody>
                    <a:bodyPr/>
                    <a:lstStyle/>
                    <a:p>
                      <a:pPr marL="0" marR="0" lvl="0" indent="0" algn="r" defTabSz="914400" rtl="0" fontAlgn="auto" hangingPunct="1">
                        <a:lnSpc>
                          <a:spcPct val="100000"/>
                        </a:lnSpc>
                        <a:spcBef>
                          <a:spcPts val="0"/>
                        </a:spcBef>
                        <a:spcAft>
                          <a:spcPts val="0"/>
                        </a:spcAft>
                        <a:buNone/>
                        <a:tabLst/>
                      </a:pPr>
                      <a:r>
                        <a:rPr lang="en-GB"/>
                        <a:t>non-null</a:t>
                      </a:r>
                      <a:endParaRPr lang="en-US"/>
                    </a:p>
                  </a:txBody>
                  <a:tcPr anchor="ctr"/>
                </a:tc>
                <a:tc>
                  <a:txBody>
                    <a:bodyPr/>
                    <a:lstStyle/>
                    <a:p>
                      <a:pPr lvl="0" algn="r">
                        <a:buNone/>
                      </a:pPr>
                      <a:r>
                        <a:rPr lang="en-GB"/>
                        <a:t>object</a:t>
                      </a:r>
                      <a:endParaRPr lang="en-US"/>
                    </a:p>
                  </a:txBody>
                  <a:tcPr anchor="ctr"/>
                </a:tc>
                <a:extLst>
                  <a:ext uri="{0D108BD9-81ED-4DB2-BD59-A6C34878D82A}">
                    <a16:rowId xmlns:a16="http://schemas.microsoft.com/office/drawing/2014/main" val="749416312"/>
                  </a:ext>
                </a:extLst>
              </a:tr>
              <a:tr h="710251">
                <a:tc>
                  <a:txBody>
                    <a:bodyPr/>
                    <a:lstStyle/>
                    <a:p>
                      <a:pPr lvl="0" fontAlgn="ctr">
                        <a:buNone/>
                      </a:pPr>
                      <a:r>
                        <a:rPr lang="en-GB" b="1"/>
                        <a:t>6</a:t>
                      </a:r>
                      <a:endParaRPr lang="en-US" b="1"/>
                    </a:p>
                  </a:txBody>
                  <a:tcPr anchor="ctr"/>
                </a:tc>
                <a:tc>
                  <a:txBody>
                    <a:bodyPr/>
                    <a:lstStyle/>
                    <a:p>
                      <a:pPr lvl="0" algn="r">
                        <a:buNone/>
                      </a:pPr>
                      <a:r>
                        <a:rPr lang="en-GB"/>
                        <a:t>charges</a:t>
                      </a:r>
                      <a:endParaRPr lang="en-US"/>
                    </a:p>
                  </a:txBody>
                  <a:tcPr anchor="ctr"/>
                </a:tc>
                <a:tc>
                  <a:txBody>
                    <a:bodyPr/>
                    <a:lstStyle/>
                    <a:p>
                      <a:pPr lvl="0" algn="r">
                        <a:buNone/>
                      </a:pPr>
                      <a:r>
                        <a:rPr lang="en-GB"/>
                        <a:t>1338</a:t>
                      </a:r>
                      <a:endParaRPr lang="en-US"/>
                    </a:p>
                  </a:txBody>
                  <a:tcPr anchor="ctr"/>
                </a:tc>
                <a:tc>
                  <a:txBody>
                    <a:bodyPr/>
                    <a:lstStyle/>
                    <a:p>
                      <a:pPr marL="0" marR="0" lvl="0" indent="0" algn="r" defTabSz="914400" rtl="0" fontAlgn="auto" hangingPunct="1">
                        <a:lnSpc>
                          <a:spcPct val="100000"/>
                        </a:lnSpc>
                        <a:spcBef>
                          <a:spcPts val="0"/>
                        </a:spcBef>
                        <a:spcAft>
                          <a:spcPts val="0"/>
                        </a:spcAft>
                        <a:buNone/>
                        <a:tabLst/>
                      </a:pPr>
                      <a:r>
                        <a:rPr lang="en-GB"/>
                        <a:t>non-null</a:t>
                      </a:r>
                      <a:endParaRPr lang="en-US"/>
                    </a:p>
                  </a:txBody>
                  <a:tcPr anchor="ctr"/>
                </a:tc>
                <a:tc>
                  <a:txBody>
                    <a:bodyPr/>
                    <a:lstStyle/>
                    <a:p>
                      <a:pPr lvl="0" algn="r">
                        <a:buNone/>
                      </a:pPr>
                      <a:r>
                        <a:rPr lang="en-GB"/>
                        <a:t>float64</a:t>
                      </a:r>
                      <a:endParaRPr lang="en-US"/>
                    </a:p>
                  </a:txBody>
                  <a:tcPr anchor="ctr"/>
                </a:tc>
                <a:extLst>
                  <a:ext uri="{0D108BD9-81ED-4DB2-BD59-A6C34878D82A}">
                    <a16:rowId xmlns:a16="http://schemas.microsoft.com/office/drawing/2014/main" val="1472666817"/>
                  </a:ext>
                </a:extLst>
              </a:tr>
            </a:tbl>
          </a:graphicData>
        </a:graphic>
      </p:graphicFrame>
      <p:sp>
        <p:nvSpPr>
          <p:cNvPr id="4" name="TextBox 3"/>
          <p:cNvSpPr txBox="1"/>
          <p:nvPr/>
        </p:nvSpPr>
        <p:spPr>
          <a:xfrm>
            <a:off x="7726679" y="1234440"/>
            <a:ext cx="3840480" cy="4754880"/>
          </a:xfrm>
          <a:prstGeom prst="rect">
            <a:avLst/>
          </a:prstGeom>
          <a:noFill/>
        </p:spPr>
        <p:txBody>
          <a:bodyPr wrap="square" lIns="45720" rIns="45720" tIns="27432" bIns="27432" anchor="t">
            <a:spAutoFit/>
          </a:bodyPr>
          <a:lstStyle/>
          <a:p>
            <a:pPr>
              <a:spcAft>
                <a:spcPts val="1200"/>
              </a:spcAft>
            </a:pPr>
            <a:r>
              <a:rPr sz="1600" b="1" i="0">
                <a:solidFill>
                  <a:srgbClr val="000000"/>
                </a:solidFill>
                <a:latin typeface="Tenorite"/>
              </a:rPr>
              <a:t>What this tells us</a:t>
            </a:r>
          </a:p>
          <a:p>
            <a:pPr>
              <a:spcAft>
                <a:spcPts val="1200"/>
              </a:spcAft>
            </a:pPr>
            <a:r>
              <a:rPr sz="1400" b="0" i="0">
                <a:solidFill>
                  <a:srgbClr val="000000"/>
                </a:solidFill>
                <a:latin typeface="Tenorite"/>
              </a:rPr>
              <a:t>1,338 rows × 7 columns, all fully populated.</a:t>
            </a:r>
          </a:p>
          <a:p>
            <a:pPr>
              <a:spcAft>
                <a:spcPts val="1200"/>
              </a:spcAft>
            </a:pPr>
            <a:r>
              <a:rPr sz="1400" b="0" i="0">
                <a:solidFill>
                  <a:srgbClr val="000000"/>
                </a:solidFill>
                <a:latin typeface="Tenorite"/>
              </a:rPr>
              <a:t>4 numeric columns (int64 / float64) and 3 text columns (object).</a:t>
            </a:r>
          </a:p>
          <a:p>
            <a:pPr>
              <a:spcAft>
                <a:spcPts val="1200"/>
              </a:spcAft>
            </a:pPr>
            <a:r>
              <a:rPr sz="1400" b="1" i="0">
                <a:solidFill>
                  <a:srgbClr val="C00000"/>
                </a:solidFill>
                <a:latin typeface="Tenorite"/>
              </a:rPr>
              <a:t>Fix applied: </a:t>
            </a:r>
            <a:r>
              <a:rPr sz="1400" b="0" i="0">
                <a:solidFill>
                  <a:srgbClr val="000000"/>
                </a:solidFill>
                <a:latin typeface="Tenorite"/>
              </a:rPr>
              <a:t>sex, smoker and region converted to category type after cleaning.</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53">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2B91BE55-61FC-12DE-9FBF-09F0F989EB80}"/>
              </a:ext>
            </a:extLst>
          </p:cNvPr>
          <p:cNvSpPr txBox="1">
            <a:spLocks noGrp="1"/>
          </p:cNvSpPr>
          <p:nvPr>
            <p:ph type="title"/>
          </p:nvPr>
        </p:nvSpPr>
        <p:spPr>
          <a:xfrm>
            <a:off x="838203" y="264234"/>
            <a:ext cx="10367677" cy="662784"/>
          </a:xfrm>
        </p:spPr>
        <p:txBody>
          <a:bodyPr/>
          <a:lstStyle/>
          <a:p>
            <a:pPr lvl="0"/>
            <a:r>
              <a:rPr lang="en-US"/>
              <a:t>View summary statistics</a:t>
            </a:r>
            <a:endParaRPr lang="en-GB"/>
          </a:p>
        </p:txBody>
      </p:sp>
      <p:pic>
        <p:nvPicPr>
          <p:cNvPr id="3" name="Picture 3">
            <a:extLst>
              <a:ext uri="{FF2B5EF4-FFF2-40B4-BE49-F238E27FC236}">
                <a16:creationId xmlns:a16="http://schemas.microsoft.com/office/drawing/2014/main" id="{254FD2FE-603F-21F8-7C36-C83EB4FD1A69}"/>
              </a:ext>
            </a:extLst>
          </p:cNvPr>
          <p:cNvPicPr>
            <a:picLocks noChangeAspect="1"/>
          </p:cNvPicPr>
          <p:nvPr/>
        </p:nvPicPr>
        <p:blipFill>
          <a:blip r:embed="rId3"/>
          <a:stretch>
            <a:fillRect/>
          </a:stretch>
        </p:blipFill>
        <p:spPr>
          <a:xfrm>
            <a:off x="841248" y="1188720"/>
            <a:ext cx="7680960" cy="4010552"/>
          </a:xfrm>
          <a:prstGeom prst="rect">
            <a:avLst/>
          </a:prstGeom>
          <a:noFill/>
          <a:ln cap="flat">
            <a:noFill/>
          </a:ln>
        </p:spPr>
      </p:pic>
      <p:sp>
        <p:nvSpPr>
          <p:cNvPr id="4" name="TextBox 3"/>
          <p:cNvSpPr txBox="1"/>
          <p:nvPr/>
        </p:nvSpPr>
        <p:spPr>
          <a:xfrm>
            <a:off x="841248" y="5349240"/>
            <a:ext cx="10058400" cy="914400"/>
          </a:xfrm>
          <a:prstGeom prst="rect">
            <a:avLst/>
          </a:prstGeom>
          <a:noFill/>
        </p:spPr>
        <p:txBody>
          <a:bodyPr wrap="square" lIns="45720" rIns="45720" tIns="27432" bIns="27432" anchor="t">
            <a:spAutoFit/>
          </a:bodyPr>
          <a:lstStyle/>
          <a:p>
            <a:pPr>
              <a:spcAft>
                <a:spcPts val="600"/>
              </a:spcAft>
            </a:pPr>
            <a:r>
              <a:rPr sz="1400" b="1" i="0">
                <a:solidFill>
                  <a:srgbClr val="C00000"/>
                </a:solidFill>
                <a:latin typeface="Tenorite"/>
              </a:rPr>
              <a:t>Key point: </a:t>
            </a:r>
            <a:r>
              <a:rPr sz="1400" b="0" i="0">
                <a:solidFill>
                  <a:srgbClr val="000000"/>
                </a:solidFill>
                <a:latin typeface="Tenorite"/>
              </a:rPr>
              <a:t>charges are right-skewed. The mean ($13,270) is well above the median ($9,382), because a minority of very high bills pulls the average up.</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5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4A7649-1183-0CE4-9B7A-51E1AE040577}"/>
              </a:ext>
            </a:extLst>
          </p:cNvPr>
          <p:cNvSpPr txBox="1">
            <a:spLocks noGrp="1"/>
          </p:cNvSpPr>
          <p:nvPr>
            <p:ph type="title"/>
          </p:nvPr>
        </p:nvSpPr>
        <p:spPr>
          <a:xfrm>
            <a:off x="1325880" y="182880"/>
            <a:ext cx="7863840" cy="1188720"/>
          </a:xfrm>
        </p:spPr>
        <p:txBody>
          <a:bodyPr anchor="b"/>
          <a:lstStyle/>
          <a:p>
            <a:pPr lvl="0"/>
            <a:r>
              <a:rPr sz="2600"/>
              <a:t>Charges at a glance</a:t>
            </a:r>
            <a:endParaRPr lang="en-US"/>
          </a:p>
        </p:txBody>
      </p:sp>
      <p:sp>
        <p:nvSpPr>
          <p:cNvPr id="3" name="Slide Number Placeholder 3">
            <a:extLst>
              <a:ext uri="{FF2B5EF4-FFF2-40B4-BE49-F238E27FC236}">
                <a16:creationId xmlns:a16="http://schemas.microsoft.com/office/drawing/2014/main" id="{AF4D84AA-3236-D0EA-02E5-4BA5AB5D102B}"/>
              </a:ext>
            </a:extLst>
          </p:cNvPr>
          <p:cNvSpPr txBox="1"/>
          <p:nvPr/>
        </p:nvSpPr>
        <p:spPr>
          <a:xfrm>
            <a:off x="10373346" y="6356351"/>
            <a:ext cx="987552" cy="365129"/>
          </a:xfrm>
          <a:prstGeom prst="rect">
            <a:avLst/>
          </a:prstGeom>
          <a:noFill/>
          <a:ln cap="flat">
            <a:noFill/>
          </a:ln>
        </p:spPr>
        <p:txBody>
          <a:bodyPr vert="horz" wrap="square" lIns="91440" tIns="45720" rIns="91440" bIns="45720" anchor="ctr" anchorCtr="0" compatLnSpc="1">
            <a:noAutofit/>
          </a:bodyPr>
          <a:lstStyle/>
          <a:p>
            <a:pPr marL="0" marR="0" lvl="0" indent="0" algn="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fld id="{A8216BF1-CF6B-4C8E-AE32-812551039490}" type="slidenum">
              <a:rPr lang="en-US" sz="1200"/>
              <a:t>10</a:t>
            </a:fld>
            <a:endParaRPr lang="en-US" sz="900" b="0" i="0" u="none" strike="noStrike" kern="1200" cap="none" spc="0" baseline="0">
              <a:solidFill>
                <a:srgbClr val="898989"/>
              </a:solidFill>
              <a:uFillTx/>
              <a:latin typeface="Tenorite"/>
            </a:endParaRPr>
          </a:p>
        </p:txBody>
      </p:sp>
      <p:sp>
        <p:nvSpPr>
          <p:cNvPr id="4" name="Rectangle 3"/>
          <p:cNvSpPr/>
          <p:nvPr/>
        </p:nvSpPr>
        <p:spPr>
          <a:xfrm>
            <a:off x="914400" y="1600200"/>
            <a:ext cx="2514600" cy="13716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1709928"/>
            <a:ext cx="2148840" cy="754380"/>
          </a:xfrm>
          <a:prstGeom prst="rect">
            <a:avLst/>
          </a:prstGeom>
          <a:noFill/>
        </p:spPr>
        <p:txBody>
          <a:bodyPr wrap="square" lIns="45720" rIns="45720" tIns="27432" bIns="27432" anchor="b">
            <a:spAutoFit/>
          </a:bodyPr>
          <a:lstStyle/>
          <a:p>
            <a:pPr>
              <a:spcAft>
                <a:spcPts val="600"/>
              </a:spcAft>
            </a:pPr>
            <a:r>
              <a:rPr sz="3200" b="1" i="0">
                <a:solidFill>
                  <a:srgbClr val="000000"/>
                </a:solidFill>
                <a:latin typeface="Tenorite"/>
              </a:rPr>
              <a:t>$13,279</a:t>
            </a:r>
          </a:p>
        </p:txBody>
      </p:sp>
      <p:sp>
        <p:nvSpPr>
          <p:cNvPr id="6" name="TextBox 5"/>
          <p:cNvSpPr txBox="1"/>
          <p:nvPr/>
        </p:nvSpPr>
        <p:spPr>
          <a:xfrm>
            <a:off x="1097280" y="2441448"/>
            <a:ext cx="2148840" cy="438912"/>
          </a:xfrm>
          <a:prstGeom prst="rect">
            <a:avLst/>
          </a:prstGeom>
          <a:noFill/>
        </p:spPr>
        <p:txBody>
          <a:bodyPr wrap="square" lIns="45720" rIns="45720" tIns="27432" bIns="27432" anchor="t">
            <a:spAutoFit/>
          </a:bodyPr>
          <a:lstStyle/>
          <a:p>
            <a:pPr>
              <a:spcAft>
                <a:spcPts val="600"/>
              </a:spcAft>
            </a:pPr>
            <a:r>
              <a:rPr sz="1300" b="0" i="0">
                <a:solidFill>
                  <a:srgbClr val="595959"/>
                </a:solidFill>
                <a:latin typeface="Tenorite"/>
              </a:rPr>
              <a:t>average charge</a:t>
            </a:r>
          </a:p>
        </p:txBody>
      </p:sp>
      <p:sp>
        <p:nvSpPr>
          <p:cNvPr id="7" name="Rectangle 6"/>
          <p:cNvSpPr/>
          <p:nvPr/>
        </p:nvSpPr>
        <p:spPr>
          <a:xfrm>
            <a:off x="3611880" y="1600200"/>
            <a:ext cx="2514600" cy="13716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794760" y="1709928"/>
            <a:ext cx="2148840" cy="754380"/>
          </a:xfrm>
          <a:prstGeom prst="rect">
            <a:avLst/>
          </a:prstGeom>
          <a:noFill/>
        </p:spPr>
        <p:txBody>
          <a:bodyPr wrap="square" lIns="45720" rIns="45720" tIns="27432" bIns="27432" anchor="b">
            <a:spAutoFit/>
          </a:bodyPr>
          <a:lstStyle/>
          <a:p>
            <a:pPr>
              <a:spcAft>
                <a:spcPts val="600"/>
              </a:spcAft>
            </a:pPr>
            <a:r>
              <a:rPr sz="3200" b="1" i="0">
                <a:solidFill>
                  <a:srgbClr val="000000"/>
                </a:solidFill>
                <a:latin typeface="Tenorite"/>
              </a:rPr>
              <a:t>$9,386</a:t>
            </a:r>
          </a:p>
        </p:txBody>
      </p:sp>
      <p:sp>
        <p:nvSpPr>
          <p:cNvPr id="9" name="TextBox 8"/>
          <p:cNvSpPr txBox="1"/>
          <p:nvPr/>
        </p:nvSpPr>
        <p:spPr>
          <a:xfrm>
            <a:off x="3794760" y="2441448"/>
            <a:ext cx="2148840" cy="438912"/>
          </a:xfrm>
          <a:prstGeom prst="rect">
            <a:avLst/>
          </a:prstGeom>
          <a:noFill/>
        </p:spPr>
        <p:txBody>
          <a:bodyPr wrap="square" lIns="45720" rIns="45720" tIns="27432" bIns="27432" anchor="t">
            <a:spAutoFit/>
          </a:bodyPr>
          <a:lstStyle/>
          <a:p>
            <a:pPr>
              <a:spcAft>
                <a:spcPts val="600"/>
              </a:spcAft>
            </a:pPr>
            <a:r>
              <a:rPr sz="1300" b="0" i="0">
                <a:solidFill>
                  <a:srgbClr val="595959"/>
                </a:solidFill>
                <a:latin typeface="Tenorite"/>
              </a:rPr>
              <a:t>median (typical) charge</a:t>
            </a:r>
          </a:p>
        </p:txBody>
      </p:sp>
      <p:sp>
        <p:nvSpPr>
          <p:cNvPr id="10" name="Rectangle 9"/>
          <p:cNvSpPr/>
          <p:nvPr/>
        </p:nvSpPr>
        <p:spPr>
          <a:xfrm>
            <a:off x="6309360" y="1600200"/>
            <a:ext cx="2514600" cy="13716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709928"/>
            <a:ext cx="2148840" cy="754380"/>
          </a:xfrm>
          <a:prstGeom prst="rect">
            <a:avLst/>
          </a:prstGeom>
          <a:noFill/>
        </p:spPr>
        <p:txBody>
          <a:bodyPr wrap="square" lIns="45720" rIns="45720" tIns="27432" bIns="27432" anchor="b">
            <a:spAutoFit/>
          </a:bodyPr>
          <a:lstStyle/>
          <a:p>
            <a:pPr>
              <a:spcAft>
                <a:spcPts val="600"/>
              </a:spcAft>
            </a:pPr>
            <a:r>
              <a:rPr sz="3200" b="1" i="0">
                <a:solidFill>
                  <a:srgbClr val="000000"/>
                </a:solidFill>
                <a:latin typeface="Tenorite"/>
              </a:rPr>
              <a:t>$63,770</a:t>
            </a:r>
          </a:p>
        </p:txBody>
      </p:sp>
      <p:sp>
        <p:nvSpPr>
          <p:cNvPr id="12" name="TextBox 11"/>
          <p:cNvSpPr txBox="1"/>
          <p:nvPr/>
        </p:nvSpPr>
        <p:spPr>
          <a:xfrm>
            <a:off x="6492240" y="2441448"/>
            <a:ext cx="2148840" cy="438912"/>
          </a:xfrm>
          <a:prstGeom prst="rect">
            <a:avLst/>
          </a:prstGeom>
          <a:noFill/>
        </p:spPr>
        <p:txBody>
          <a:bodyPr wrap="square" lIns="45720" rIns="45720" tIns="27432" bIns="27432" anchor="t">
            <a:spAutoFit/>
          </a:bodyPr>
          <a:lstStyle/>
          <a:p>
            <a:pPr>
              <a:spcAft>
                <a:spcPts val="600"/>
              </a:spcAft>
            </a:pPr>
            <a:r>
              <a:rPr sz="1300" b="0" i="0">
                <a:solidFill>
                  <a:srgbClr val="595959"/>
                </a:solidFill>
                <a:latin typeface="Tenorite"/>
              </a:rPr>
              <a:t>highest charge (lowest: $1,122)</a:t>
            </a:r>
          </a:p>
        </p:txBody>
      </p:sp>
      <p:sp>
        <p:nvSpPr>
          <p:cNvPr id="13" name="Rectangle 12"/>
          <p:cNvSpPr/>
          <p:nvPr/>
        </p:nvSpPr>
        <p:spPr>
          <a:xfrm>
            <a:off x="914400" y="3200400"/>
            <a:ext cx="2514600" cy="13716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97280" y="3310128"/>
            <a:ext cx="2148840" cy="754380"/>
          </a:xfrm>
          <a:prstGeom prst="rect">
            <a:avLst/>
          </a:prstGeom>
          <a:noFill/>
        </p:spPr>
        <p:txBody>
          <a:bodyPr wrap="square" lIns="45720" rIns="45720" tIns="27432" bIns="27432" anchor="b">
            <a:spAutoFit/>
          </a:bodyPr>
          <a:lstStyle/>
          <a:p>
            <a:pPr>
              <a:spcAft>
                <a:spcPts val="600"/>
              </a:spcAft>
            </a:pPr>
            <a:r>
              <a:rPr sz="3200" b="1" i="0">
                <a:solidFill>
                  <a:srgbClr val="000000"/>
                </a:solidFill>
                <a:latin typeface="Tenorite"/>
              </a:rPr>
              <a:t>1,063</a:t>
            </a:r>
          </a:p>
        </p:txBody>
      </p:sp>
      <p:sp>
        <p:nvSpPr>
          <p:cNvPr id="15" name="TextBox 14"/>
          <p:cNvSpPr txBox="1"/>
          <p:nvPr/>
        </p:nvSpPr>
        <p:spPr>
          <a:xfrm>
            <a:off x="1097280" y="4041648"/>
            <a:ext cx="2148840" cy="438912"/>
          </a:xfrm>
          <a:prstGeom prst="rect">
            <a:avLst/>
          </a:prstGeom>
          <a:noFill/>
        </p:spPr>
        <p:txBody>
          <a:bodyPr wrap="square" lIns="45720" rIns="45720" tIns="27432" bIns="27432" anchor="t">
            <a:spAutoFit/>
          </a:bodyPr>
          <a:lstStyle/>
          <a:p>
            <a:pPr>
              <a:spcAft>
                <a:spcPts val="600"/>
              </a:spcAft>
            </a:pPr>
            <a:r>
              <a:rPr sz="1300" b="0" i="0">
                <a:solidFill>
                  <a:srgbClr val="595959"/>
                </a:solidFill>
                <a:latin typeface="Tenorite"/>
              </a:rPr>
              <a:t>non-smokers (79.5%)</a:t>
            </a:r>
          </a:p>
        </p:txBody>
      </p:sp>
      <p:sp>
        <p:nvSpPr>
          <p:cNvPr id="16" name="Rectangle 15"/>
          <p:cNvSpPr/>
          <p:nvPr/>
        </p:nvSpPr>
        <p:spPr>
          <a:xfrm>
            <a:off x="3611880" y="3200400"/>
            <a:ext cx="2514600" cy="13716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794760" y="3310128"/>
            <a:ext cx="2148840" cy="754380"/>
          </a:xfrm>
          <a:prstGeom prst="rect">
            <a:avLst/>
          </a:prstGeom>
          <a:noFill/>
        </p:spPr>
        <p:txBody>
          <a:bodyPr wrap="square" lIns="45720" rIns="45720" tIns="27432" bIns="27432" anchor="b">
            <a:spAutoFit/>
          </a:bodyPr>
          <a:lstStyle/>
          <a:p>
            <a:pPr>
              <a:spcAft>
                <a:spcPts val="600"/>
              </a:spcAft>
            </a:pPr>
            <a:r>
              <a:rPr sz="3200" b="1" i="0">
                <a:solidFill>
                  <a:srgbClr val="C00000"/>
                </a:solidFill>
                <a:latin typeface="Tenorite"/>
              </a:rPr>
              <a:t>274</a:t>
            </a:r>
          </a:p>
        </p:txBody>
      </p:sp>
      <p:sp>
        <p:nvSpPr>
          <p:cNvPr id="18" name="TextBox 17"/>
          <p:cNvSpPr txBox="1"/>
          <p:nvPr/>
        </p:nvSpPr>
        <p:spPr>
          <a:xfrm>
            <a:off x="3794760" y="4041648"/>
            <a:ext cx="2148840" cy="438912"/>
          </a:xfrm>
          <a:prstGeom prst="rect">
            <a:avLst/>
          </a:prstGeom>
          <a:noFill/>
        </p:spPr>
        <p:txBody>
          <a:bodyPr wrap="square" lIns="45720" rIns="45720" tIns="27432" bIns="27432" anchor="t">
            <a:spAutoFit/>
          </a:bodyPr>
          <a:lstStyle/>
          <a:p>
            <a:pPr>
              <a:spcAft>
                <a:spcPts val="600"/>
              </a:spcAft>
            </a:pPr>
            <a:r>
              <a:rPr sz="1300" b="0" i="0">
                <a:solidFill>
                  <a:srgbClr val="595959"/>
                </a:solidFill>
                <a:latin typeface="Tenorite"/>
              </a:rPr>
              <a:t>smokers (20.5%)</a:t>
            </a:r>
          </a:p>
        </p:txBody>
      </p:sp>
      <p:sp>
        <p:nvSpPr>
          <p:cNvPr id="19" name="Rectangle 18"/>
          <p:cNvSpPr/>
          <p:nvPr/>
        </p:nvSpPr>
        <p:spPr>
          <a:xfrm>
            <a:off x="6309360" y="3200400"/>
            <a:ext cx="2514600" cy="13716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92240" y="3310128"/>
            <a:ext cx="2148840" cy="754380"/>
          </a:xfrm>
          <a:prstGeom prst="rect">
            <a:avLst/>
          </a:prstGeom>
          <a:noFill/>
        </p:spPr>
        <p:txBody>
          <a:bodyPr wrap="square" lIns="45720" rIns="45720" tIns="27432" bIns="27432" anchor="b">
            <a:spAutoFit/>
          </a:bodyPr>
          <a:lstStyle/>
          <a:p>
            <a:pPr>
              <a:spcAft>
                <a:spcPts val="600"/>
              </a:spcAft>
            </a:pPr>
            <a:r>
              <a:rPr sz="3200" b="1" i="0">
                <a:solidFill>
                  <a:srgbClr val="C00000"/>
                </a:solidFill>
                <a:latin typeface="Tenorite"/>
              </a:rPr>
              <a:t>3.8×</a:t>
            </a:r>
          </a:p>
        </p:txBody>
      </p:sp>
      <p:sp>
        <p:nvSpPr>
          <p:cNvPr id="21" name="TextBox 20"/>
          <p:cNvSpPr txBox="1"/>
          <p:nvPr/>
        </p:nvSpPr>
        <p:spPr>
          <a:xfrm>
            <a:off x="6492240" y="4041648"/>
            <a:ext cx="2148840" cy="438912"/>
          </a:xfrm>
          <a:prstGeom prst="rect">
            <a:avLst/>
          </a:prstGeom>
          <a:noFill/>
        </p:spPr>
        <p:txBody>
          <a:bodyPr wrap="square" lIns="45720" rIns="45720" tIns="27432" bIns="27432" anchor="t">
            <a:spAutoFit/>
          </a:bodyPr>
          <a:lstStyle/>
          <a:p>
            <a:pPr>
              <a:spcAft>
                <a:spcPts val="600"/>
              </a:spcAft>
            </a:pPr>
            <a:r>
              <a:rPr sz="1300" b="0" i="0">
                <a:solidFill>
                  <a:srgbClr val="595959"/>
                </a:solidFill>
                <a:latin typeface="Tenorite"/>
              </a:rPr>
              <a:t>smokers’ average charge vs non-smokers’</a:t>
            </a:r>
          </a:p>
        </p:txBody>
      </p:sp>
      <p:sp>
        <p:nvSpPr>
          <p:cNvPr id="22" name="TextBox 21"/>
          <p:cNvSpPr txBox="1"/>
          <p:nvPr/>
        </p:nvSpPr>
        <p:spPr>
          <a:xfrm>
            <a:off x="914400" y="4846320"/>
            <a:ext cx="7863840" cy="1188720"/>
          </a:xfrm>
          <a:prstGeom prst="rect">
            <a:avLst/>
          </a:prstGeom>
          <a:noFill/>
        </p:spPr>
        <p:txBody>
          <a:bodyPr wrap="square" lIns="45720" rIns="45720" tIns="27432" bIns="27432" anchor="t">
            <a:spAutoFit/>
          </a:bodyPr>
          <a:lstStyle/>
          <a:p>
            <a:pPr>
              <a:spcAft>
                <a:spcPts val="600"/>
              </a:spcAft>
            </a:pPr>
            <a:r>
              <a:rPr sz="1400" b="1" i="0">
                <a:solidFill>
                  <a:srgbClr val="000000"/>
                </a:solidFill>
                <a:latin typeface="Tenorite"/>
              </a:rPr>
              <a:t>Smokers average $32,050 against $8,441 for non-smokers. </a:t>
            </a:r>
            <a:r>
              <a:rPr sz="1400" b="0" i="0">
                <a:solidFill>
                  <a:srgbClr val="000000"/>
                </a:solidFill>
                <a:latin typeface="Tenorite"/>
              </a:rPr>
              <a:t>They make up a fifth of customers but account for 49% of all charges.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5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A93484-E67A-39F5-D955-518E05166FA0}"/>
              </a:ext>
            </a:extLst>
          </p:cNvPr>
          <p:cNvSpPr txBox="1">
            <a:spLocks noGrp="1"/>
          </p:cNvSpPr>
          <p:nvPr>
            <p:ph type="title"/>
          </p:nvPr>
        </p:nvSpPr>
        <p:spPr>
          <a:xfrm>
            <a:off x="1325880" y="182880"/>
            <a:ext cx="7863840" cy="1188720"/>
          </a:xfrm>
        </p:spPr>
        <p:txBody>
          <a:bodyPr anchor="b"/>
          <a:lstStyle/>
          <a:p>
            <a:pPr lvl="0"/>
            <a:r>
              <a:rPr sz="2600"/>
              <a:t>Charges by gender and region</a:t>
            </a:r>
            <a:endParaRPr lang="en-US"/>
          </a:p>
        </p:txBody>
      </p:sp>
      <p:sp>
        <p:nvSpPr>
          <p:cNvPr id="3" name="Slide Number Placeholder 3">
            <a:extLst>
              <a:ext uri="{FF2B5EF4-FFF2-40B4-BE49-F238E27FC236}">
                <a16:creationId xmlns:a16="http://schemas.microsoft.com/office/drawing/2014/main" id="{CF6E52AD-BFE5-A601-4E49-C573B675416B}"/>
              </a:ext>
            </a:extLst>
          </p:cNvPr>
          <p:cNvSpPr txBox="1"/>
          <p:nvPr/>
        </p:nvSpPr>
        <p:spPr>
          <a:xfrm>
            <a:off x="10373346" y="6356351"/>
            <a:ext cx="987552" cy="365129"/>
          </a:xfrm>
          <a:prstGeom prst="rect">
            <a:avLst/>
          </a:prstGeom>
          <a:noFill/>
          <a:ln cap="flat">
            <a:noFill/>
          </a:ln>
        </p:spPr>
        <p:txBody>
          <a:bodyPr vert="horz" wrap="square" lIns="91440" tIns="45720" rIns="91440" bIns="45720" anchor="ctr" anchorCtr="0" compatLnSpc="1">
            <a:noAutofit/>
          </a:bodyPr>
          <a:lstStyle/>
          <a:p>
            <a:pPr marL="0" marR="0" lvl="0" indent="0" algn="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fld id="{BE95AACB-055F-418F-9293-482FD0355C69}" type="slidenum">
              <a:rPr lang="en-US" sz="1200" b="0" i="0" u="none" strike="noStrike" kern="1200" cap="none" spc="0" baseline="0">
                <a:solidFill>
                  <a:srgbClr val="898989"/>
                </a:solidFill>
                <a:uFillTx/>
                <a:latin typeface="Tenorite"/>
              </a:rPr>
              <a:t>11</a:t>
            </a:fld>
            <a:endParaRPr lang="en-US" sz="900" b="0" i="0" u="none" strike="noStrike" kern="1200" cap="none" spc="0" baseline="0">
              <a:solidFill>
                <a:srgbClr val="898989"/>
              </a:solidFill>
              <a:uFillTx/>
              <a:latin typeface="Tenorite"/>
            </a:endParaRPr>
          </a:p>
        </p:txBody>
      </p:sp>
      <p:graphicFrame>
        <p:nvGraphicFramePr>
          <p:cNvPr id="4" name="Table 3"/>
          <p:cNvGraphicFramePr>
            <a:graphicFrameLocks noGrp="1"/>
          </p:cNvGraphicFramePr>
          <p:nvPr/>
        </p:nvGraphicFramePr>
        <p:xfrm>
          <a:off x="914400" y="1600200"/>
          <a:ext cx="7863840" cy="932688"/>
        </p:xfrm>
        <a:graphic>
          <a:graphicData uri="http://schemas.openxmlformats.org/drawingml/2006/table">
            <a:tbl>
              <a:tblPr firstRow="1" bandRow="0">
                <a:tableStyleId>{5C22544A-7EE6-4342-B048-85BDC9FD1C3A}</a:tableStyleId>
              </a:tblPr>
              <a:tblGrid>
                <a:gridCol w="2377440"/>
                <a:gridCol w="1828800"/>
                <a:gridCol w="1828800"/>
                <a:gridCol w="1828800"/>
              </a:tblGrid>
              <a:tr h="310896">
                <a:tc>
                  <a:txBody>
                    <a:bodyPr wrap="square"/>
                    <a:lstStyle/>
                    <a:p>
                      <a:pPr algn="l">
                        <a:spcAft>
                          <a:spcPts val="0"/>
                        </a:spcAft>
                      </a:pPr>
                      <a:r>
                        <a:rPr sz="1300" b="1" i="0">
                          <a:solidFill>
                            <a:srgbClr val="FFFFFF"/>
                          </a:solidFill>
                          <a:latin typeface="Tenorite"/>
                        </a:rPr>
                        <a:t>Gender</a:t>
                      </a:r>
                    </a:p>
                  </a:txBody>
                  <a:tcPr marL="91440" marR="91440" marT="18288" marB="18288" anchor="ctr">
                    <a:solidFill>
                      <a:srgbClr val="000000"/>
                    </a:solidFill>
                  </a:tcPr>
                </a:tc>
                <a:tc>
                  <a:txBody>
                    <a:bodyPr wrap="square"/>
                    <a:lstStyle/>
                    <a:p>
                      <a:pPr algn="r">
                        <a:spcAft>
                          <a:spcPts val="0"/>
                        </a:spcAft>
                      </a:pPr>
                      <a:r>
                        <a:rPr sz="1300" b="1" i="0">
                          <a:solidFill>
                            <a:srgbClr val="FFFFFF"/>
                          </a:solidFill>
                          <a:latin typeface="Tenorite"/>
                        </a:rPr>
                        <a:t>Customers</a:t>
                      </a:r>
                    </a:p>
                  </a:txBody>
                  <a:tcPr marL="91440" marR="91440" marT="18288" marB="18288" anchor="ctr">
                    <a:solidFill>
                      <a:srgbClr val="000000"/>
                    </a:solidFill>
                  </a:tcPr>
                </a:tc>
                <a:tc>
                  <a:txBody>
                    <a:bodyPr wrap="square"/>
                    <a:lstStyle/>
                    <a:p>
                      <a:pPr algn="r">
                        <a:spcAft>
                          <a:spcPts val="0"/>
                        </a:spcAft>
                      </a:pPr>
                      <a:r>
                        <a:rPr sz="1300" b="1" i="0">
                          <a:solidFill>
                            <a:srgbClr val="FFFFFF"/>
                          </a:solidFill>
                          <a:latin typeface="Tenorite"/>
                        </a:rPr>
                        <a:t>Avg charge</a:t>
                      </a:r>
                    </a:p>
                  </a:txBody>
                  <a:tcPr marL="91440" marR="91440" marT="18288" marB="18288" anchor="ctr">
                    <a:solidFill>
                      <a:srgbClr val="000000"/>
                    </a:solidFill>
                  </a:tcPr>
                </a:tc>
                <a:tc>
                  <a:txBody>
                    <a:bodyPr wrap="square"/>
                    <a:lstStyle/>
                    <a:p>
                      <a:pPr algn="r">
                        <a:spcAft>
                          <a:spcPts val="0"/>
                        </a:spcAft>
                      </a:pPr>
                      <a:r>
                        <a:rPr sz="1300" b="1" i="0">
                          <a:solidFill>
                            <a:srgbClr val="FFFFFF"/>
                          </a:solidFill>
                          <a:latin typeface="Tenorite"/>
                        </a:rPr>
                        <a:t>% smokers</a:t>
                      </a:r>
                    </a:p>
                  </a:txBody>
                  <a:tcPr marL="91440" marR="91440" marT="18288" marB="18288" anchor="ctr">
                    <a:solidFill>
                      <a:srgbClr val="000000"/>
                    </a:solidFill>
                  </a:tcPr>
                </a:tc>
              </a:tr>
              <a:tr h="310896">
                <a:tc>
                  <a:txBody>
                    <a:bodyPr wrap="square"/>
                    <a:lstStyle/>
                    <a:p>
                      <a:pPr algn="l">
                        <a:spcAft>
                          <a:spcPts val="0"/>
                        </a:spcAft>
                      </a:pPr>
                      <a:r>
                        <a:rPr sz="1300" b="1" i="0">
                          <a:solidFill>
                            <a:srgbClr val="C00000"/>
                          </a:solidFill>
                          <a:latin typeface="Tenorite"/>
                        </a:rPr>
                        <a:t>Male</a:t>
                      </a:r>
                    </a:p>
                  </a:txBody>
                  <a:tcPr marL="91440" marR="91440" marT="18288" marB="18288" anchor="ctr">
                    <a:solidFill>
                      <a:srgbClr val="FBE5E5"/>
                    </a:solidFill>
                  </a:tcPr>
                </a:tc>
                <a:tc>
                  <a:txBody>
                    <a:bodyPr wrap="square"/>
                    <a:lstStyle/>
                    <a:p>
                      <a:pPr algn="r">
                        <a:spcAft>
                          <a:spcPts val="0"/>
                        </a:spcAft>
                      </a:pPr>
                      <a:r>
                        <a:rPr sz="1300" b="1" i="0">
                          <a:solidFill>
                            <a:srgbClr val="C00000"/>
                          </a:solidFill>
                          <a:latin typeface="Tenorite"/>
                        </a:rPr>
                        <a:t>675</a:t>
                      </a:r>
                    </a:p>
                  </a:txBody>
                  <a:tcPr marL="91440" marR="91440" marT="18288" marB="18288" anchor="ctr">
                    <a:solidFill>
                      <a:srgbClr val="FBE5E5"/>
                    </a:solidFill>
                  </a:tcPr>
                </a:tc>
                <a:tc>
                  <a:txBody>
                    <a:bodyPr wrap="square"/>
                    <a:lstStyle/>
                    <a:p>
                      <a:pPr algn="r">
                        <a:spcAft>
                          <a:spcPts val="0"/>
                        </a:spcAft>
                      </a:pPr>
                      <a:r>
                        <a:rPr sz="1300" b="1" i="0">
                          <a:solidFill>
                            <a:srgbClr val="C00000"/>
                          </a:solidFill>
                          <a:latin typeface="Tenorite"/>
                        </a:rPr>
                        <a:t>$13,975</a:t>
                      </a:r>
                    </a:p>
                  </a:txBody>
                  <a:tcPr marL="91440" marR="91440" marT="18288" marB="18288" anchor="ctr">
                    <a:solidFill>
                      <a:srgbClr val="FBE5E5"/>
                    </a:solidFill>
                  </a:tcPr>
                </a:tc>
                <a:tc>
                  <a:txBody>
                    <a:bodyPr wrap="square"/>
                    <a:lstStyle/>
                    <a:p>
                      <a:pPr algn="r">
                        <a:spcAft>
                          <a:spcPts val="0"/>
                        </a:spcAft>
                      </a:pPr>
                      <a:r>
                        <a:rPr sz="1300" b="1" i="0">
                          <a:solidFill>
                            <a:srgbClr val="C00000"/>
                          </a:solidFill>
                          <a:latin typeface="Tenorite"/>
                        </a:rPr>
                        <a:t>23.6%</a:t>
                      </a:r>
                    </a:p>
                  </a:txBody>
                  <a:tcPr marL="91440" marR="91440" marT="18288" marB="18288" anchor="ctr">
                    <a:solidFill>
                      <a:srgbClr val="FBE5E5"/>
                    </a:solidFill>
                  </a:tcPr>
                </a:tc>
              </a:tr>
              <a:tr h="310896">
                <a:tc>
                  <a:txBody>
                    <a:bodyPr wrap="square"/>
                    <a:lstStyle/>
                    <a:p>
                      <a:pPr algn="l">
                        <a:spcAft>
                          <a:spcPts val="0"/>
                        </a:spcAft>
                      </a:pPr>
                      <a:r>
                        <a:rPr sz="1300" b="0" i="0">
                          <a:solidFill>
                            <a:srgbClr val="000000"/>
                          </a:solidFill>
                          <a:latin typeface="Tenorite"/>
                        </a:rPr>
                        <a:t>Female</a:t>
                      </a:r>
                    </a:p>
                  </a:txBody>
                  <a:tcPr marL="91440" marR="91440" marT="18288" marB="18288" anchor="ctr">
                    <a:solidFill>
                      <a:srgbClr val="F2F2F2"/>
                    </a:solidFill>
                  </a:tcPr>
                </a:tc>
                <a:tc>
                  <a:txBody>
                    <a:bodyPr wrap="square"/>
                    <a:lstStyle/>
                    <a:p>
                      <a:pPr algn="r">
                        <a:spcAft>
                          <a:spcPts val="0"/>
                        </a:spcAft>
                      </a:pPr>
                      <a:r>
                        <a:rPr sz="1300" b="0" i="0">
                          <a:solidFill>
                            <a:srgbClr val="000000"/>
                          </a:solidFill>
                          <a:latin typeface="Tenorite"/>
                        </a:rPr>
                        <a:t>662</a:t>
                      </a:r>
                    </a:p>
                  </a:txBody>
                  <a:tcPr marL="91440" marR="91440" marT="18288" marB="18288" anchor="ctr">
                    <a:solidFill>
                      <a:srgbClr val="F2F2F2"/>
                    </a:solidFill>
                  </a:tcPr>
                </a:tc>
                <a:tc>
                  <a:txBody>
                    <a:bodyPr wrap="square"/>
                    <a:lstStyle/>
                    <a:p>
                      <a:pPr algn="r">
                        <a:spcAft>
                          <a:spcPts val="0"/>
                        </a:spcAft>
                      </a:pPr>
                      <a:r>
                        <a:rPr sz="1300" b="0" i="0">
                          <a:solidFill>
                            <a:srgbClr val="000000"/>
                          </a:solidFill>
                          <a:latin typeface="Tenorite"/>
                        </a:rPr>
                        <a:t>$12,570</a:t>
                      </a:r>
                    </a:p>
                  </a:txBody>
                  <a:tcPr marL="91440" marR="91440" marT="18288" marB="18288" anchor="ctr">
                    <a:solidFill>
                      <a:srgbClr val="F2F2F2"/>
                    </a:solidFill>
                  </a:tcPr>
                </a:tc>
                <a:tc>
                  <a:txBody>
                    <a:bodyPr wrap="square"/>
                    <a:lstStyle/>
                    <a:p>
                      <a:pPr algn="r">
                        <a:spcAft>
                          <a:spcPts val="0"/>
                        </a:spcAft>
                      </a:pPr>
                      <a:r>
                        <a:rPr sz="1300" b="0" i="0">
                          <a:solidFill>
                            <a:srgbClr val="000000"/>
                          </a:solidFill>
                          <a:latin typeface="Tenorite"/>
                        </a:rPr>
                        <a:t>17.4%</a:t>
                      </a:r>
                    </a:p>
                  </a:txBody>
                  <a:tcPr marL="91440" marR="91440" marT="18288" marB="18288" anchor="ctr">
                    <a:solidFill>
                      <a:srgbClr val="F2F2F2"/>
                    </a:solidFill>
                  </a:tcPr>
                </a:tc>
              </a:tr>
            </a:tbl>
          </a:graphicData>
        </a:graphic>
      </p:graphicFrame>
      <p:graphicFrame>
        <p:nvGraphicFramePr>
          <p:cNvPr id="5" name="Table 4"/>
          <p:cNvGraphicFramePr>
            <a:graphicFrameLocks noGrp="1"/>
          </p:cNvGraphicFramePr>
          <p:nvPr/>
        </p:nvGraphicFramePr>
        <p:xfrm>
          <a:off x="914400" y="2834640"/>
          <a:ext cx="7863840" cy="1554480"/>
        </p:xfrm>
        <a:graphic>
          <a:graphicData uri="http://schemas.openxmlformats.org/drawingml/2006/table">
            <a:tbl>
              <a:tblPr firstRow="1" bandRow="0">
                <a:tableStyleId>{5C22544A-7EE6-4342-B048-85BDC9FD1C3A}</a:tableStyleId>
              </a:tblPr>
              <a:tblGrid>
                <a:gridCol w="2377440"/>
                <a:gridCol w="1828800"/>
                <a:gridCol w="1828800"/>
                <a:gridCol w="1828800"/>
              </a:tblGrid>
              <a:tr h="310896">
                <a:tc>
                  <a:txBody>
                    <a:bodyPr wrap="square"/>
                    <a:lstStyle/>
                    <a:p>
                      <a:pPr algn="l">
                        <a:spcAft>
                          <a:spcPts val="0"/>
                        </a:spcAft>
                      </a:pPr>
                      <a:r>
                        <a:rPr sz="1300" b="1" i="0">
                          <a:solidFill>
                            <a:srgbClr val="FFFFFF"/>
                          </a:solidFill>
                          <a:latin typeface="Tenorite"/>
                        </a:rPr>
                        <a:t>Region</a:t>
                      </a:r>
                    </a:p>
                  </a:txBody>
                  <a:tcPr marL="91440" marR="91440" marT="18288" marB="18288" anchor="ctr">
                    <a:solidFill>
                      <a:srgbClr val="000000"/>
                    </a:solidFill>
                  </a:tcPr>
                </a:tc>
                <a:tc>
                  <a:txBody>
                    <a:bodyPr wrap="square"/>
                    <a:lstStyle/>
                    <a:p>
                      <a:pPr algn="r">
                        <a:spcAft>
                          <a:spcPts val="0"/>
                        </a:spcAft>
                      </a:pPr>
                      <a:r>
                        <a:rPr sz="1300" b="1" i="0">
                          <a:solidFill>
                            <a:srgbClr val="FFFFFF"/>
                          </a:solidFill>
                          <a:latin typeface="Tenorite"/>
                        </a:rPr>
                        <a:t>Customers</a:t>
                      </a:r>
                    </a:p>
                  </a:txBody>
                  <a:tcPr marL="91440" marR="91440" marT="18288" marB="18288" anchor="ctr">
                    <a:solidFill>
                      <a:srgbClr val="000000"/>
                    </a:solidFill>
                  </a:tcPr>
                </a:tc>
                <a:tc>
                  <a:txBody>
                    <a:bodyPr wrap="square"/>
                    <a:lstStyle/>
                    <a:p>
                      <a:pPr algn="r">
                        <a:spcAft>
                          <a:spcPts val="0"/>
                        </a:spcAft>
                      </a:pPr>
                      <a:r>
                        <a:rPr sz="1300" b="1" i="0">
                          <a:solidFill>
                            <a:srgbClr val="FFFFFF"/>
                          </a:solidFill>
                          <a:latin typeface="Tenorite"/>
                        </a:rPr>
                        <a:t>Avg charge</a:t>
                      </a:r>
                    </a:p>
                  </a:txBody>
                  <a:tcPr marL="91440" marR="91440" marT="18288" marB="18288" anchor="ctr">
                    <a:solidFill>
                      <a:srgbClr val="000000"/>
                    </a:solidFill>
                  </a:tcPr>
                </a:tc>
                <a:tc>
                  <a:txBody>
                    <a:bodyPr wrap="square"/>
                    <a:lstStyle/>
                    <a:p>
                      <a:pPr algn="r">
                        <a:spcAft>
                          <a:spcPts val="0"/>
                        </a:spcAft>
                      </a:pPr>
                      <a:r>
                        <a:rPr sz="1300" b="1" i="0">
                          <a:solidFill>
                            <a:srgbClr val="FFFFFF"/>
                          </a:solidFill>
                          <a:latin typeface="Tenorite"/>
                        </a:rPr>
                        <a:t>% smokers</a:t>
                      </a:r>
                    </a:p>
                  </a:txBody>
                  <a:tcPr marL="91440" marR="91440" marT="18288" marB="18288" anchor="ctr">
                    <a:solidFill>
                      <a:srgbClr val="000000"/>
                    </a:solidFill>
                  </a:tcPr>
                </a:tc>
              </a:tr>
              <a:tr h="310896">
                <a:tc>
                  <a:txBody>
                    <a:bodyPr wrap="square"/>
                    <a:lstStyle/>
                    <a:p>
                      <a:pPr algn="l">
                        <a:spcAft>
                          <a:spcPts val="0"/>
                        </a:spcAft>
                      </a:pPr>
                      <a:r>
                        <a:rPr sz="1300" b="1" i="0">
                          <a:solidFill>
                            <a:srgbClr val="C00000"/>
                          </a:solidFill>
                          <a:latin typeface="Tenorite"/>
                        </a:rPr>
                        <a:t>Southeast</a:t>
                      </a:r>
                    </a:p>
                  </a:txBody>
                  <a:tcPr marL="91440" marR="91440" marT="18288" marB="18288" anchor="ctr">
                    <a:solidFill>
                      <a:srgbClr val="FBE5E5"/>
                    </a:solidFill>
                  </a:tcPr>
                </a:tc>
                <a:tc>
                  <a:txBody>
                    <a:bodyPr wrap="square"/>
                    <a:lstStyle/>
                    <a:p>
                      <a:pPr algn="r">
                        <a:spcAft>
                          <a:spcPts val="0"/>
                        </a:spcAft>
                      </a:pPr>
                      <a:r>
                        <a:rPr sz="1300" b="1" i="0">
                          <a:solidFill>
                            <a:srgbClr val="C00000"/>
                          </a:solidFill>
                          <a:latin typeface="Tenorite"/>
                        </a:rPr>
                        <a:t>364</a:t>
                      </a:r>
                    </a:p>
                  </a:txBody>
                  <a:tcPr marL="91440" marR="91440" marT="18288" marB="18288" anchor="ctr">
                    <a:solidFill>
                      <a:srgbClr val="FBE5E5"/>
                    </a:solidFill>
                  </a:tcPr>
                </a:tc>
                <a:tc>
                  <a:txBody>
                    <a:bodyPr wrap="square"/>
                    <a:lstStyle/>
                    <a:p>
                      <a:pPr algn="r">
                        <a:spcAft>
                          <a:spcPts val="0"/>
                        </a:spcAft>
                      </a:pPr>
                      <a:r>
                        <a:rPr sz="1300" b="1" i="0">
                          <a:solidFill>
                            <a:srgbClr val="C00000"/>
                          </a:solidFill>
                          <a:latin typeface="Tenorite"/>
                        </a:rPr>
                        <a:t>$14,735</a:t>
                      </a:r>
                    </a:p>
                  </a:txBody>
                  <a:tcPr marL="91440" marR="91440" marT="18288" marB="18288" anchor="ctr">
                    <a:solidFill>
                      <a:srgbClr val="FBE5E5"/>
                    </a:solidFill>
                  </a:tcPr>
                </a:tc>
                <a:tc>
                  <a:txBody>
                    <a:bodyPr wrap="square"/>
                    <a:lstStyle/>
                    <a:p>
                      <a:pPr algn="r">
                        <a:spcAft>
                          <a:spcPts val="0"/>
                        </a:spcAft>
                      </a:pPr>
                      <a:r>
                        <a:rPr sz="1300" b="1" i="0">
                          <a:solidFill>
                            <a:srgbClr val="C00000"/>
                          </a:solidFill>
                          <a:latin typeface="Tenorite"/>
                        </a:rPr>
                        <a:t>25.0%</a:t>
                      </a:r>
                    </a:p>
                  </a:txBody>
                  <a:tcPr marL="91440" marR="91440" marT="18288" marB="18288" anchor="ctr">
                    <a:solidFill>
                      <a:srgbClr val="FBE5E5"/>
                    </a:solidFill>
                  </a:tcPr>
                </a:tc>
              </a:tr>
              <a:tr h="310896">
                <a:tc>
                  <a:txBody>
                    <a:bodyPr wrap="square"/>
                    <a:lstStyle/>
                    <a:p>
                      <a:pPr algn="l">
                        <a:spcAft>
                          <a:spcPts val="0"/>
                        </a:spcAft>
                      </a:pPr>
                      <a:r>
                        <a:rPr sz="1300" b="0" i="0">
                          <a:solidFill>
                            <a:srgbClr val="000000"/>
                          </a:solidFill>
                          <a:latin typeface="Tenorite"/>
                        </a:rPr>
                        <a:t>Northeast</a:t>
                      </a:r>
                    </a:p>
                  </a:txBody>
                  <a:tcPr marL="91440" marR="91440" marT="18288" marB="18288" anchor="ctr">
                    <a:solidFill>
                      <a:srgbClr val="F2F2F2"/>
                    </a:solidFill>
                  </a:tcPr>
                </a:tc>
                <a:tc>
                  <a:txBody>
                    <a:bodyPr wrap="square"/>
                    <a:lstStyle/>
                    <a:p>
                      <a:pPr algn="r">
                        <a:spcAft>
                          <a:spcPts val="0"/>
                        </a:spcAft>
                      </a:pPr>
                      <a:r>
                        <a:rPr sz="1300" b="0" i="0">
                          <a:solidFill>
                            <a:srgbClr val="000000"/>
                          </a:solidFill>
                          <a:latin typeface="Tenorite"/>
                        </a:rPr>
                        <a:t>324</a:t>
                      </a:r>
                    </a:p>
                  </a:txBody>
                  <a:tcPr marL="91440" marR="91440" marT="18288" marB="18288" anchor="ctr">
                    <a:solidFill>
                      <a:srgbClr val="F2F2F2"/>
                    </a:solidFill>
                  </a:tcPr>
                </a:tc>
                <a:tc>
                  <a:txBody>
                    <a:bodyPr wrap="square"/>
                    <a:lstStyle/>
                    <a:p>
                      <a:pPr algn="r">
                        <a:spcAft>
                          <a:spcPts val="0"/>
                        </a:spcAft>
                      </a:pPr>
                      <a:r>
                        <a:rPr sz="1300" b="0" i="0">
                          <a:solidFill>
                            <a:srgbClr val="000000"/>
                          </a:solidFill>
                          <a:latin typeface="Tenorite"/>
                        </a:rPr>
                        <a:t>$13,406</a:t>
                      </a:r>
                    </a:p>
                  </a:txBody>
                  <a:tcPr marL="91440" marR="91440" marT="18288" marB="18288" anchor="ctr">
                    <a:solidFill>
                      <a:srgbClr val="F2F2F2"/>
                    </a:solidFill>
                  </a:tcPr>
                </a:tc>
                <a:tc>
                  <a:txBody>
                    <a:bodyPr wrap="square"/>
                    <a:lstStyle/>
                    <a:p>
                      <a:pPr algn="r">
                        <a:spcAft>
                          <a:spcPts val="0"/>
                        </a:spcAft>
                      </a:pPr>
                      <a:r>
                        <a:rPr sz="1300" b="0" i="0">
                          <a:solidFill>
                            <a:srgbClr val="000000"/>
                          </a:solidFill>
                          <a:latin typeface="Tenorite"/>
                        </a:rPr>
                        <a:t>20.7%</a:t>
                      </a:r>
                    </a:p>
                  </a:txBody>
                  <a:tcPr marL="91440" marR="91440" marT="18288" marB="18288" anchor="ctr">
                    <a:solidFill>
                      <a:srgbClr val="F2F2F2"/>
                    </a:solidFill>
                  </a:tcPr>
                </a:tc>
              </a:tr>
              <a:tr h="310896">
                <a:tc>
                  <a:txBody>
                    <a:bodyPr wrap="square"/>
                    <a:lstStyle/>
                    <a:p>
                      <a:pPr algn="l">
                        <a:spcAft>
                          <a:spcPts val="0"/>
                        </a:spcAft>
                      </a:pPr>
                      <a:r>
                        <a:rPr sz="1300" b="0" i="0">
                          <a:solidFill>
                            <a:srgbClr val="000000"/>
                          </a:solidFill>
                          <a:latin typeface="Tenorite"/>
                        </a:rPr>
                        <a:t>Northwest</a:t>
                      </a:r>
                    </a:p>
                  </a:txBody>
                  <a:tcPr marL="91440" marR="91440" marT="18288" marB="18288" anchor="ctr">
                    <a:solidFill>
                      <a:srgbClr val="FFFFFF"/>
                    </a:solidFill>
                  </a:tcPr>
                </a:tc>
                <a:tc>
                  <a:txBody>
                    <a:bodyPr wrap="square"/>
                    <a:lstStyle/>
                    <a:p>
                      <a:pPr algn="r">
                        <a:spcAft>
                          <a:spcPts val="0"/>
                        </a:spcAft>
                      </a:pPr>
                      <a:r>
                        <a:rPr sz="1300" b="0" i="0">
                          <a:solidFill>
                            <a:srgbClr val="000000"/>
                          </a:solidFill>
                          <a:latin typeface="Tenorite"/>
                        </a:rPr>
                        <a:t>324</a:t>
                      </a:r>
                    </a:p>
                  </a:txBody>
                  <a:tcPr marL="91440" marR="91440" marT="18288" marB="18288" anchor="ctr">
                    <a:solidFill>
                      <a:srgbClr val="FFFFFF"/>
                    </a:solidFill>
                  </a:tcPr>
                </a:tc>
                <a:tc>
                  <a:txBody>
                    <a:bodyPr wrap="square"/>
                    <a:lstStyle/>
                    <a:p>
                      <a:pPr algn="r">
                        <a:spcAft>
                          <a:spcPts val="0"/>
                        </a:spcAft>
                      </a:pPr>
                      <a:r>
                        <a:rPr sz="1300" b="0" i="0">
                          <a:solidFill>
                            <a:srgbClr val="000000"/>
                          </a:solidFill>
                          <a:latin typeface="Tenorite"/>
                        </a:rPr>
                        <a:t>$12,451</a:t>
                      </a:r>
                    </a:p>
                  </a:txBody>
                  <a:tcPr marL="91440" marR="91440" marT="18288" marB="18288" anchor="ctr">
                    <a:solidFill>
                      <a:srgbClr val="FFFFFF"/>
                    </a:solidFill>
                  </a:tcPr>
                </a:tc>
                <a:tc>
                  <a:txBody>
                    <a:bodyPr wrap="square"/>
                    <a:lstStyle/>
                    <a:p>
                      <a:pPr algn="r">
                        <a:spcAft>
                          <a:spcPts val="0"/>
                        </a:spcAft>
                      </a:pPr>
                      <a:r>
                        <a:rPr sz="1300" b="0" i="0">
                          <a:solidFill>
                            <a:srgbClr val="000000"/>
                          </a:solidFill>
                          <a:latin typeface="Tenorite"/>
                        </a:rPr>
                        <a:t>17.9%</a:t>
                      </a:r>
                    </a:p>
                  </a:txBody>
                  <a:tcPr marL="91440" marR="91440" marT="18288" marB="18288" anchor="ctr">
                    <a:solidFill>
                      <a:srgbClr val="FFFFFF"/>
                    </a:solidFill>
                  </a:tcPr>
                </a:tc>
              </a:tr>
              <a:tr h="310896">
                <a:tc>
                  <a:txBody>
                    <a:bodyPr wrap="square"/>
                    <a:lstStyle/>
                    <a:p>
                      <a:pPr algn="l">
                        <a:spcAft>
                          <a:spcPts val="0"/>
                        </a:spcAft>
                      </a:pPr>
                      <a:r>
                        <a:rPr sz="1300" b="0" i="0">
                          <a:solidFill>
                            <a:srgbClr val="000000"/>
                          </a:solidFill>
                          <a:latin typeface="Tenorite"/>
                        </a:rPr>
                        <a:t>Southwest</a:t>
                      </a:r>
                    </a:p>
                  </a:txBody>
                  <a:tcPr marL="91440" marR="91440" marT="18288" marB="18288" anchor="ctr">
                    <a:solidFill>
                      <a:srgbClr val="F2F2F2"/>
                    </a:solidFill>
                  </a:tcPr>
                </a:tc>
                <a:tc>
                  <a:txBody>
                    <a:bodyPr wrap="square"/>
                    <a:lstStyle/>
                    <a:p>
                      <a:pPr algn="r">
                        <a:spcAft>
                          <a:spcPts val="0"/>
                        </a:spcAft>
                      </a:pPr>
                      <a:r>
                        <a:rPr sz="1300" b="0" i="0">
                          <a:solidFill>
                            <a:srgbClr val="000000"/>
                          </a:solidFill>
                          <a:latin typeface="Tenorite"/>
                        </a:rPr>
                        <a:t>325</a:t>
                      </a:r>
                    </a:p>
                  </a:txBody>
                  <a:tcPr marL="91440" marR="91440" marT="18288" marB="18288" anchor="ctr">
                    <a:solidFill>
                      <a:srgbClr val="F2F2F2"/>
                    </a:solidFill>
                  </a:tcPr>
                </a:tc>
                <a:tc>
                  <a:txBody>
                    <a:bodyPr wrap="square"/>
                    <a:lstStyle/>
                    <a:p>
                      <a:pPr algn="r">
                        <a:spcAft>
                          <a:spcPts val="0"/>
                        </a:spcAft>
                      </a:pPr>
                      <a:r>
                        <a:rPr sz="1300" b="0" i="0">
                          <a:solidFill>
                            <a:srgbClr val="000000"/>
                          </a:solidFill>
                          <a:latin typeface="Tenorite"/>
                        </a:rPr>
                        <a:t>$12,347</a:t>
                      </a:r>
                    </a:p>
                  </a:txBody>
                  <a:tcPr marL="91440" marR="91440" marT="18288" marB="18288" anchor="ctr">
                    <a:solidFill>
                      <a:srgbClr val="F2F2F2"/>
                    </a:solidFill>
                  </a:tcPr>
                </a:tc>
                <a:tc>
                  <a:txBody>
                    <a:bodyPr wrap="square"/>
                    <a:lstStyle/>
                    <a:p>
                      <a:pPr algn="r">
                        <a:spcAft>
                          <a:spcPts val="0"/>
                        </a:spcAft>
                      </a:pPr>
                      <a:r>
                        <a:rPr sz="1300" b="0" i="0">
                          <a:solidFill>
                            <a:srgbClr val="000000"/>
                          </a:solidFill>
                          <a:latin typeface="Tenorite"/>
                        </a:rPr>
                        <a:t>17.8%</a:t>
                      </a:r>
                    </a:p>
                  </a:txBody>
                  <a:tcPr marL="91440" marR="91440" marT="18288" marB="18288" anchor="ctr">
                    <a:solidFill>
                      <a:srgbClr val="F2F2F2"/>
                    </a:solidFill>
                  </a:tcPr>
                </a:tc>
              </a:tr>
            </a:tbl>
          </a:graphicData>
        </a:graphic>
      </p:graphicFrame>
      <p:sp>
        <p:nvSpPr>
          <p:cNvPr id="6" name="TextBox 5"/>
          <p:cNvSpPr txBox="1"/>
          <p:nvPr/>
        </p:nvSpPr>
        <p:spPr>
          <a:xfrm>
            <a:off x="914400" y="4572000"/>
            <a:ext cx="8046720" cy="1463040"/>
          </a:xfrm>
          <a:prstGeom prst="rect">
            <a:avLst/>
          </a:prstGeom>
          <a:noFill/>
        </p:spPr>
        <p:txBody>
          <a:bodyPr wrap="square" lIns="45720" rIns="45720" tIns="27432" bIns="27432" anchor="t">
            <a:spAutoFit/>
          </a:bodyPr>
          <a:lstStyle/>
          <a:p>
            <a:pPr>
              <a:spcAft>
                <a:spcPts val="600"/>
              </a:spcAft>
            </a:pPr>
            <a:r>
              <a:rPr sz="1400" b="1" i="0">
                <a:solidFill>
                  <a:srgbClr val="C00000"/>
                </a:solidFill>
                <a:latin typeface="Tenorite"/>
              </a:rPr>
              <a:t>Takeaway: </a:t>
            </a:r>
            <a:r>
              <a:rPr sz="1400" b="0" i="0">
                <a:solidFill>
                  <a:srgbClr val="000000"/>
                </a:solidFill>
                <a:latin typeface="Tenorite"/>
              </a:rPr>
              <a:t>men and the Southeast pay more on average, but they also have the most smokers. Smoking, rather than gender or region, is the likely reason for the gap.</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3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EC1484-2E95-CFCD-4AA9-26D44E67D90C}"/>
              </a:ext>
            </a:extLst>
          </p:cNvPr>
          <p:cNvSpPr txBox="1">
            <a:spLocks noGrp="1"/>
          </p:cNvSpPr>
          <p:nvPr>
            <p:ph type="title"/>
          </p:nvPr>
        </p:nvSpPr>
        <p:spPr>
          <a:xfrm>
            <a:off x="1325880" y="182880"/>
            <a:ext cx="7863840" cy="1188720"/>
          </a:xfrm>
        </p:spPr>
        <p:txBody>
          <a:bodyPr anchor="b"/>
          <a:lstStyle/>
          <a:p>
            <a:pPr lvl="0"/>
            <a:r>
              <a:rPr sz="2600"/>
              <a:t>Charges by number of children</a:t>
            </a:r>
          </a:p>
        </p:txBody>
      </p:sp>
      <p:sp>
        <p:nvSpPr>
          <p:cNvPr id="3" name="Slide Number Placeholder 3">
            <a:extLst>
              <a:ext uri="{FF2B5EF4-FFF2-40B4-BE49-F238E27FC236}">
                <a16:creationId xmlns:a16="http://schemas.microsoft.com/office/drawing/2014/main" id="{C47AABEF-C9EE-C019-B980-DB62845B05BC}"/>
              </a:ext>
            </a:extLst>
          </p:cNvPr>
          <p:cNvSpPr txBox="1"/>
          <p:nvPr/>
        </p:nvSpPr>
        <p:spPr>
          <a:xfrm>
            <a:off x="10373346" y="6356351"/>
            <a:ext cx="987552" cy="365129"/>
          </a:xfrm>
          <a:prstGeom prst="rect">
            <a:avLst/>
          </a:prstGeom>
          <a:noFill/>
          <a:ln cap="flat">
            <a:noFill/>
          </a:ln>
        </p:spPr>
        <p:txBody>
          <a:bodyPr vert="horz" wrap="square" lIns="91440" tIns="45720" rIns="91440" bIns="45720" anchor="ctr" anchorCtr="0" compatLnSpc="1">
            <a:noAutofit/>
          </a:bodyPr>
          <a:lstStyle/>
          <a:p>
            <a:pPr marL="0" marR="0" lvl="0" indent="0" algn="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fld id="{39DEE006-08C2-4C81-AA4C-185E5C8675A8}" type="slidenum">
              <a:rPr lang="en-US" sz="1200" b="0" i="0" u="none" strike="noStrike" kern="1200" cap="none" spc="0" baseline="0">
                <a:solidFill>
                  <a:srgbClr val="898989"/>
                </a:solidFill>
                <a:uFillTx/>
                <a:latin typeface="Tenorite"/>
              </a:rPr>
              <a:t>12</a:t>
            </a:fld>
            <a:endParaRPr lang="en-US" sz="900" b="0" i="0" u="none" strike="noStrike" kern="1200" cap="none" spc="0" baseline="0">
              <a:solidFill>
                <a:srgbClr val="898989"/>
              </a:solidFill>
              <a:uFillTx/>
              <a:latin typeface="Tenorite"/>
            </a:endParaRPr>
          </a:p>
        </p:txBody>
      </p:sp>
      <p:graphicFrame>
        <p:nvGraphicFramePr>
          <p:cNvPr id="4" name="Table 3"/>
          <p:cNvGraphicFramePr>
            <a:graphicFrameLocks noGrp="1"/>
          </p:cNvGraphicFramePr>
          <p:nvPr/>
        </p:nvGraphicFramePr>
        <p:xfrm>
          <a:off x="914400" y="1600200"/>
          <a:ext cx="7863840" cy="2304288"/>
        </p:xfrm>
        <a:graphic>
          <a:graphicData uri="http://schemas.openxmlformats.org/drawingml/2006/table">
            <a:tbl>
              <a:tblPr firstRow="1" bandRow="0">
                <a:tableStyleId>{5C22544A-7EE6-4342-B048-85BDC9FD1C3A}</a:tableStyleId>
              </a:tblPr>
              <a:tblGrid>
                <a:gridCol w="2377440"/>
                <a:gridCol w="1828800"/>
                <a:gridCol w="1828800"/>
                <a:gridCol w="1828800"/>
              </a:tblGrid>
              <a:tr h="329184">
                <a:tc>
                  <a:txBody>
                    <a:bodyPr wrap="square"/>
                    <a:lstStyle/>
                    <a:p>
                      <a:pPr algn="l">
                        <a:spcAft>
                          <a:spcPts val="0"/>
                        </a:spcAft>
                      </a:pPr>
                      <a:r>
                        <a:rPr sz="1300" b="1" i="0">
                          <a:solidFill>
                            <a:srgbClr val="FFFFFF"/>
                          </a:solidFill>
                          <a:latin typeface="Tenorite"/>
                        </a:rPr>
                        <a:t>Children</a:t>
                      </a:r>
                    </a:p>
                  </a:txBody>
                  <a:tcPr marL="91440" marR="91440" marT="18288" marB="18288" anchor="ctr">
                    <a:solidFill>
                      <a:srgbClr val="000000"/>
                    </a:solidFill>
                  </a:tcPr>
                </a:tc>
                <a:tc>
                  <a:txBody>
                    <a:bodyPr wrap="square"/>
                    <a:lstStyle/>
                    <a:p>
                      <a:pPr algn="r">
                        <a:spcAft>
                          <a:spcPts val="0"/>
                        </a:spcAft>
                      </a:pPr>
                      <a:r>
                        <a:rPr sz="1300" b="1" i="0">
                          <a:solidFill>
                            <a:srgbClr val="FFFFFF"/>
                          </a:solidFill>
                          <a:latin typeface="Tenorite"/>
                        </a:rPr>
                        <a:t>Customers</a:t>
                      </a:r>
                    </a:p>
                  </a:txBody>
                  <a:tcPr marL="91440" marR="91440" marT="18288" marB="18288" anchor="ctr">
                    <a:solidFill>
                      <a:srgbClr val="000000"/>
                    </a:solidFill>
                  </a:tcPr>
                </a:tc>
                <a:tc>
                  <a:txBody>
                    <a:bodyPr wrap="square"/>
                    <a:lstStyle/>
                    <a:p>
                      <a:pPr algn="r">
                        <a:spcAft>
                          <a:spcPts val="0"/>
                        </a:spcAft>
                      </a:pPr>
                      <a:r>
                        <a:rPr sz="1300" b="1" i="0">
                          <a:solidFill>
                            <a:srgbClr val="FFFFFF"/>
                          </a:solidFill>
                          <a:latin typeface="Tenorite"/>
                        </a:rPr>
                        <a:t>Avg charge</a:t>
                      </a:r>
                    </a:p>
                  </a:txBody>
                  <a:tcPr marL="91440" marR="91440" marT="18288" marB="18288" anchor="ctr">
                    <a:solidFill>
                      <a:srgbClr val="000000"/>
                    </a:solidFill>
                  </a:tcPr>
                </a:tc>
                <a:tc>
                  <a:txBody>
                    <a:bodyPr wrap="square"/>
                    <a:lstStyle/>
                    <a:p>
                      <a:pPr algn="r">
                        <a:spcAft>
                          <a:spcPts val="0"/>
                        </a:spcAft>
                      </a:pPr>
                      <a:r>
                        <a:rPr sz="1300" b="1" i="0">
                          <a:solidFill>
                            <a:srgbClr val="FFFFFF"/>
                          </a:solidFill>
                          <a:latin typeface="Tenorite"/>
                        </a:rPr>
                        <a:t>% smokers</a:t>
                      </a:r>
                    </a:p>
                  </a:txBody>
                  <a:tcPr marL="91440" marR="91440" marT="18288" marB="18288" anchor="ctr">
                    <a:solidFill>
                      <a:srgbClr val="000000"/>
                    </a:solidFill>
                  </a:tcPr>
                </a:tc>
              </a:tr>
              <a:tr h="329184">
                <a:tc>
                  <a:txBody>
                    <a:bodyPr wrap="square"/>
                    <a:lstStyle/>
                    <a:p>
                      <a:pPr algn="l">
                        <a:spcAft>
                          <a:spcPts val="0"/>
                        </a:spcAft>
                      </a:pPr>
                      <a:r>
                        <a:rPr sz="1300" b="0" i="0">
                          <a:solidFill>
                            <a:srgbClr val="000000"/>
                          </a:solidFill>
                          <a:latin typeface="Tenorite"/>
                        </a:rPr>
                        <a:t>0</a:t>
                      </a:r>
                    </a:p>
                  </a:txBody>
                  <a:tcPr marL="91440" marR="91440" marT="18288" marB="18288" anchor="ctr">
                    <a:solidFill>
                      <a:srgbClr val="FFFFFF"/>
                    </a:solidFill>
                  </a:tcPr>
                </a:tc>
                <a:tc>
                  <a:txBody>
                    <a:bodyPr wrap="square"/>
                    <a:lstStyle/>
                    <a:p>
                      <a:pPr algn="r">
                        <a:spcAft>
                          <a:spcPts val="0"/>
                        </a:spcAft>
                      </a:pPr>
                      <a:r>
                        <a:rPr sz="1300" b="0" i="0">
                          <a:solidFill>
                            <a:srgbClr val="000000"/>
                          </a:solidFill>
                          <a:latin typeface="Tenorite"/>
                        </a:rPr>
                        <a:t>573</a:t>
                      </a:r>
                    </a:p>
                  </a:txBody>
                  <a:tcPr marL="91440" marR="91440" marT="18288" marB="18288" anchor="ctr">
                    <a:solidFill>
                      <a:srgbClr val="FFFFFF"/>
                    </a:solidFill>
                  </a:tcPr>
                </a:tc>
                <a:tc>
                  <a:txBody>
                    <a:bodyPr wrap="square"/>
                    <a:lstStyle/>
                    <a:p>
                      <a:pPr algn="r">
                        <a:spcAft>
                          <a:spcPts val="0"/>
                        </a:spcAft>
                      </a:pPr>
                      <a:r>
                        <a:rPr sz="1300" b="0" i="0">
                          <a:solidFill>
                            <a:srgbClr val="000000"/>
                          </a:solidFill>
                          <a:latin typeface="Tenorite"/>
                        </a:rPr>
                        <a:t>$12,385</a:t>
                      </a:r>
                    </a:p>
                  </a:txBody>
                  <a:tcPr marL="91440" marR="91440" marT="18288" marB="18288" anchor="ctr">
                    <a:solidFill>
                      <a:srgbClr val="FFFFFF"/>
                    </a:solidFill>
                  </a:tcPr>
                </a:tc>
                <a:tc>
                  <a:txBody>
                    <a:bodyPr wrap="square"/>
                    <a:lstStyle/>
                    <a:p>
                      <a:pPr algn="r">
                        <a:spcAft>
                          <a:spcPts val="0"/>
                        </a:spcAft>
                      </a:pPr>
                      <a:r>
                        <a:rPr sz="1300" b="0" i="0">
                          <a:solidFill>
                            <a:srgbClr val="000000"/>
                          </a:solidFill>
                          <a:latin typeface="Tenorite"/>
                        </a:rPr>
                        <a:t>20.1%</a:t>
                      </a:r>
                    </a:p>
                  </a:txBody>
                  <a:tcPr marL="91440" marR="91440" marT="18288" marB="18288" anchor="ctr">
                    <a:solidFill>
                      <a:srgbClr val="FFFFFF"/>
                    </a:solidFill>
                  </a:tcPr>
                </a:tc>
              </a:tr>
              <a:tr h="329184">
                <a:tc>
                  <a:txBody>
                    <a:bodyPr wrap="square"/>
                    <a:lstStyle/>
                    <a:p>
                      <a:pPr algn="l">
                        <a:spcAft>
                          <a:spcPts val="0"/>
                        </a:spcAft>
                      </a:pPr>
                      <a:r>
                        <a:rPr sz="1300" b="0" i="0">
                          <a:solidFill>
                            <a:srgbClr val="000000"/>
                          </a:solidFill>
                          <a:latin typeface="Tenorite"/>
                        </a:rPr>
                        <a:t>1</a:t>
                      </a:r>
                    </a:p>
                  </a:txBody>
                  <a:tcPr marL="91440" marR="91440" marT="18288" marB="18288" anchor="ctr">
                    <a:solidFill>
                      <a:srgbClr val="F2F2F2"/>
                    </a:solidFill>
                  </a:tcPr>
                </a:tc>
                <a:tc>
                  <a:txBody>
                    <a:bodyPr wrap="square"/>
                    <a:lstStyle/>
                    <a:p>
                      <a:pPr algn="r">
                        <a:spcAft>
                          <a:spcPts val="0"/>
                        </a:spcAft>
                      </a:pPr>
                      <a:r>
                        <a:rPr sz="1300" b="0" i="0">
                          <a:solidFill>
                            <a:srgbClr val="000000"/>
                          </a:solidFill>
                          <a:latin typeface="Tenorite"/>
                        </a:rPr>
                        <a:t>324</a:t>
                      </a:r>
                    </a:p>
                  </a:txBody>
                  <a:tcPr marL="91440" marR="91440" marT="18288" marB="18288" anchor="ctr">
                    <a:solidFill>
                      <a:srgbClr val="F2F2F2"/>
                    </a:solidFill>
                  </a:tcPr>
                </a:tc>
                <a:tc>
                  <a:txBody>
                    <a:bodyPr wrap="square"/>
                    <a:lstStyle/>
                    <a:p>
                      <a:pPr algn="r">
                        <a:spcAft>
                          <a:spcPts val="0"/>
                        </a:spcAft>
                      </a:pPr>
                      <a:r>
                        <a:rPr sz="1300" b="0" i="0">
                          <a:solidFill>
                            <a:srgbClr val="000000"/>
                          </a:solidFill>
                          <a:latin typeface="Tenorite"/>
                        </a:rPr>
                        <a:t>$12,731</a:t>
                      </a:r>
                    </a:p>
                  </a:txBody>
                  <a:tcPr marL="91440" marR="91440" marT="18288" marB="18288" anchor="ctr">
                    <a:solidFill>
                      <a:srgbClr val="F2F2F2"/>
                    </a:solidFill>
                  </a:tcPr>
                </a:tc>
                <a:tc>
                  <a:txBody>
                    <a:bodyPr wrap="square"/>
                    <a:lstStyle/>
                    <a:p>
                      <a:pPr algn="r">
                        <a:spcAft>
                          <a:spcPts val="0"/>
                        </a:spcAft>
                      </a:pPr>
                      <a:r>
                        <a:rPr sz="1300" b="0" i="0">
                          <a:solidFill>
                            <a:srgbClr val="000000"/>
                          </a:solidFill>
                          <a:latin typeface="Tenorite"/>
                        </a:rPr>
                        <a:t>18.8%</a:t>
                      </a:r>
                    </a:p>
                  </a:txBody>
                  <a:tcPr marL="91440" marR="91440" marT="18288" marB="18288" anchor="ctr">
                    <a:solidFill>
                      <a:srgbClr val="F2F2F2"/>
                    </a:solidFill>
                  </a:tcPr>
                </a:tc>
              </a:tr>
              <a:tr h="329184">
                <a:tc>
                  <a:txBody>
                    <a:bodyPr wrap="square"/>
                    <a:lstStyle/>
                    <a:p>
                      <a:pPr algn="l">
                        <a:spcAft>
                          <a:spcPts val="0"/>
                        </a:spcAft>
                      </a:pPr>
                      <a:r>
                        <a:rPr sz="1300" b="0" i="0">
                          <a:solidFill>
                            <a:srgbClr val="000000"/>
                          </a:solidFill>
                          <a:latin typeface="Tenorite"/>
                        </a:rPr>
                        <a:t>2</a:t>
                      </a:r>
                    </a:p>
                  </a:txBody>
                  <a:tcPr marL="91440" marR="91440" marT="18288" marB="18288" anchor="ctr">
                    <a:solidFill>
                      <a:srgbClr val="FFFFFF"/>
                    </a:solidFill>
                  </a:tcPr>
                </a:tc>
                <a:tc>
                  <a:txBody>
                    <a:bodyPr wrap="square"/>
                    <a:lstStyle/>
                    <a:p>
                      <a:pPr algn="r">
                        <a:spcAft>
                          <a:spcPts val="0"/>
                        </a:spcAft>
                      </a:pPr>
                      <a:r>
                        <a:rPr sz="1300" b="0" i="0">
                          <a:solidFill>
                            <a:srgbClr val="000000"/>
                          </a:solidFill>
                          <a:latin typeface="Tenorite"/>
                        </a:rPr>
                        <a:t>240</a:t>
                      </a:r>
                    </a:p>
                  </a:txBody>
                  <a:tcPr marL="91440" marR="91440" marT="18288" marB="18288" anchor="ctr">
                    <a:solidFill>
                      <a:srgbClr val="FFFFFF"/>
                    </a:solidFill>
                  </a:tcPr>
                </a:tc>
                <a:tc>
                  <a:txBody>
                    <a:bodyPr wrap="square"/>
                    <a:lstStyle/>
                    <a:p>
                      <a:pPr algn="r">
                        <a:spcAft>
                          <a:spcPts val="0"/>
                        </a:spcAft>
                      </a:pPr>
                      <a:r>
                        <a:rPr sz="1300" b="0" i="0">
                          <a:solidFill>
                            <a:srgbClr val="000000"/>
                          </a:solidFill>
                          <a:latin typeface="Tenorite"/>
                        </a:rPr>
                        <a:t>$15,074</a:t>
                      </a:r>
                    </a:p>
                  </a:txBody>
                  <a:tcPr marL="91440" marR="91440" marT="18288" marB="18288" anchor="ctr">
                    <a:solidFill>
                      <a:srgbClr val="FFFFFF"/>
                    </a:solidFill>
                  </a:tcPr>
                </a:tc>
                <a:tc>
                  <a:txBody>
                    <a:bodyPr wrap="square"/>
                    <a:lstStyle/>
                    <a:p>
                      <a:pPr algn="r">
                        <a:spcAft>
                          <a:spcPts val="0"/>
                        </a:spcAft>
                      </a:pPr>
                      <a:r>
                        <a:rPr sz="1300" b="0" i="0">
                          <a:solidFill>
                            <a:srgbClr val="000000"/>
                          </a:solidFill>
                          <a:latin typeface="Tenorite"/>
                        </a:rPr>
                        <a:t>22.9%</a:t>
                      </a:r>
                    </a:p>
                  </a:txBody>
                  <a:tcPr marL="91440" marR="91440" marT="18288" marB="18288" anchor="ctr">
                    <a:solidFill>
                      <a:srgbClr val="FFFFFF"/>
                    </a:solidFill>
                  </a:tcPr>
                </a:tc>
              </a:tr>
              <a:tr h="329184">
                <a:tc>
                  <a:txBody>
                    <a:bodyPr wrap="square"/>
                    <a:lstStyle/>
                    <a:p>
                      <a:pPr algn="l">
                        <a:spcAft>
                          <a:spcPts val="0"/>
                        </a:spcAft>
                      </a:pPr>
                      <a:r>
                        <a:rPr sz="1300" b="0" i="0">
                          <a:solidFill>
                            <a:srgbClr val="000000"/>
                          </a:solidFill>
                          <a:latin typeface="Tenorite"/>
                        </a:rPr>
                        <a:t>3</a:t>
                      </a:r>
                    </a:p>
                  </a:txBody>
                  <a:tcPr marL="91440" marR="91440" marT="18288" marB="18288" anchor="ctr">
                    <a:solidFill>
                      <a:srgbClr val="F2F2F2"/>
                    </a:solidFill>
                  </a:tcPr>
                </a:tc>
                <a:tc>
                  <a:txBody>
                    <a:bodyPr wrap="square"/>
                    <a:lstStyle/>
                    <a:p>
                      <a:pPr algn="r">
                        <a:spcAft>
                          <a:spcPts val="0"/>
                        </a:spcAft>
                      </a:pPr>
                      <a:r>
                        <a:rPr sz="1300" b="0" i="0">
                          <a:solidFill>
                            <a:srgbClr val="000000"/>
                          </a:solidFill>
                          <a:latin typeface="Tenorite"/>
                        </a:rPr>
                        <a:t>157</a:t>
                      </a:r>
                    </a:p>
                  </a:txBody>
                  <a:tcPr marL="91440" marR="91440" marT="18288" marB="18288" anchor="ctr">
                    <a:solidFill>
                      <a:srgbClr val="F2F2F2"/>
                    </a:solidFill>
                  </a:tcPr>
                </a:tc>
                <a:tc>
                  <a:txBody>
                    <a:bodyPr wrap="square"/>
                    <a:lstStyle/>
                    <a:p>
                      <a:pPr algn="r">
                        <a:spcAft>
                          <a:spcPts val="0"/>
                        </a:spcAft>
                      </a:pPr>
                      <a:r>
                        <a:rPr sz="1300" b="0" i="0">
                          <a:solidFill>
                            <a:srgbClr val="000000"/>
                          </a:solidFill>
                          <a:latin typeface="Tenorite"/>
                        </a:rPr>
                        <a:t>$15,355</a:t>
                      </a:r>
                    </a:p>
                  </a:txBody>
                  <a:tcPr marL="91440" marR="91440" marT="18288" marB="18288" anchor="ctr">
                    <a:solidFill>
                      <a:srgbClr val="F2F2F2"/>
                    </a:solidFill>
                  </a:tcPr>
                </a:tc>
                <a:tc>
                  <a:txBody>
                    <a:bodyPr wrap="square"/>
                    <a:lstStyle/>
                    <a:p>
                      <a:pPr algn="r">
                        <a:spcAft>
                          <a:spcPts val="0"/>
                        </a:spcAft>
                      </a:pPr>
                      <a:r>
                        <a:rPr sz="1300" b="0" i="0">
                          <a:solidFill>
                            <a:srgbClr val="000000"/>
                          </a:solidFill>
                          <a:latin typeface="Tenorite"/>
                        </a:rPr>
                        <a:t>24.8%</a:t>
                      </a:r>
                    </a:p>
                  </a:txBody>
                  <a:tcPr marL="91440" marR="91440" marT="18288" marB="18288" anchor="ctr">
                    <a:solidFill>
                      <a:srgbClr val="F2F2F2"/>
                    </a:solidFill>
                  </a:tcPr>
                </a:tc>
              </a:tr>
              <a:tr h="329184">
                <a:tc>
                  <a:txBody>
                    <a:bodyPr wrap="square"/>
                    <a:lstStyle/>
                    <a:p>
                      <a:pPr algn="l">
                        <a:spcAft>
                          <a:spcPts val="0"/>
                        </a:spcAft>
                      </a:pPr>
                      <a:r>
                        <a:rPr sz="1300" b="0" i="0">
                          <a:solidFill>
                            <a:srgbClr val="000000"/>
                          </a:solidFill>
                          <a:latin typeface="Tenorite"/>
                        </a:rPr>
                        <a:t>4</a:t>
                      </a:r>
                    </a:p>
                  </a:txBody>
                  <a:tcPr marL="91440" marR="91440" marT="18288" marB="18288" anchor="ctr">
                    <a:solidFill>
                      <a:srgbClr val="FFFFFF"/>
                    </a:solidFill>
                  </a:tcPr>
                </a:tc>
                <a:tc>
                  <a:txBody>
                    <a:bodyPr wrap="square"/>
                    <a:lstStyle/>
                    <a:p>
                      <a:pPr algn="r">
                        <a:spcAft>
                          <a:spcPts val="0"/>
                        </a:spcAft>
                      </a:pPr>
                      <a:r>
                        <a:rPr sz="1300" b="0" i="0">
                          <a:solidFill>
                            <a:srgbClr val="000000"/>
                          </a:solidFill>
                          <a:latin typeface="Tenorite"/>
                        </a:rPr>
                        <a:t>25</a:t>
                      </a:r>
                    </a:p>
                  </a:txBody>
                  <a:tcPr marL="91440" marR="91440" marT="18288" marB="18288" anchor="ctr">
                    <a:solidFill>
                      <a:srgbClr val="FFFFFF"/>
                    </a:solidFill>
                  </a:tcPr>
                </a:tc>
                <a:tc>
                  <a:txBody>
                    <a:bodyPr wrap="square"/>
                    <a:lstStyle/>
                    <a:p>
                      <a:pPr algn="r">
                        <a:spcAft>
                          <a:spcPts val="0"/>
                        </a:spcAft>
                      </a:pPr>
                      <a:r>
                        <a:rPr sz="1300" b="0" i="0">
                          <a:solidFill>
                            <a:srgbClr val="000000"/>
                          </a:solidFill>
                          <a:latin typeface="Tenorite"/>
                        </a:rPr>
                        <a:t>$13,851</a:t>
                      </a:r>
                    </a:p>
                  </a:txBody>
                  <a:tcPr marL="91440" marR="91440" marT="18288" marB="18288" anchor="ctr">
                    <a:solidFill>
                      <a:srgbClr val="FFFFFF"/>
                    </a:solidFill>
                  </a:tcPr>
                </a:tc>
                <a:tc>
                  <a:txBody>
                    <a:bodyPr wrap="square"/>
                    <a:lstStyle/>
                    <a:p>
                      <a:pPr algn="r">
                        <a:spcAft>
                          <a:spcPts val="0"/>
                        </a:spcAft>
                      </a:pPr>
                      <a:r>
                        <a:rPr sz="1300" b="0" i="0">
                          <a:solidFill>
                            <a:srgbClr val="000000"/>
                          </a:solidFill>
                          <a:latin typeface="Tenorite"/>
                        </a:rPr>
                        <a:t>12.0%</a:t>
                      </a:r>
                    </a:p>
                  </a:txBody>
                  <a:tcPr marL="91440" marR="91440" marT="18288" marB="18288" anchor="ctr">
                    <a:solidFill>
                      <a:srgbClr val="FFFFFF"/>
                    </a:solidFill>
                  </a:tcPr>
                </a:tc>
              </a:tr>
              <a:tr h="329184">
                <a:tc>
                  <a:txBody>
                    <a:bodyPr wrap="square"/>
                    <a:lstStyle/>
                    <a:p>
                      <a:pPr algn="l">
                        <a:spcAft>
                          <a:spcPts val="0"/>
                        </a:spcAft>
                      </a:pPr>
                      <a:r>
                        <a:rPr sz="1300" b="0" i="0">
                          <a:solidFill>
                            <a:srgbClr val="000000"/>
                          </a:solidFill>
                          <a:latin typeface="Tenorite"/>
                        </a:rPr>
                        <a:t>5</a:t>
                      </a:r>
                    </a:p>
                  </a:txBody>
                  <a:tcPr marL="91440" marR="91440" marT="18288" marB="18288" anchor="ctr">
                    <a:solidFill>
                      <a:srgbClr val="F2F2F2"/>
                    </a:solidFill>
                  </a:tcPr>
                </a:tc>
                <a:tc>
                  <a:txBody>
                    <a:bodyPr wrap="square"/>
                    <a:lstStyle/>
                    <a:p>
                      <a:pPr algn="r">
                        <a:spcAft>
                          <a:spcPts val="0"/>
                        </a:spcAft>
                      </a:pPr>
                      <a:r>
                        <a:rPr sz="1300" b="0" i="0">
                          <a:solidFill>
                            <a:srgbClr val="000000"/>
                          </a:solidFill>
                          <a:latin typeface="Tenorite"/>
                        </a:rPr>
                        <a:t>18</a:t>
                      </a:r>
                    </a:p>
                  </a:txBody>
                  <a:tcPr marL="91440" marR="91440" marT="18288" marB="18288" anchor="ctr">
                    <a:solidFill>
                      <a:srgbClr val="F2F2F2"/>
                    </a:solidFill>
                  </a:tcPr>
                </a:tc>
                <a:tc>
                  <a:txBody>
                    <a:bodyPr wrap="square"/>
                    <a:lstStyle/>
                    <a:p>
                      <a:pPr algn="r">
                        <a:spcAft>
                          <a:spcPts val="0"/>
                        </a:spcAft>
                      </a:pPr>
                      <a:r>
                        <a:rPr sz="1300" b="0" i="0">
                          <a:solidFill>
                            <a:srgbClr val="000000"/>
                          </a:solidFill>
                          <a:latin typeface="Tenorite"/>
                        </a:rPr>
                        <a:t>$8,786</a:t>
                      </a:r>
                    </a:p>
                  </a:txBody>
                  <a:tcPr marL="91440" marR="91440" marT="18288" marB="18288" anchor="ctr">
                    <a:solidFill>
                      <a:srgbClr val="F2F2F2"/>
                    </a:solidFill>
                  </a:tcPr>
                </a:tc>
                <a:tc>
                  <a:txBody>
                    <a:bodyPr wrap="square"/>
                    <a:lstStyle/>
                    <a:p>
                      <a:pPr algn="r">
                        <a:spcAft>
                          <a:spcPts val="0"/>
                        </a:spcAft>
                      </a:pPr>
                      <a:r>
                        <a:rPr sz="1300" b="0" i="0">
                          <a:solidFill>
                            <a:srgbClr val="000000"/>
                          </a:solidFill>
                          <a:latin typeface="Tenorite"/>
                        </a:rPr>
                        <a:t>5.6%</a:t>
                      </a:r>
                    </a:p>
                  </a:txBody>
                  <a:tcPr marL="91440" marR="91440" marT="18288" marB="18288" anchor="ctr">
                    <a:solidFill>
                      <a:srgbClr val="F2F2F2"/>
                    </a:solidFill>
                  </a:tcPr>
                </a:tc>
              </a:tr>
            </a:tbl>
          </a:graphicData>
        </a:graphic>
      </p:graphicFrame>
      <p:sp>
        <p:nvSpPr>
          <p:cNvPr id="5" name="TextBox 4"/>
          <p:cNvSpPr txBox="1"/>
          <p:nvPr/>
        </p:nvSpPr>
        <p:spPr>
          <a:xfrm>
            <a:off x="914400" y="4069080"/>
            <a:ext cx="8046720" cy="1828800"/>
          </a:xfrm>
          <a:prstGeom prst="rect">
            <a:avLst/>
          </a:prstGeom>
          <a:noFill/>
        </p:spPr>
        <p:txBody>
          <a:bodyPr wrap="square" lIns="45720" rIns="45720" tIns="27432" bIns="27432" anchor="t">
            <a:spAutoFit/>
          </a:bodyPr>
          <a:lstStyle/>
          <a:p>
            <a:pPr>
              <a:spcAft>
                <a:spcPts val="600"/>
              </a:spcAft>
            </a:pPr>
            <a:r>
              <a:rPr sz="1400" b="1" i="0">
                <a:solidFill>
                  <a:srgbClr val="C00000"/>
                </a:solidFill>
                <a:latin typeface="Tenorite"/>
              </a:rPr>
              <a:t>Takeaway: </a:t>
            </a:r>
            <a:r>
              <a:rPr sz="1400" b="0" i="0">
                <a:solidFill>
                  <a:srgbClr val="000000"/>
                </a:solidFill>
                <a:latin typeface="Tenorite"/>
              </a:rPr>
              <a:t>there is no clear pattern (correlation r = 0.07). The low averages for 4–5 children are based on only 25 and 18 customers, who are also mostly non-smokers, so they are not reliable.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2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F9F2AF-81F9-16B6-B301-2817997D5777}"/>
              </a:ext>
            </a:extLst>
          </p:cNvPr>
          <p:cNvSpPr txBox="1">
            <a:spLocks noGrp="1"/>
          </p:cNvSpPr>
          <p:nvPr>
            <p:ph type="title"/>
          </p:nvPr>
        </p:nvSpPr>
        <p:spPr/>
        <p:txBody>
          <a:bodyPr/>
          <a:lstStyle/>
          <a:p>
            <a:pPr lvl="0"/>
            <a:r>
              <a:rPr lang="en-US"/>
              <a:t>visualizations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4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FC4B5C-540A-8703-8D8F-F7FB684A55FD}"/>
              </a:ext>
            </a:extLst>
          </p:cNvPr>
          <p:cNvSpPr txBox="1">
            <a:spLocks noGrp="1"/>
          </p:cNvSpPr>
          <p:nvPr>
            <p:ph type="title"/>
          </p:nvPr>
        </p:nvSpPr>
        <p:spPr>
          <a:xfrm>
            <a:off x="1325880" y="182880"/>
            <a:ext cx="7863840" cy="1188720"/>
          </a:xfrm>
        </p:spPr>
        <p:txBody>
          <a:bodyPr anchor="b"/>
          <a:lstStyle/>
          <a:p>
            <a:pPr lvl="0"/>
            <a:r>
              <a:rPr sz="2600"/>
              <a:t>Region has little effect on charges</a:t>
            </a:r>
            <a:endParaRPr lang="en-US"/>
          </a:p>
        </p:txBody>
      </p:sp>
      <p:sp>
        <p:nvSpPr>
          <p:cNvPr id="3" name="Slide Number Placeholder 3">
            <a:extLst>
              <a:ext uri="{FF2B5EF4-FFF2-40B4-BE49-F238E27FC236}">
                <a16:creationId xmlns:a16="http://schemas.microsoft.com/office/drawing/2014/main" id="{07DBF0DC-C50C-054D-07F2-3192BD034625}"/>
              </a:ext>
            </a:extLst>
          </p:cNvPr>
          <p:cNvSpPr txBox="1"/>
          <p:nvPr/>
        </p:nvSpPr>
        <p:spPr>
          <a:xfrm>
            <a:off x="10373346" y="6356351"/>
            <a:ext cx="987552" cy="365129"/>
          </a:xfrm>
          <a:prstGeom prst="rect">
            <a:avLst/>
          </a:prstGeom>
          <a:noFill/>
          <a:ln cap="flat">
            <a:noFill/>
          </a:ln>
        </p:spPr>
        <p:txBody>
          <a:bodyPr vert="horz" wrap="square" lIns="91440" tIns="45720" rIns="91440" bIns="45720" anchor="ctr" anchorCtr="0" compatLnSpc="1">
            <a:noAutofit/>
          </a:bodyPr>
          <a:lstStyle/>
          <a:p>
            <a:pPr marL="0" marR="0" lvl="0" indent="0" algn="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fld id="{F13642A9-54F2-4993-AB2A-49C309D20D01}" type="slidenum">
              <a:rPr lang="en-US" sz="1200"/>
              <a:t>14</a:t>
            </a:fld>
            <a:endParaRPr lang="en-US" sz="900" b="0" i="0" u="none" strike="noStrike" kern="1200" cap="none" spc="0" baseline="0">
              <a:solidFill>
                <a:srgbClr val="898989"/>
              </a:solidFill>
              <a:uFillTx/>
              <a:latin typeface="Tenorite"/>
            </a:endParaRPr>
          </a:p>
        </p:txBody>
      </p:sp>
      <p:pic>
        <p:nvPicPr>
          <p:cNvPr id="4" name="Picture 3" descr="charts_bar_region.png"/>
          <p:cNvPicPr>
            <a:picLocks noChangeAspect="1"/>
          </p:cNvPicPr>
          <p:nvPr/>
        </p:nvPicPr>
        <p:blipFill>
          <a:blip r:embed="rId3"/>
          <a:stretch>
            <a:fillRect/>
          </a:stretch>
        </p:blipFill>
        <p:spPr>
          <a:xfrm>
            <a:off x="685800" y="1554480"/>
            <a:ext cx="5760720" cy="3554486"/>
          </a:xfrm>
          <a:prstGeom prst="rect">
            <a:avLst/>
          </a:prstGeom>
        </p:spPr>
      </p:pic>
      <p:sp>
        <p:nvSpPr>
          <p:cNvPr id="5" name="TextBox 4"/>
          <p:cNvSpPr txBox="1"/>
          <p:nvPr/>
        </p:nvSpPr>
        <p:spPr>
          <a:xfrm>
            <a:off x="685800" y="5182118"/>
            <a:ext cx="5760720" cy="320040"/>
          </a:xfrm>
          <a:prstGeom prst="rect">
            <a:avLst/>
          </a:prstGeom>
          <a:noFill/>
        </p:spPr>
        <p:txBody>
          <a:bodyPr wrap="square" lIns="45720" rIns="45720" tIns="27432" bIns="27432" anchor="t">
            <a:spAutoFit/>
          </a:bodyPr>
          <a:lstStyle/>
          <a:p>
            <a:pPr>
              <a:spcAft>
                <a:spcPts val="0"/>
              </a:spcAft>
            </a:pPr>
            <a:r>
              <a:rPr sz="1100" b="0" i="1">
                <a:solidFill>
                  <a:srgbClr val="595959"/>
                </a:solidFill>
                <a:latin typeface="Tenorite"/>
              </a:rPr>
              <a:t>Matplotlib · bar chart</a:t>
            </a:r>
          </a:p>
        </p:txBody>
      </p:sp>
      <p:sp>
        <p:nvSpPr>
          <p:cNvPr id="6" name="TextBox 5"/>
          <p:cNvSpPr txBox="1"/>
          <p:nvPr/>
        </p:nvSpPr>
        <p:spPr>
          <a:xfrm>
            <a:off x="6720840" y="1645920"/>
            <a:ext cx="2423160" cy="822960"/>
          </a:xfrm>
          <a:prstGeom prst="rect">
            <a:avLst/>
          </a:prstGeom>
          <a:noFill/>
        </p:spPr>
        <p:txBody>
          <a:bodyPr wrap="square" lIns="45720" rIns="45720" tIns="27432" bIns="27432" anchor="b">
            <a:spAutoFit/>
          </a:bodyPr>
          <a:lstStyle/>
          <a:p>
            <a:pPr>
              <a:spcAft>
                <a:spcPts val="0"/>
              </a:spcAft>
            </a:pPr>
            <a:r>
              <a:rPr sz="4000" b="1" i="0">
                <a:solidFill>
                  <a:srgbClr val="C00000"/>
                </a:solidFill>
                <a:latin typeface="Tenorite"/>
              </a:rPr>
              <a:t>$2,388</a:t>
            </a:r>
          </a:p>
        </p:txBody>
      </p:sp>
      <p:sp>
        <p:nvSpPr>
          <p:cNvPr id="7" name="TextBox 6"/>
          <p:cNvSpPr txBox="1"/>
          <p:nvPr/>
        </p:nvSpPr>
        <p:spPr>
          <a:xfrm>
            <a:off x="6720840" y="2514600"/>
            <a:ext cx="2423160" cy="822960"/>
          </a:xfrm>
          <a:prstGeom prst="rect">
            <a:avLst/>
          </a:prstGeom>
          <a:noFill/>
        </p:spPr>
        <p:txBody>
          <a:bodyPr wrap="square" lIns="45720" rIns="45720" tIns="27432" bIns="27432" anchor="t">
            <a:spAutoFit/>
          </a:bodyPr>
          <a:lstStyle/>
          <a:p>
            <a:pPr>
              <a:spcAft>
                <a:spcPts val="0"/>
              </a:spcAft>
            </a:pPr>
            <a:r>
              <a:rPr sz="1400" b="1" i="0">
                <a:solidFill>
                  <a:srgbClr val="000000"/>
                </a:solidFill>
                <a:latin typeface="Tenorite"/>
              </a:rPr>
              <a:t>gap between the highest and lowest region</a:t>
            </a:r>
          </a:p>
        </p:txBody>
      </p:sp>
      <p:sp>
        <p:nvSpPr>
          <p:cNvPr id="8" name="TextBox 7"/>
          <p:cNvSpPr txBox="1"/>
          <p:nvPr/>
        </p:nvSpPr>
        <p:spPr>
          <a:xfrm>
            <a:off x="6720840" y="3337560"/>
            <a:ext cx="2423160" cy="2560320"/>
          </a:xfrm>
          <a:prstGeom prst="rect">
            <a:avLst/>
          </a:prstGeom>
          <a:noFill/>
        </p:spPr>
        <p:txBody>
          <a:bodyPr wrap="square" lIns="45720" rIns="45720" tIns="27432" bIns="27432" anchor="t">
            <a:spAutoFit/>
          </a:bodyPr>
          <a:lstStyle/>
          <a:p>
            <a:pPr>
              <a:spcAft>
                <a:spcPts val="800"/>
              </a:spcAft>
            </a:pPr>
            <a:r>
              <a:rPr sz="1300" b="0" i="0">
                <a:solidFill>
                  <a:srgbClr val="595959"/>
                </a:solidFill>
                <a:latin typeface="Tenorite"/>
              </a:rPr>
              <a:t>The Southeast averages $14,735; the other regions sit between $12,300 and $13,400.</a:t>
            </a:r>
          </a:p>
          <a:p>
            <a:pPr>
              <a:spcAft>
                <a:spcPts val="800"/>
              </a:spcAft>
            </a:pPr>
            <a:r>
              <a:rPr sz="1300" b="0" i="0">
                <a:solidFill>
                  <a:srgbClr val="595959"/>
                </a:solidFill>
                <a:latin typeface="Tenorite"/>
              </a:rPr>
              <a:t>The Southeast also has the most smokers (25%) and the highest average BMI (33.4).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4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4D8821-CF05-5279-AB53-6236DCCAA725}"/>
              </a:ext>
            </a:extLst>
          </p:cNvPr>
          <p:cNvSpPr txBox="1">
            <a:spLocks noGrp="1"/>
          </p:cNvSpPr>
          <p:nvPr>
            <p:ph type="title"/>
          </p:nvPr>
        </p:nvSpPr>
        <p:spPr>
          <a:xfrm>
            <a:off x="1325880" y="182880"/>
            <a:ext cx="7863840" cy="1188720"/>
          </a:xfrm>
        </p:spPr>
        <p:txBody>
          <a:bodyPr anchor="b"/>
          <a:lstStyle/>
          <a:p>
            <a:pPr lvl="0"/>
            <a:r>
              <a:rPr sz="2600"/>
              <a:t>Charges rise steadily with age</a:t>
            </a:r>
            <a:endParaRPr lang="en-US"/>
          </a:p>
        </p:txBody>
      </p:sp>
      <p:sp>
        <p:nvSpPr>
          <p:cNvPr id="3" name="Slide Number Placeholder 3">
            <a:extLst>
              <a:ext uri="{FF2B5EF4-FFF2-40B4-BE49-F238E27FC236}">
                <a16:creationId xmlns:a16="http://schemas.microsoft.com/office/drawing/2014/main" id="{6A4A2810-473A-117B-82FC-14481C2AF701}"/>
              </a:ext>
            </a:extLst>
          </p:cNvPr>
          <p:cNvSpPr txBox="1"/>
          <p:nvPr/>
        </p:nvSpPr>
        <p:spPr>
          <a:xfrm>
            <a:off x="10373346" y="6356351"/>
            <a:ext cx="987552" cy="365129"/>
          </a:xfrm>
          <a:prstGeom prst="rect">
            <a:avLst/>
          </a:prstGeom>
          <a:noFill/>
          <a:ln cap="flat">
            <a:noFill/>
          </a:ln>
        </p:spPr>
        <p:txBody>
          <a:bodyPr vert="horz" wrap="square" lIns="91440" tIns="45720" rIns="91440" bIns="45720" anchor="ctr" anchorCtr="0" compatLnSpc="1">
            <a:noAutofit/>
          </a:bodyPr>
          <a:lstStyle/>
          <a:p>
            <a:pPr marL="0" marR="0" lvl="0" indent="0" algn="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fld id="{298DB357-05A3-471B-89B4-988C57FFB8E2}" type="slidenum">
              <a:rPr lang="en-US" sz="1200"/>
              <a:t>15</a:t>
            </a:fld>
            <a:endParaRPr lang="en-US" sz="900" b="0" i="0" u="none" strike="noStrike" kern="1200" cap="none" spc="0" baseline="0">
              <a:solidFill>
                <a:srgbClr val="898989"/>
              </a:solidFill>
              <a:uFillTx/>
              <a:latin typeface="Tenorite"/>
            </a:endParaRPr>
          </a:p>
        </p:txBody>
      </p:sp>
      <p:pic>
        <p:nvPicPr>
          <p:cNvPr id="4" name="Picture 3" descr="charts_line_age.png"/>
          <p:cNvPicPr>
            <a:picLocks noChangeAspect="1"/>
          </p:cNvPicPr>
          <p:nvPr/>
        </p:nvPicPr>
        <p:blipFill>
          <a:blip r:embed="rId3"/>
          <a:stretch>
            <a:fillRect/>
          </a:stretch>
        </p:blipFill>
        <p:spPr>
          <a:xfrm>
            <a:off x="685800" y="1554480"/>
            <a:ext cx="5760720" cy="3554486"/>
          </a:xfrm>
          <a:prstGeom prst="rect">
            <a:avLst/>
          </a:prstGeom>
        </p:spPr>
      </p:pic>
      <p:sp>
        <p:nvSpPr>
          <p:cNvPr id="5" name="TextBox 4"/>
          <p:cNvSpPr txBox="1"/>
          <p:nvPr/>
        </p:nvSpPr>
        <p:spPr>
          <a:xfrm>
            <a:off x="685800" y="5182118"/>
            <a:ext cx="5760720" cy="320040"/>
          </a:xfrm>
          <a:prstGeom prst="rect">
            <a:avLst/>
          </a:prstGeom>
          <a:noFill/>
        </p:spPr>
        <p:txBody>
          <a:bodyPr wrap="square" lIns="45720" rIns="45720" tIns="27432" bIns="27432" anchor="t">
            <a:spAutoFit/>
          </a:bodyPr>
          <a:lstStyle/>
          <a:p>
            <a:pPr>
              <a:spcAft>
                <a:spcPts val="0"/>
              </a:spcAft>
            </a:pPr>
            <a:r>
              <a:rPr sz="1100" b="0" i="1">
                <a:solidFill>
                  <a:srgbClr val="595959"/>
                </a:solidFill>
                <a:latin typeface="Tenorite"/>
              </a:rPr>
              <a:t>Matplotlib · line chart</a:t>
            </a:r>
          </a:p>
        </p:txBody>
      </p:sp>
      <p:sp>
        <p:nvSpPr>
          <p:cNvPr id="6" name="TextBox 5"/>
          <p:cNvSpPr txBox="1"/>
          <p:nvPr/>
        </p:nvSpPr>
        <p:spPr>
          <a:xfrm>
            <a:off x="6720840" y="1645920"/>
            <a:ext cx="2423160" cy="822960"/>
          </a:xfrm>
          <a:prstGeom prst="rect">
            <a:avLst/>
          </a:prstGeom>
          <a:noFill/>
        </p:spPr>
        <p:txBody>
          <a:bodyPr wrap="square" lIns="45720" rIns="45720" tIns="27432" bIns="27432" anchor="b">
            <a:spAutoFit/>
          </a:bodyPr>
          <a:lstStyle/>
          <a:p>
            <a:pPr>
              <a:spcAft>
                <a:spcPts val="0"/>
              </a:spcAft>
            </a:pPr>
            <a:r>
              <a:rPr sz="4000" b="1" i="0">
                <a:solidFill>
                  <a:srgbClr val="C00000"/>
                </a:solidFill>
                <a:latin typeface="Tenorite"/>
              </a:rPr>
              <a:t>+$265</a:t>
            </a:r>
          </a:p>
        </p:txBody>
      </p:sp>
      <p:sp>
        <p:nvSpPr>
          <p:cNvPr id="7" name="TextBox 6"/>
          <p:cNvSpPr txBox="1"/>
          <p:nvPr/>
        </p:nvSpPr>
        <p:spPr>
          <a:xfrm>
            <a:off x="6720840" y="2514600"/>
            <a:ext cx="2423160" cy="822960"/>
          </a:xfrm>
          <a:prstGeom prst="rect">
            <a:avLst/>
          </a:prstGeom>
          <a:noFill/>
        </p:spPr>
        <p:txBody>
          <a:bodyPr wrap="square" lIns="45720" rIns="45720" tIns="27432" bIns="27432" anchor="t">
            <a:spAutoFit/>
          </a:bodyPr>
          <a:lstStyle/>
          <a:p>
            <a:pPr>
              <a:spcAft>
                <a:spcPts val="0"/>
              </a:spcAft>
            </a:pPr>
            <a:r>
              <a:rPr sz="1400" b="1" i="0">
                <a:solidFill>
                  <a:srgbClr val="000000"/>
                </a:solidFill>
                <a:latin typeface="Tenorite"/>
              </a:rPr>
              <a:t>average increase per year of age</a:t>
            </a:r>
          </a:p>
        </p:txBody>
      </p:sp>
      <p:sp>
        <p:nvSpPr>
          <p:cNvPr id="8" name="TextBox 7"/>
          <p:cNvSpPr txBox="1"/>
          <p:nvPr/>
        </p:nvSpPr>
        <p:spPr>
          <a:xfrm>
            <a:off x="6720840" y="3337560"/>
            <a:ext cx="2423160" cy="2560320"/>
          </a:xfrm>
          <a:prstGeom prst="rect">
            <a:avLst/>
          </a:prstGeom>
          <a:noFill/>
        </p:spPr>
        <p:txBody>
          <a:bodyPr wrap="square" lIns="45720" rIns="45720" tIns="27432" bIns="27432" anchor="t">
            <a:spAutoFit/>
          </a:bodyPr>
          <a:lstStyle/>
          <a:p>
            <a:pPr>
              <a:spcAft>
                <a:spcPts val="800"/>
              </a:spcAft>
            </a:pPr>
            <a:r>
              <a:rPr sz="1300" b="0" i="0">
                <a:solidFill>
                  <a:srgbClr val="595959"/>
                </a:solidFill>
                <a:latin typeface="Tenorite"/>
              </a:rPr>
              <a:t>The average charge climbs from about $7,100 at 18 to $23,300 at 64.</a:t>
            </a:r>
          </a:p>
          <a:p>
            <a:pPr>
              <a:spcAft>
                <a:spcPts val="800"/>
              </a:spcAft>
            </a:pPr>
            <a:r>
              <a:rPr sz="1300" b="0" i="0">
                <a:solidFill>
                  <a:srgbClr val="595959"/>
                </a:solidFill>
                <a:latin typeface="Tenorite"/>
              </a:rPr>
              <a:t>The zig-zags come from how many smokers there are at each age.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4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CE7379-FB5D-4F8F-B9B4-7B86C96822E8}"/>
              </a:ext>
            </a:extLst>
          </p:cNvPr>
          <p:cNvSpPr txBox="1">
            <a:spLocks noGrp="1"/>
          </p:cNvSpPr>
          <p:nvPr>
            <p:ph type="title"/>
          </p:nvPr>
        </p:nvSpPr>
        <p:spPr>
          <a:xfrm>
            <a:off x="1325880" y="182880"/>
            <a:ext cx="7863840" cy="1188720"/>
          </a:xfrm>
        </p:spPr>
        <p:txBody>
          <a:bodyPr anchor="b"/>
          <a:lstStyle/>
          <a:p>
            <a:pPr lvl="0"/>
            <a:r>
              <a:rPr sz="2600"/>
              <a:t>About 1 in 5 customers smokes</a:t>
            </a:r>
            <a:endParaRPr lang="en-US"/>
          </a:p>
        </p:txBody>
      </p:sp>
      <p:sp>
        <p:nvSpPr>
          <p:cNvPr id="3" name="Slide Number Placeholder 3">
            <a:extLst>
              <a:ext uri="{FF2B5EF4-FFF2-40B4-BE49-F238E27FC236}">
                <a16:creationId xmlns:a16="http://schemas.microsoft.com/office/drawing/2014/main" id="{36196B50-5DAC-1500-EA18-2D74A9FA463E}"/>
              </a:ext>
            </a:extLst>
          </p:cNvPr>
          <p:cNvSpPr txBox="1"/>
          <p:nvPr/>
        </p:nvSpPr>
        <p:spPr>
          <a:xfrm>
            <a:off x="10373346" y="6356351"/>
            <a:ext cx="987552" cy="365129"/>
          </a:xfrm>
          <a:prstGeom prst="rect">
            <a:avLst/>
          </a:prstGeom>
          <a:noFill/>
          <a:ln cap="flat">
            <a:noFill/>
          </a:ln>
        </p:spPr>
        <p:txBody>
          <a:bodyPr vert="horz" wrap="square" lIns="91440" tIns="45720" rIns="91440" bIns="45720" anchor="ctr" anchorCtr="0" compatLnSpc="1">
            <a:noAutofit/>
          </a:bodyPr>
          <a:lstStyle/>
          <a:p>
            <a:pPr marL="0" marR="0" lvl="0" indent="0" algn="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fld id="{AA48F4AD-DF27-49FD-86DF-733EC137361B}" type="slidenum">
              <a:rPr lang="en-US" sz="1200"/>
              <a:t>16</a:t>
            </a:fld>
            <a:endParaRPr lang="en-US" sz="900" b="0" i="0" u="none" strike="noStrike" kern="1200" cap="none" spc="0" baseline="0">
              <a:solidFill>
                <a:srgbClr val="898989"/>
              </a:solidFill>
              <a:uFillTx/>
              <a:latin typeface="Tenorite"/>
            </a:endParaRPr>
          </a:p>
        </p:txBody>
      </p:sp>
      <p:pic>
        <p:nvPicPr>
          <p:cNvPr id="4" name="Picture 3" descr="charts_pie_smoker.png"/>
          <p:cNvPicPr>
            <a:picLocks noChangeAspect="1"/>
          </p:cNvPicPr>
          <p:nvPr/>
        </p:nvPicPr>
        <p:blipFill>
          <a:blip r:embed="rId3"/>
          <a:stretch>
            <a:fillRect/>
          </a:stretch>
        </p:blipFill>
        <p:spPr>
          <a:xfrm>
            <a:off x="685800" y="1554480"/>
            <a:ext cx="4023360" cy="4172373"/>
          </a:xfrm>
          <a:prstGeom prst="rect">
            <a:avLst/>
          </a:prstGeom>
        </p:spPr>
      </p:pic>
      <p:sp>
        <p:nvSpPr>
          <p:cNvPr id="5" name="TextBox 4"/>
          <p:cNvSpPr txBox="1"/>
          <p:nvPr/>
        </p:nvSpPr>
        <p:spPr>
          <a:xfrm>
            <a:off x="685800" y="5800005"/>
            <a:ext cx="4023360" cy="320040"/>
          </a:xfrm>
          <a:prstGeom prst="rect">
            <a:avLst/>
          </a:prstGeom>
          <a:noFill/>
        </p:spPr>
        <p:txBody>
          <a:bodyPr wrap="square" lIns="45720" rIns="45720" tIns="27432" bIns="27432" anchor="t">
            <a:spAutoFit/>
          </a:bodyPr>
          <a:lstStyle/>
          <a:p>
            <a:pPr>
              <a:spcAft>
                <a:spcPts val="0"/>
              </a:spcAft>
            </a:pPr>
            <a:r>
              <a:rPr sz="1100" b="0" i="1">
                <a:solidFill>
                  <a:srgbClr val="595959"/>
                </a:solidFill>
                <a:latin typeface="Tenorite"/>
              </a:rPr>
              <a:t>Matplotlib · pie chart</a:t>
            </a:r>
          </a:p>
        </p:txBody>
      </p:sp>
      <p:sp>
        <p:nvSpPr>
          <p:cNvPr id="6" name="TextBox 5"/>
          <p:cNvSpPr txBox="1"/>
          <p:nvPr/>
        </p:nvSpPr>
        <p:spPr>
          <a:xfrm>
            <a:off x="4983480" y="1645920"/>
            <a:ext cx="4160520" cy="822960"/>
          </a:xfrm>
          <a:prstGeom prst="rect">
            <a:avLst/>
          </a:prstGeom>
          <a:noFill/>
        </p:spPr>
        <p:txBody>
          <a:bodyPr wrap="square" lIns="45720" rIns="45720" tIns="27432" bIns="27432" anchor="b">
            <a:spAutoFit/>
          </a:bodyPr>
          <a:lstStyle/>
          <a:p>
            <a:pPr>
              <a:spcAft>
                <a:spcPts val="0"/>
              </a:spcAft>
            </a:pPr>
            <a:r>
              <a:rPr sz="4000" b="1" i="0">
                <a:solidFill>
                  <a:srgbClr val="C00000"/>
                </a:solidFill>
                <a:latin typeface="Tenorite"/>
              </a:rPr>
              <a:t>49%</a:t>
            </a:r>
          </a:p>
        </p:txBody>
      </p:sp>
      <p:sp>
        <p:nvSpPr>
          <p:cNvPr id="7" name="TextBox 6"/>
          <p:cNvSpPr txBox="1"/>
          <p:nvPr/>
        </p:nvSpPr>
        <p:spPr>
          <a:xfrm>
            <a:off x="4983480" y="2514600"/>
            <a:ext cx="4160520" cy="822960"/>
          </a:xfrm>
          <a:prstGeom prst="rect">
            <a:avLst/>
          </a:prstGeom>
          <a:noFill/>
        </p:spPr>
        <p:txBody>
          <a:bodyPr wrap="square" lIns="45720" rIns="45720" tIns="27432" bIns="27432" anchor="t">
            <a:spAutoFit/>
          </a:bodyPr>
          <a:lstStyle/>
          <a:p>
            <a:pPr>
              <a:spcAft>
                <a:spcPts val="0"/>
              </a:spcAft>
            </a:pPr>
            <a:r>
              <a:rPr sz="1400" b="1" i="0">
                <a:solidFill>
                  <a:srgbClr val="000000"/>
                </a:solidFill>
                <a:latin typeface="Tenorite"/>
              </a:rPr>
              <a:t>of all charges come from smokers</a:t>
            </a:r>
          </a:p>
        </p:txBody>
      </p:sp>
      <p:sp>
        <p:nvSpPr>
          <p:cNvPr id="8" name="TextBox 7"/>
          <p:cNvSpPr txBox="1"/>
          <p:nvPr/>
        </p:nvSpPr>
        <p:spPr>
          <a:xfrm>
            <a:off x="4983480" y="3337560"/>
            <a:ext cx="4160520" cy="2560320"/>
          </a:xfrm>
          <a:prstGeom prst="rect">
            <a:avLst/>
          </a:prstGeom>
          <a:noFill/>
        </p:spPr>
        <p:txBody>
          <a:bodyPr wrap="square" lIns="45720" rIns="45720" tIns="27432" bIns="27432" anchor="t">
            <a:spAutoFit/>
          </a:bodyPr>
          <a:lstStyle/>
          <a:p>
            <a:pPr>
              <a:spcAft>
                <a:spcPts val="800"/>
              </a:spcAft>
            </a:pPr>
            <a:r>
              <a:rPr sz="1300" b="0" i="0">
                <a:solidFill>
                  <a:srgbClr val="595959"/>
                </a:solidFill>
                <a:latin typeface="Tenorite"/>
              </a:rPr>
              <a:t>Smokers are only 20.5% of customers (274 of 1,337), yet they generate almost half of the total amount billed.</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4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804FA7-36A6-2274-D91A-2B95C7579788}"/>
              </a:ext>
            </a:extLst>
          </p:cNvPr>
          <p:cNvSpPr txBox="1">
            <a:spLocks noGrp="1"/>
          </p:cNvSpPr>
          <p:nvPr>
            <p:ph type="title"/>
          </p:nvPr>
        </p:nvSpPr>
        <p:spPr>
          <a:xfrm>
            <a:off x="1325880" y="182880"/>
            <a:ext cx="7863840" cy="1188720"/>
          </a:xfrm>
        </p:spPr>
        <p:txBody>
          <a:bodyPr anchor="b"/>
          <a:lstStyle/>
          <a:p>
            <a:pPr lvl="0"/>
            <a:r>
              <a:rPr sz="2600"/>
              <a:t>Most customers pay under $15,000</a:t>
            </a:r>
            <a:endParaRPr lang="en-US"/>
          </a:p>
        </p:txBody>
      </p:sp>
      <p:sp>
        <p:nvSpPr>
          <p:cNvPr id="3" name="Slide Number Placeholder 3">
            <a:extLst>
              <a:ext uri="{FF2B5EF4-FFF2-40B4-BE49-F238E27FC236}">
                <a16:creationId xmlns:a16="http://schemas.microsoft.com/office/drawing/2014/main" id="{0CAE4CFD-BA05-BBE4-B1CA-71A5BC78A59F}"/>
              </a:ext>
            </a:extLst>
          </p:cNvPr>
          <p:cNvSpPr txBox="1"/>
          <p:nvPr/>
        </p:nvSpPr>
        <p:spPr>
          <a:xfrm>
            <a:off x="10373346" y="6356351"/>
            <a:ext cx="987552" cy="365129"/>
          </a:xfrm>
          <a:prstGeom prst="rect">
            <a:avLst/>
          </a:prstGeom>
          <a:noFill/>
          <a:ln cap="flat">
            <a:noFill/>
          </a:ln>
        </p:spPr>
        <p:txBody>
          <a:bodyPr vert="horz" wrap="square" lIns="91440" tIns="45720" rIns="91440" bIns="45720" anchor="ctr" anchorCtr="0" compatLnSpc="1">
            <a:noAutofit/>
          </a:bodyPr>
          <a:lstStyle/>
          <a:p>
            <a:pPr marL="0" marR="0" lvl="0" indent="0" algn="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fld id="{2A7CEDBF-0D59-47A0-944B-F02E1C166165}" type="slidenum">
              <a:rPr lang="en-US" sz="1200" b="0" i="0" u="none" strike="noStrike" kern="1200" cap="none" spc="0" baseline="0">
                <a:solidFill>
                  <a:srgbClr val="898989"/>
                </a:solidFill>
                <a:uFillTx/>
                <a:latin typeface="Tenorite"/>
              </a:rPr>
              <a:t>17</a:t>
            </a:fld>
            <a:endParaRPr lang="en-US" sz="900" b="0" i="0" u="none" strike="noStrike" kern="1200" cap="none" spc="0" baseline="0">
              <a:solidFill>
                <a:srgbClr val="898989"/>
              </a:solidFill>
              <a:uFillTx/>
              <a:latin typeface="Tenorite"/>
            </a:endParaRPr>
          </a:p>
        </p:txBody>
      </p:sp>
      <p:pic>
        <p:nvPicPr>
          <p:cNvPr id="4" name="Picture 3" descr="charts_hist_charges.png"/>
          <p:cNvPicPr>
            <a:picLocks noChangeAspect="1"/>
          </p:cNvPicPr>
          <p:nvPr/>
        </p:nvPicPr>
        <p:blipFill>
          <a:blip r:embed="rId3"/>
          <a:stretch>
            <a:fillRect/>
          </a:stretch>
        </p:blipFill>
        <p:spPr>
          <a:xfrm>
            <a:off x="685800" y="1554480"/>
            <a:ext cx="5760720" cy="3554486"/>
          </a:xfrm>
          <a:prstGeom prst="rect">
            <a:avLst/>
          </a:prstGeom>
        </p:spPr>
      </p:pic>
      <p:sp>
        <p:nvSpPr>
          <p:cNvPr id="5" name="TextBox 4"/>
          <p:cNvSpPr txBox="1"/>
          <p:nvPr/>
        </p:nvSpPr>
        <p:spPr>
          <a:xfrm>
            <a:off x="685800" y="5182118"/>
            <a:ext cx="5760720" cy="320040"/>
          </a:xfrm>
          <a:prstGeom prst="rect">
            <a:avLst/>
          </a:prstGeom>
          <a:noFill/>
        </p:spPr>
        <p:txBody>
          <a:bodyPr wrap="square" lIns="45720" rIns="45720" tIns="27432" bIns="27432" anchor="t">
            <a:spAutoFit/>
          </a:bodyPr>
          <a:lstStyle/>
          <a:p>
            <a:pPr>
              <a:spcAft>
                <a:spcPts val="0"/>
              </a:spcAft>
            </a:pPr>
            <a:r>
              <a:rPr sz="1100" b="0" i="1">
                <a:solidFill>
                  <a:srgbClr val="595959"/>
                </a:solidFill>
                <a:latin typeface="Tenorite"/>
              </a:rPr>
              <a:t>Seaborn · histogram</a:t>
            </a:r>
          </a:p>
        </p:txBody>
      </p:sp>
      <p:sp>
        <p:nvSpPr>
          <p:cNvPr id="6" name="TextBox 5"/>
          <p:cNvSpPr txBox="1"/>
          <p:nvPr/>
        </p:nvSpPr>
        <p:spPr>
          <a:xfrm>
            <a:off x="6720840" y="1645920"/>
            <a:ext cx="2423160" cy="822960"/>
          </a:xfrm>
          <a:prstGeom prst="rect">
            <a:avLst/>
          </a:prstGeom>
          <a:noFill/>
        </p:spPr>
        <p:txBody>
          <a:bodyPr wrap="square" lIns="45720" rIns="45720" tIns="27432" bIns="27432" anchor="b">
            <a:spAutoFit/>
          </a:bodyPr>
          <a:lstStyle/>
          <a:p>
            <a:pPr>
              <a:spcAft>
                <a:spcPts val="0"/>
              </a:spcAft>
            </a:pPr>
            <a:r>
              <a:rPr sz="4000" b="1" i="0">
                <a:solidFill>
                  <a:srgbClr val="C00000"/>
                </a:solidFill>
                <a:latin typeface="Tenorite"/>
              </a:rPr>
              <a:t>73%</a:t>
            </a:r>
          </a:p>
        </p:txBody>
      </p:sp>
      <p:sp>
        <p:nvSpPr>
          <p:cNvPr id="7" name="TextBox 6"/>
          <p:cNvSpPr txBox="1"/>
          <p:nvPr/>
        </p:nvSpPr>
        <p:spPr>
          <a:xfrm>
            <a:off x="6720840" y="2514600"/>
            <a:ext cx="2423160" cy="822960"/>
          </a:xfrm>
          <a:prstGeom prst="rect">
            <a:avLst/>
          </a:prstGeom>
          <a:noFill/>
        </p:spPr>
        <p:txBody>
          <a:bodyPr wrap="square" lIns="45720" rIns="45720" tIns="27432" bIns="27432" anchor="t">
            <a:spAutoFit/>
          </a:bodyPr>
          <a:lstStyle/>
          <a:p>
            <a:pPr>
              <a:spcAft>
                <a:spcPts val="0"/>
              </a:spcAft>
            </a:pPr>
            <a:r>
              <a:rPr sz="1400" b="1" i="0">
                <a:solidFill>
                  <a:srgbClr val="000000"/>
                </a:solidFill>
                <a:latin typeface="Tenorite"/>
              </a:rPr>
              <a:t>of customers are billed under $15,000</a:t>
            </a:r>
          </a:p>
        </p:txBody>
      </p:sp>
      <p:sp>
        <p:nvSpPr>
          <p:cNvPr id="8" name="TextBox 7"/>
          <p:cNvSpPr txBox="1"/>
          <p:nvPr/>
        </p:nvSpPr>
        <p:spPr>
          <a:xfrm>
            <a:off x="6720840" y="3337560"/>
            <a:ext cx="2423160" cy="2560320"/>
          </a:xfrm>
          <a:prstGeom prst="rect">
            <a:avLst/>
          </a:prstGeom>
          <a:noFill/>
        </p:spPr>
        <p:txBody>
          <a:bodyPr wrap="square" lIns="45720" rIns="45720" tIns="27432" bIns="27432" anchor="t">
            <a:spAutoFit/>
          </a:bodyPr>
          <a:lstStyle/>
          <a:p>
            <a:pPr>
              <a:spcAft>
                <a:spcPts val="800"/>
              </a:spcAft>
            </a:pPr>
            <a:r>
              <a:rPr sz="1300" b="0" i="0">
                <a:solidFill>
                  <a:srgbClr val="595959"/>
                </a:solidFill>
                <a:latin typeface="Tenorite"/>
              </a:rPr>
              <a:t>Charges are right-skewed: a long tail of high bills, mostly from smokers, pulls the mean ($13,279) above the median ($9,386).</a:t>
            </a:r>
          </a:p>
          <a:p>
            <a:pPr>
              <a:spcAft>
                <a:spcPts val="800"/>
              </a:spcAft>
            </a:pPr>
            <a:r>
              <a:rPr sz="1300" b="0" i="0">
                <a:solidFill>
                  <a:srgbClr val="595959"/>
                </a:solidFill>
                <a:latin typeface="Tenorite"/>
              </a:rPr>
              <a:t>So the median is the fairer “typical” charge.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4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BB591-CB23-DB99-AC13-87982F31590D}"/>
              </a:ext>
            </a:extLst>
          </p:cNvPr>
          <p:cNvSpPr txBox="1">
            <a:spLocks noGrp="1"/>
          </p:cNvSpPr>
          <p:nvPr>
            <p:ph type="title"/>
          </p:nvPr>
        </p:nvSpPr>
        <p:spPr>
          <a:xfrm>
            <a:off x="1325880" y="182880"/>
            <a:ext cx="7863840" cy="1188720"/>
          </a:xfrm>
        </p:spPr>
        <p:txBody>
          <a:bodyPr anchor="b"/>
          <a:lstStyle/>
          <a:p>
            <a:pPr lvl="0"/>
            <a:r>
              <a:rPr sz="2600"/>
              <a:t>Smokers pay 3.8× more</a:t>
            </a:r>
            <a:endParaRPr lang="en-US"/>
          </a:p>
        </p:txBody>
      </p:sp>
      <p:sp>
        <p:nvSpPr>
          <p:cNvPr id="3" name="Slide Number Placeholder 3">
            <a:extLst>
              <a:ext uri="{FF2B5EF4-FFF2-40B4-BE49-F238E27FC236}">
                <a16:creationId xmlns:a16="http://schemas.microsoft.com/office/drawing/2014/main" id="{5DA38919-030A-2071-CB36-09882CAECC10}"/>
              </a:ext>
            </a:extLst>
          </p:cNvPr>
          <p:cNvSpPr txBox="1"/>
          <p:nvPr/>
        </p:nvSpPr>
        <p:spPr>
          <a:xfrm>
            <a:off x="10373346" y="6356351"/>
            <a:ext cx="987552" cy="365129"/>
          </a:xfrm>
          <a:prstGeom prst="rect">
            <a:avLst/>
          </a:prstGeom>
          <a:noFill/>
          <a:ln cap="flat">
            <a:noFill/>
          </a:ln>
        </p:spPr>
        <p:txBody>
          <a:bodyPr vert="horz" wrap="square" lIns="91440" tIns="45720" rIns="91440" bIns="45720" anchor="ctr" anchorCtr="0" compatLnSpc="1">
            <a:noAutofit/>
          </a:bodyPr>
          <a:lstStyle/>
          <a:p>
            <a:pPr marL="0" marR="0" lvl="0" indent="0" algn="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fld id="{A8BC8C5C-1D0B-4E34-A40D-679AD210A433}" type="slidenum">
              <a:rPr lang="en-US" sz="1200"/>
              <a:t>18</a:t>
            </a:fld>
            <a:endParaRPr lang="en-US" sz="900" b="0" i="0" u="none" strike="noStrike" kern="1200" cap="none" spc="0" baseline="0">
              <a:solidFill>
                <a:srgbClr val="898989"/>
              </a:solidFill>
              <a:uFillTx/>
              <a:latin typeface="Tenorite"/>
            </a:endParaRPr>
          </a:p>
        </p:txBody>
      </p:sp>
      <p:pic>
        <p:nvPicPr>
          <p:cNvPr id="4" name="Picture 3" descr="charts_box_smoker.png"/>
          <p:cNvPicPr>
            <a:picLocks noChangeAspect="1"/>
          </p:cNvPicPr>
          <p:nvPr/>
        </p:nvPicPr>
        <p:blipFill>
          <a:blip r:embed="rId3"/>
          <a:stretch>
            <a:fillRect/>
          </a:stretch>
        </p:blipFill>
        <p:spPr>
          <a:xfrm>
            <a:off x="685800" y="1554480"/>
            <a:ext cx="5760720" cy="3554486"/>
          </a:xfrm>
          <a:prstGeom prst="rect">
            <a:avLst/>
          </a:prstGeom>
        </p:spPr>
      </p:pic>
      <p:sp>
        <p:nvSpPr>
          <p:cNvPr id="5" name="TextBox 4"/>
          <p:cNvSpPr txBox="1"/>
          <p:nvPr/>
        </p:nvSpPr>
        <p:spPr>
          <a:xfrm>
            <a:off x="685800" y="5182118"/>
            <a:ext cx="5760720" cy="320040"/>
          </a:xfrm>
          <a:prstGeom prst="rect">
            <a:avLst/>
          </a:prstGeom>
          <a:noFill/>
        </p:spPr>
        <p:txBody>
          <a:bodyPr wrap="square" lIns="45720" rIns="45720" tIns="27432" bIns="27432" anchor="t">
            <a:spAutoFit/>
          </a:bodyPr>
          <a:lstStyle/>
          <a:p>
            <a:pPr>
              <a:spcAft>
                <a:spcPts val="0"/>
              </a:spcAft>
            </a:pPr>
            <a:r>
              <a:rPr sz="1100" b="0" i="1">
                <a:solidFill>
                  <a:srgbClr val="595959"/>
                </a:solidFill>
                <a:latin typeface="Tenorite"/>
              </a:rPr>
              <a:t>Seaborn · boxplot</a:t>
            </a:r>
          </a:p>
        </p:txBody>
      </p:sp>
      <p:sp>
        <p:nvSpPr>
          <p:cNvPr id="6" name="TextBox 5"/>
          <p:cNvSpPr txBox="1"/>
          <p:nvPr/>
        </p:nvSpPr>
        <p:spPr>
          <a:xfrm>
            <a:off x="6720840" y="1645920"/>
            <a:ext cx="2423160" cy="822960"/>
          </a:xfrm>
          <a:prstGeom prst="rect">
            <a:avLst/>
          </a:prstGeom>
          <a:noFill/>
        </p:spPr>
        <p:txBody>
          <a:bodyPr wrap="square" lIns="45720" rIns="45720" tIns="27432" bIns="27432" anchor="b">
            <a:spAutoFit/>
          </a:bodyPr>
          <a:lstStyle/>
          <a:p>
            <a:pPr>
              <a:spcAft>
                <a:spcPts val="0"/>
              </a:spcAft>
            </a:pPr>
            <a:r>
              <a:rPr sz="4000" b="1" i="0">
                <a:solidFill>
                  <a:srgbClr val="C00000"/>
                </a:solidFill>
                <a:latin typeface="Tenorite"/>
              </a:rPr>
              <a:t>3.8×</a:t>
            </a:r>
          </a:p>
        </p:txBody>
      </p:sp>
      <p:sp>
        <p:nvSpPr>
          <p:cNvPr id="7" name="TextBox 6"/>
          <p:cNvSpPr txBox="1"/>
          <p:nvPr/>
        </p:nvSpPr>
        <p:spPr>
          <a:xfrm>
            <a:off x="6720840" y="2514600"/>
            <a:ext cx="2423160" cy="822960"/>
          </a:xfrm>
          <a:prstGeom prst="rect">
            <a:avLst/>
          </a:prstGeom>
          <a:noFill/>
        </p:spPr>
        <p:txBody>
          <a:bodyPr wrap="square" lIns="45720" rIns="45720" tIns="27432" bIns="27432" anchor="t">
            <a:spAutoFit/>
          </a:bodyPr>
          <a:lstStyle/>
          <a:p>
            <a:pPr>
              <a:spcAft>
                <a:spcPts val="0"/>
              </a:spcAft>
            </a:pPr>
            <a:r>
              <a:rPr sz="1400" b="1" i="0">
                <a:solidFill>
                  <a:srgbClr val="000000"/>
                </a:solidFill>
                <a:latin typeface="Tenorite"/>
              </a:rPr>
              <a:t>higher average charge for smokers</a:t>
            </a:r>
          </a:p>
        </p:txBody>
      </p:sp>
      <p:sp>
        <p:nvSpPr>
          <p:cNvPr id="8" name="TextBox 7"/>
          <p:cNvSpPr txBox="1"/>
          <p:nvPr/>
        </p:nvSpPr>
        <p:spPr>
          <a:xfrm>
            <a:off x="6720840" y="3337560"/>
            <a:ext cx="2423160" cy="2560320"/>
          </a:xfrm>
          <a:prstGeom prst="rect">
            <a:avLst/>
          </a:prstGeom>
          <a:noFill/>
        </p:spPr>
        <p:txBody>
          <a:bodyPr wrap="square" lIns="45720" rIns="45720" tIns="27432" bIns="27432" anchor="t">
            <a:spAutoFit/>
          </a:bodyPr>
          <a:lstStyle/>
          <a:p>
            <a:pPr>
              <a:spcAft>
                <a:spcPts val="800"/>
              </a:spcAft>
            </a:pPr>
            <a:r>
              <a:rPr sz="1300" b="0" i="0">
                <a:solidFill>
                  <a:srgbClr val="595959"/>
                </a:solidFill>
                <a:latin typeface="Tenorite"/>
              </a:rPr>
              <a:t>$32,050 vs $8,441 on average.</a:t>
            </a:r>
          </a:p>
          <a:p>
            <a:pPr>
              <a:spcAft>
                <a:spcPts val="800"/>
              </a:spcAft>
            </a:pPr>
            <a:r>
              <a:rPr sz="1300" b="0" i="0">
                <a:solidFill>
                  <a:srgbClr val="595959"/>
                </a:solidFill>
                <a:latin typeface="Tenorite"/>
              </a:rPr>
              <a:t>Three-quarters of smokers pay over $20,800, while three-quarters of non-smokers pay under $11,400.</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4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F4E6D7-02A7-A134-BCAE-8EB628975587}"/>
              </a:ext>
            </a:extLst>
          </p:cNvPr>
          <p:cNvSpPr txBox="1">
            <a:spLocks noGrp="1"/>
          </p:cNvSpPr>
          <p:nvPr>
            <p:ph type="title"/>
          </p:nvPr>
        </p:nvSpPr>
        <p:spPr>
          <a:xfrm>
            <a:off x="1325880" y="182880"/>
            <a:ext cx="7863840" cy="1188720"/>
          </a:xfrm>
        </p:spPr>
        <p:txBody>
          <a:bodyPr anchor="b"/>
          <a:lstStyle/>
          <a:p>
            <a:pPr lvl="0"/>
            <a:r>
              <a:rPr sz="2600"/>
              <a:t>BMI raises costs mainly for smokers</a:t>
            </a:r>
            <a:endParaRPr lang="en-US"/>
          </a:p>
        </p:txBody>
      </p:sp>
      <p:sp>
        <p:nvSpPr>
          <p:cNvPr id="3" name="Slide Number Placeholder 3">
            <a:extLst>
              <a:ext uri="{FF2B5EF4-FFF2-40B4-BE49-F238E27FC236}">
                <a16:creationId xmlns:a16="http://schemas.microsoft.com/office/drawing/2014/main" id="{C9C11374-45B8-AE2C-0858-497F7299AA33}"/>
              </a:ext>
            </a:extLst>
          </p:cNvPr>
          <p:cNvSpPr txBox="1"/>
          <p:nvPr/>
        </p:nvSpPr>
        <p:spPr>
          <a:xfrm>
            <a:off x="10373346" y="6356351"/>
            <a:ext cx="987552" cy="365129"/>
          </a:xfrm>
          <a:prstGeom prst="rect">
            <a:avLst/>
          </a:prstGeom>
          <a:noFill/>
          <a:ln cap="flat">
            <a:noFill/>
          </a:ln>
        </p:spPr>
        <p:txBody>
          <a:bodyPr vert="horz" wrap="square" lIns="91440" tIns="45720" rIns="91440" bIns="45720" anchor="ctr" anchorCtr="0" compatLnSpc="1">
            <a:noAutofit/>
          </a:bodyPr>
          <a:lstStyle/>
          <a:p>
            <a:pPr marL="0" marR="0" lvl="0" indent="0" algn="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fld id="{214E0233-7D58-4ABC-8D60-DC445D94B80F}" type="slidenum">
              <a:rPr lang="en-US" sz="1200"/>
              <a:t>19</a:t>
            </a:fld>
            <a:endParaRPr lang="en-US" sz="900" b="0" i="0" u="none" strike="noStrike" kern="1200" cap="none" spc="0" baseline="0">
              <a:solidFill>
                <a:srgbClr val="898989"/>
              </a:solidFill>
              <a:uFillTx/>
              <a:latin typeface="Tenorite"/>
            </a:endParaRPr>
          </a:p>
        </p:txBody>
      </p:sp>
      <p:pic>
        <p:nvPicPr>
          <p:cNvPr id="4" name="Picture 3" descr="charts_scatter_bmi.png"/>
          <p:cNvPicPr>
            <a:picLocks noChangeAspect="1"/>
          </p:cNvPicPr>
          <p:nvPr/>
        </p:nvPicPr>
        <p:blipFill>
          <a:blip r:embed="rId3"/>
          <a:stretch>
            <a:fillRect/>
          </a:stretch>
        </p:blipFill>
        <p:spPr>
          <a:xfrm>
            <a:off x="685800" y="1554480"/>
            <a:ext cx="5760720" cy="3554486"/>
          </a:xfrm>
          <a:prstGeom prst="rect">
            <a:avLst/>
          </a:prstGeom>
        </p:spPr>
      </p:pic>
      <p:sp>
        <p:nvSpPr>
          <p:cNvPr id="5" name="TextBox 4"/>
          <p:cNvSpPr txBox="1"/>
          <p:nvPr/>
        </p:nvSpPr>
        <p:spPr>
          <a:xfrm>
            <a:off x="685800" y="5182118"/>
            <a:ext cx="5760720" cy="320040"/>
          </a:xfrm>
          <a:prstGeom prst="rect">
            <a:avLst/>
          </a:prstGeom>
          <a:noFill/>
        </p:spPr>
        <p:txBody>
          <a:bodyPr wrap="square" lIns="45720" rIns="45720" tIns="27432" bIns="27432" anchor="t">
            <a:spAutoFit/>
          </a:bodyPr>
          <a:lstStyle/>
          <a:p>
            <a:pPr>
              <a:spcAft>
                <a:spcPts val="0"/>
              </a:spcAft>
            </a:pPr>
            <a:r>
              <a:rPr sz="1100" b="0" i="1">
                <a:solidFill>
                  <a:srgbClr val="595959"/>
                </a:solidFill>
                <a:latin typeface="Tenorite"/>
              </a:rPr>
              <a:t>Seaborn · scatter plot</a:t>
            </a:r>
          </a:p>
        </p:txBody>
      </p:sp>
      <p:sp>
        <p:nvSpPr>
          <p:cNvPr id="6" name="TextBox 5"/>
          <p:cNvSpPr txBox="1"/>
          <p:nvPr/>
        </p:nvSpPr>
        <p:spPr>
          <a:xfrm>
            <a:off x="6720840" y="1645920"/>
            <a:ext cx="2423160" cy="822960"/>
          </a:xfrm>
          <a:prstGeom prst="rect">
            <a:avLst/>
          </a:prstGeom>
          <a:noFill/>
        </p:spPr>
        <p:txBody>
          <a:bodyPr wrap="square" lIns="45720" rIns="45720" tIns="27432" bIns="27432" anchor="b">
            <a:spAutoFit/>
          </a:bodyPr>
          <a:lstStyle/>
          <a:p>
            <a:pPr>
              <a:spcAft>
                <a:spcPts val="0"/>
              </a:spcAft>
            </a:pPr>
            <a:r>
              <a:rPr sz="3400" b="1" i="0">
                <a:solidFill>
                  <a:srgbClr val="C00000"/>
                </a:solidFill>
                <a:latin typeface="Tenorite"/>
              </a:rPr>
              <a:t>$41,558</a:t>
            </a:r>
          </a:p>
        </p:txBody>
      </p:sp>
      <p:sp>
        <p:nvSpPr>
          <p:cNvPr id="7" name="TextBox 6"/>
          <p:cNvSpPr txBox="1"/>
          <p:nvPr/>
        </p:nvSpPr>
        <p:spPr>
          <a:xfrm>
            <a:off x="6720840" y="2514600"/>
            <a:ext cx="2423160" cy="822960"/>
          </a:xfrm>
          <a:prstGeom prst="rect">
            <a:avLst/>
          </a:prstGeom>
          <a:noFill/>
        </p:spPr>
        <p:txBody>
          <a:bodyPr wrap="square" lIns="45720" rIns="45720" tIns="27432" bIns="27432" anchor="t">
            <a:spAutoFit/>
          </a:bodyPr>
          <a:lstStyle/>
          <a:p>
            <a:pPr>
              <a:spcAft>
                <a:spcPts val="0"/>
              </a:spcAft>
            </a:pPr>
            <a:r>
              <a:rPr sz="1400" b="1" i="0">
                <a:solidFill>
                  <a:srgbClr val="000000"/>
                </a:solidFill>
                <a:latin typeface="Tenorite"/>
              </a:rPr>
              <a:t>average for smokers with BMI 30+</a:t>
            </a:r>
          </a:p>
        </p:txBody>
      </p:sp>
      <p:sp>
        <p:nvSpPr>
          <p:cNvPr id="8" name="TextBox 7"/>
          <p:cNvSpPr txBox="1"/>
          <p:nvPr/>
        </p:nvSpPr>
        <p:spPr>
          <a:xfrm>
            <a:off x="6720840" y="3337560"/>
            <a:ext cx="2423160" cy="2560320"/>
          </a:xfrm>
          <a:prstGeom prst="rect">
            <a:avLst/>
          </a:prstGeom>
          <a:noFill/>
        </p:spPr>
        <p:txBody>
          <a:bodyPr wrap="square" lIns="45720" rIns="45720" tIns="27432" bIns="27432" anchor="t">
            <a:spAutoFit/>
          </a:bodyPr>
          <a:lstStyle/>
          <a:p>
            <a:pPr>
              <a:spcAft>
                <a:spcPts val="800"/>
              </a:spcAft>
            </a:pPr>
            <a:r>
              <a:rPr sz="1300" b="0" i="0">
                <a:solidFill>
                  <a:srgbClr val="595959"/>
                </a:solidFill>
                <a:latin typeface="Tenorite"/>
              </a:rPr>
              <a:t>Nearly double the average for smokers below BMI 30 ($21,363).</a:t>
            </a:r>
          </a:p>
          <a:p>
            <a:pPr>
              <a:spcAft>
                <a:spcPts val="800"/>
              </a:spcAft>
            </a:pPr>
            <a:r>
              <a:rPr sz="1300" b="0" i="0">
                <a:solidFill>
                  <a:srgbClr val="595959"/>
                </a:solidFill>
                <a:latin typeface="Tenorite"/>
              </a:rPr>
              <a:t>For non-smokers BMI makes little difference ($7,977 vs $8,856).</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4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263D19-6348-E078-A71B-7EF751FF6E3A}"/>
              </a:ext>
            </a:extLst>
          </p:cNvPr>
          <p:cNvSpPr txBox="1">
            <a:spLocks noGrp="1"/>
          </p:cNvSpPr>
          <p:nvPr>
            <p:ph type="title"/>
          </p:nvPr>
        </p:nvSpPr>
        <p:spPr>
          <a:xfrm>
            <a:off x="1325880" y="182880"/>
            <a:ext cx="7863840" cy="1188720"/>
          </a:xfrm>
        </p:spPr>
        <p:txBody>
          <a:bodyPr anchor="b"/>
          <a:lstStyle/>
          <a:p>
            <a:pPr lvl="0"/>
            <a:r>
              <a:rPr sz="2600"/>
              <a:t>Smoking dominates the correlations</a:t>
            </a:r>
            <a:endParaRPr lang="en-US"/>
          </a:p>
        </p:txBody>
      </p:sp>
      <p:sp>
        <p:nvSpPr>
          <p:cNvPr id="3" name="Slide Number Placeholder 3">
            <a:extLst>
              <a:ext uri="{FF2B5EF4-FFF2-40B4-BE49-F238E27FC236}">
                <a16:creationId xmlns:a16="http://schemas.microsoft.com/office/drawing/2014/main" id="{1BF87149-89B0-60A7-D618-0D9A1046D8F7}"/>
              </a:ext>
            </a:extLst>
          </p:cNvPr>
          <p:cNvSpPr txBox="1"/>
          <p:nvPr/>
        </p:nvSpPr>
        <p:spPr>
          <a:xfrm>
            <a:off x="10373346" y="6356351"/>
            <a:ext cx="987552" cy="365129"/>
          </a:xfrm>
          <a:prstGeom prst="rect">
            <a:avLst/>
          </a:prstGeom>
          <a:noFill/>
          <a:ln cap="flat">
            <a:noFill/>
          </a:ln>
        </p:spPr>
        <p:txBody>
          <a:bodyPr vert="horz" wrap="square" lIns="91440" tIns="45720" rIns="91440" bIns="45720" anchor="ctr" anchorCtr="0" compatLnSpc="1">
            <a:noAutofit/>
          </a:bodyPr>
          <a:lstStyle/>
          <a:p>
            <a:pPr marL="0" marR="0" lvl="0" indent="0" algn="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fld id="{E3AA233A-E711-4EC4-9E33-BA2B227A893A}" type="slidenum">
              <a:rPr lang="en-US" sz="1200"/>
              <a:t>20</a:t>
            </a:fld>
            <a:endParaRPr lang="en-US" sz="900" b="0" i="0" u="none" strike="noStrike" kern="1200" cap="none" spc="0" baseline="0">
              <a:solidFill>
                <a:srgbClr val="898989"/>
              </a:solidFill>
              <a:uFillTx/>
              <a:latin typeface="Tenorite"/>
            </a:endParaRPr>
          </a:p>
        </p:txBody>
      </p:sp>
      <p:pic>
        <p:nvPicPr>
          <p:cNvPr id="4" name="Picture 3" descr="charts_heatmap.png"/>
          <p:cNvPicPr>
            <a:picLocks noChangeAspect="1"/>
          </p:cNvPicPr>
          <p:nvPr/>
        </p:nvPicPr>
        <p:blipFill>
          <a:blip r:embed="rId3"/>
          <a:stretch>
            <a:fillRect/>
          </a:stretch>
        </p:blipFill>
        <p:spPr>
          <a:xfrm>
            <a:off x="685800" y="1554480"/>
            <a:ext cx="5120640" cy="4064786"/>
          </a:xfrm>
          <a:prstGeom prst="rect">
            <a:avLst/>
          </a:prstGeom>
        </p:spPr>
      </p:pic>
      <p:sp>
        <p:nvSpPr>
          <p:cNvPr id="5" name="TextBox 4"/>
          <p:cNvSpPr txBox="1"/>
          <p:nvPr/>
        </p:nvSpPr>
        <p:spPr>
          <a:xfrm>
            <a:off x="685800" y="5692418"/>
            <a:ext cx="5120640" cy="320040"/>
          </a:xfrm>
          <a:prstGeom prst="rect">
            <a:avLst/>
          </a:prstGeom>
          <a:noFill/>
        </p:spPr>
        <p:txBody>
          <a:bodyPr wrap="square" lIns="45720" rIns="45720" tIns="27432" bIns="27432" anchor="t">
            <a:spAutoFit/>
          </a:bodyPr>
          <a:lstStyle/>
          <a:p>
            <a:pPr>
              <a:spcAft>
                <a:spcPts val="0"/>
              </a:spcAft>
            </a:pPr>
            <a:r>
              <a:rPr sz="1100" b="0" i="1">
                <a:solidFill>
                  <a:srgbClr val="595959"/>
                </a:solidFill>
                <a:latin typeface="Tenorite"/>
              </a:rPr>
              <a:t>Seaborn · correlation heatmap</a:t>
            </a:r>
          </a:p>
        </p:txBody>
      </p:sp>
      <p:sp>
        <p:nvSpPr>
          <p:cNvPr id="6" name="TextBox 5"/>
          <p:cNvSpPr txBox="1"/>
          <p:nvPr/>
        </p:nvSpPr>
        <p:spPr>
          <a:xfrm>
            <a:off x="6080759" y="1645920"/>
            <a:ext cx="3063240" cy="822960"/>
          </a:xfrm>
          <a:prstGeom prst="rect">
            <a:avLst/>
          </a:prstGeom>
          <a:noFill/>
        </p:spPr>
        <p:txBody>
          <a:bodyPr wrap="square" lIns="45720" rIns="45720" tIns="27432" bIns="27432" anchor="b">
            <a:spAutoFit/>
          </a:bodyPr>
          <a:lstStyle/>
          <a:p>
            <a:pPr>
              <a:spcAft>
                <a:spcPts val="0"/>
              </a:spcAft>
            </a:pPr>
            <a:r>
              <a:rPr sz="3400" b="1" i="0">
                <a:solidFill>
                  <a:srgbClr val="C00000"/>
                </a:solidFill>
                <a:latin typeface="Tenorite"/>
              </a:rPr>
              <a:t>r = 0.79</a:t>
            </a:r>
          </a:p>
        </p:txBody>
      </p:sp>
      <p:sp>
        <p:nvSpPr>
          <p:cNvPr id="7" name="TextBox 6"/>
          <p:cNvSpPr txBox="1"/>
          <p:nvPr/>
        </p:nvSpPr>
        <p:spPr>
          <a:xfrm>
            <a:off x="6080759" y="2514600"/>
            <a:ext cx="3063240" cy="822960"/>
          </a:xfrm>
          <a:prstGeom prst="rect">
            <a:avLst/>
          </a:prstGeom>
          <a:noFill/>
        </p:spPr>
        <p:txBody>
          <a:bodyPr wrap="square" lIns="45720" rIns="45720" tIns="27432" bIns="27432" anchor="t">
            <a:spAutoFit/>
          </a:bodyPr>
          <a:lstStyle/>
          <a:p>
            <a:pPr>
              <a:spcAft>
                <a:spcPts val="0"/>
              </a:spcAft>
            </a:pPr>
            <a:r>
              <a:rPr sz="1400" b="1" i="0">
                <a:solidFill>
                  <a:srgbClr val="000000"/>
                </a:solidFill>
                <a:latin typeface="Tenorite"/>
              </a:rPr>
              <a:t>correlation between smoking and charges</a:t>
            </a:r>
          </a:p>
        </p:txBody>
      </p:sp>
      <p:sp>
        <p:nvSpPr>
          <p:cNvPr id="8" name="TextBox 7"/>
          <p:cNvSpPr txBox="1"/>
          <p:nvPr/>
        </p:nvSpPr>
        <p:spPr>
          <a:xfrm>
            <a:off x="6080759" y="3337560"/>
            <a:ext cx="3063240" cy="2560320"/>
          </a:xfrm>
          <a:prstGeom prst="rect">
            <a:avLst/>
          </a:prstGeom>
          <a:noFill/>
        </p:spPr>
        <p:txBody>
          <a:bodyPr wrap="square" lIns="45720" rIns="45720" tIns="27432" bIns="27432" anchor="t">
            <a:spAutoFit/>
          </a:bodyPr>
          <a:lstStyle/>
          <a:p>
            <a:pPr>
              <a:spcAft>
                <a:spcPts val="800"/>
              </a:spcAft>
            </a:pPr>
            <a:r>
              <a:rPr sz="1300" b="1" i="0">
                <a:solidFill>
                  <a:srgbClr val="000000"/>
                </a:solidFill>
                <a:latin typeface="Tenorite"/>
              </a:rPr>
              <a:t>Age </a:t>
            </a:r>
            <a:r>
              <a:rPr sz="1300" b="0" i="0">
                <a:solidFill>
                  <a:srgbClr val="595959"/>
                </a:solidFill>
                <a:latin typeface="Tenorite"/>
              </a:rPr>
              <a:t>0.30   </a:t>
            </a:r>
            <a:r>
              <a:rPr sz="1300" b="1" i="0">
                <a:solidFill>
                  <a:srgbClr val="000000"/>
                </a:solidFill>
                <a:latin typeface="Tenorite"/>
              </a:rPr>
              <a:t>BMI </a:t>
            </a:r>
            <a:r>
              <a:rPr sz="1300" b="0" i="0">
                <a:solidFill>
                  <a:srgbClr val="595959"/>
                </a:solidFill>
                <a:latin typeface="Tenorite"/>
              </a:rPr>
              <a:t>0.20</a:t>
            </a:r>
          </a:p>
          <a:p>
            <a:pPr>
              <a:spcAft>
                <a:spcPts val="800"/>
              </a:spcAft>
            </a:pPr>
            <a:r>
              <a:rPr sz="1300" b="1" i="0">
                <a:solidFill>
                  <a:srgbClr val="000000"/>
                </a:solidFill>
                <a:latin typeface="Tenorite"/>
              </a:rPr>
              <a:t>Children </a:t>
            </a:r>
            <a:r>
              <a:rPr sz="1300" b="0" i="0">
                <a:solidFill>
                  <a:srgbClr val="595959"/>
                </a:solidFill>
                <a:latin typeface="Tenorite"/>
              </a:rPr>
              <a:t>0.07   </a:t>
            </a:r>
            <a:r>
              <a:rPr sz="1300" b="1" i="0">
                <a:solidFill>
                  <a:srgbClr val="000000"/>
                </a:solidFill>
                <a:latin typeface="Tenorite"/>
              </a:rPr>
              <a:t>Sex </a:t>
            </a:r>
            <a:r>
              <a:rPr sz="1300" b="0" i="0">
                <a:solidFill>
                  <a:srgbClr val="595959"/>
                </a:solidFill>
                <a:latin typeface="Tenorite"/>
              </a:rPr>
              <a:t>0.06</a:t>
            </a:r>
          </a:p>
          <a:p>
            <a:pPr>
              <a:spcAft>
                <a:spcPts val="800"/>
              </a:spcAft>
            </a:pPr>
            <a:r>
              <a:rPr sz="1300" b="1" i="0">
                <a:solidFill>
                  <a:srgbClr val="000000"/>
                </a:solidFill>
                <a:latin typeface="Tenorite"/>
              </a:rPr>
              <a:t>Region </a:t>
            </a:r>
            <a:r>
              <a:rPr sz="1300" b="0" i="0">
                <a:solidFill>
                  <a:srgbClr val="595959"/>
                </a:solidFill>
                <a:latin typeface="Tenorite"/>
              </a:rPr>
              <a:t>all below 0.07</a:t>
            </a:r>
          </a:p>
          <a:p>
            <a:pPr>
              <a:spcAft>
                <a:spcPts val="800"/>
              </a:spcAft>
            </a:pPr>
            <a:r>
              <a:rPr sz="1300" b="0" i="0">
                <a:solidFill>
                  <a:srgbClr val="595959"/>
                </a:solidFill>
                <a:latin typeface="Tenorite"/>
              </a:rPr>
              <a:t>Correlation shows a link, not proof of cause.</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4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B50F2A-28D8-416C-ADEB-E712FA703CE0}"/>
              </a:ext>
            </a:extLst>
          </p:cNvPr>
          <p:cNvSpPr txBox="1">
            <a:spLocks noGrp="1"/>
          </p:cNvSpPr>
          <p:nvPr>
            <p:ph type="title"/>
          </p:nvPr>
        </p:nvSpPr>
        <p:spPr>
          <a:xfrm>
            <a:off x="1325880" y="182880"/>
            <a:ext cx="7863840" cy="1188720"/>
          </a:xfrm>
        </p:spPr>
        <p:txBody>
          <a:bodyPr anchor="b"/>
          <a:lstStyle/>
          <a:p>
            <a:pPr lvl="0"/>
            <a:r>
              <a:rPr sz="2600"/>
              <a:t>Key insights</a:t>
            </a:r>
          </a:p>
        </p:txBody>
      </p:sp>
      <p:sp>
        <p:nvSpPr>
          <p:cNvPr id="4" name="Slide Number Placeholder 8">
            <a:extLst>
              <a:ext uri="{FF2B5EF4-FFF2-40B4-BE49-F238E27FC236}">
                <a16:creationId xmlns:a16="http://schemas.microsoft.com/office/drawing/2014/main" id="{1E9A6CC6-32F9-8E06-779A-3E6554D5F448}"/>
              </a:ext>
            </a:extLst>
          </p:cNvPr>
          <p:cNvSpPr txBox="1"/>
          <p:nvPr/>
        </p:nvSpPr>
        <p:spPr>
          <a:xfrm>
            <a:off x="10373346" y="6356351"/>
            <a:ext cx="987552" cy="365129"/>
          </a:xfrm>
          <a:prstGeom prst="rect">
            <a:avLst/>
          </a:prstGeom>
          <a:noFill/>
          <a:ln cap="flat">
            <a:noFill/>
          </a:ln>
        </p:spPr>
        <p:txBody>
          <a:bodyPr vert="horz" wrap="square" lIns="91440" tIns="45720" rIns="91440" bIns="45720" anchor="ctr" anchorCtr="0" compatLnSpc="1">
            <a:normAutofit/>
          </a:bodyPr>
          <a:lstStyle/>
          <a:p>
            <a:pPr marL="0" marR="0" lvl="0" indent="0" algn="r" defTabSz="914400" rtl="0" fontAlgn="auto" hangingPunct="1">
              <a:lnSpc>
                <a:spcPct val="100000"/>
              </a:lnSpc>
              <a:spcBef>
                <a:spcPts val="0"/>
              </a:spcBef>
              <a:spcAft>
                <a:spcPts val="600"/>
              </a:spcAft>
              <a:buNone/>
              <a:tabLst/>
              <a:defRPr sz="1800" b="0" i="0" u="none" strike="noStrike" kern="0" cap="none" spc="0" baseline="0">
                <a:solidFill>
                  <a:srgbClr val="000000"/>
                </a:solidFill>
                <a:uFillTx/>
              </a:defRPr>
            </a:pPr>
            <a:fld id="{6ED3CE4F-5BC0-4AA9-88F2-AC9355CDEEA5}" type="slidenum">
              <a:rPr lang="en-US" sz="1200" b="0" i="0" u="none" strike="noStrike" kern="1200" cap="none" spc="0" baseline="0">
                <a:solidFill>
                  <a:srgbClr val="898989"/>
                </a:solidFill>
                <a:uFillTx/>
                <a:latin typeface="Tenorite"/>
              </a:rPr>
              <a:t>21</a:t>
            </a:fld>
            <a:endParaRPr lang="en-US" sz="900" b="0" i="0" u="none" strike="noStrike" kern="1200" cap="none" spc="0" baseline="0">
              <a:solidFill>
                <a:srgbClr val="898989"/>
              </a:solidFill>
              <a:uFillTx/>
              <a:latin typeface="Tenorite"/>
            </a:endParaRPr>
          </a:p>
        </p:txBody>
      </p:sp>
      <p:sp>
        <p:nvSpPr>
          <p:cNvPr id="5" name="Rectangle 4"/>
          <p:cNvSpPr/>
          <p:nvPr/>
        </p:nvSpPr>
        <p:spPr>
          <a:xfrm>
            <a:off x="914400" y="1554480"/>
            <a:ext cx="3840480" cy="210312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1664207"/>
            <a:ext cx="3474720" cy="365760"/>
          </a:xfrm>
          <a:prstGeom prst="rect">
            <a:avLst/>
          </a:prstGeom>
          <a:noFill/>
        </p:spPr>
        <p:txBody>
          <a:bodyPr wrap="square" lIns="45720" rIns="45720" tIns="27432" bIns="27432" anchor="t">
            <a:spAutoFit/>
          </a:bodyPr>
          <a:lstStyle/>
          <a:p>
            <a:pPr>
              <a:spcAft>
                <a:spcPts val="0"/>
              </a:spcAft>
            </a:pPr>
            <a:r>
              <a:rPr sz="1400" b="1" i="0">
                <a:solidFill>
                  <a:srgbClr val="000000"/>
                </a:solidFill>
                <a:latin typeface="Tenorite"/>
              </a:rPr>
              <a:t>Smokers vs non-smokers</a:t>
            </a:r>
          </a:p>
        </p:txBody>
      </p:sp>
      <p:sp>
        <p:nvSpPr>
          <p:cNvPr id="7" name="TextBox 6"/>
          <p:cNvSpPr txBox="1"/>
          <p:nvPr/>
        </p:nvSpPr>
        <p:spPr>
          <a:xfrm>
            <a:off x="1097280" y="2011680"/>
            <a:ext cx="3474720" cy="731520"/>
          </a:xfrm>
          <a:prstGeom prst="rect">
            <a:avLst/>
          </a:prstGeom>
          <a:noFill/>
        </p:spPr>
        <p:txBody>
          <a:bodyPr wrap="square" lIns="45720" rIns="45720" tIns="27432" bIns="27432" anchor="ctr">
            <a:spAutoFit/>
          </a:bodyPr>
          <a:lstStyle/>
          <a:p>
            <a:pPr>
              <a:spcAft>
                <a:spcPts val="0"/>
              </a:spcAft>
            </a:pPr>
            <a:r>
              <a:rPr sz="3400" b="1" i="0">
                <a:solidFill>
                  <a:srgbClr val="C00000"/>
                </a:solidFill>
                <a:latin typeface="Tenorite"/>
              </a:rPr>
              <a:t>3.8×</a:t>
            </a:r>
          </a:p>
        </p:txBody>
      </p:sp>
      <p:sp>
        <p:nvSpPr>
          <p:cNvPr id="8" name="TextBox 7"/>
          <p:cNvSpPr txBox="1"/>
          <p:nvPr/>
        </p:nvSpPr>
        <p:spPr>
          <a:xfrm>
            <a:off x="1097280" y="2788920"/>
            <a:ext cx="3474720" cy="822960"/>
          </a:xfrm>
          <a:prstGeom prst="rect">
            <a:avLst/>
          </a:prstGeom>
          <a:noFill/>
        </p:spPr>
        <p:txBody>
          <a:bodyPr wrap="square" lIns="45720" rIns="45720" tIns="27432" bIns="27432" anchor="t">
            <a:spAutoFit/>
          </a:bodyPr>
          <a:lstStyle/>
          <a:p>
            <a:pPr>
              <a:spcAft>
                <a:spcPts val="0"/>
              </a:spcAft>
            </a:pPr>
            <a:r>
              <a:rPr sz="1300" b="0" i="0">
                <a:solidFill>
                  <a:srgbClr val="595959"/>
                </a:solidFill>
                <a:latin typeface="Tenorite"/>
              </a:rPr>
              <a:t>Smokers average $32,050 vs $8,441, the largest gap in the data.</a:t>
            </a:r>
          </a:p>
        </p:txBody>
      </p:sp>
      <p:sp>
        <p:nvSpPr>
          <p:cNvPr id="9" name="Rectangle 8"/>
          <p:cNvSpPr/>
          <p:nvPr/>
        </p:nvSpPr>
        <p:spPr>
          <a:xfrm>
            <a:off x="4983480" y="1554480"/>
            <a:ext cx="3840480" cy="210312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166360" y="1664207"/>
            <a:ext cx="3474720" cy="365760"/>
          </a:xfrm>
          <a:prstGeom prst="rect">
            <a:avLst/>
          </a:prstGeom>
          <a:noFill/>
        </p:spPr>
        <p:txBody>
          <a:bodyPr wrap="square" lIns="45720" rIns="45720" tIns="27432" bIns="27432" anchor="t">
            <a:spAutoFit/>
          </a:bodyPr>
          <a:lstStyle/>
          <a:p>
            <a:pPr>
              <a:spcAft>
                <a:spcPts val="0"/>
              </a:spcAft>
            </a:pPr>
            <a:r>
              <a:rPr sz="1400" b="1" i="0">
                <a:solidFill>
                  <a:srgbClr val="000000"/>
                </a:solidFill>
                <a:latin typeface="Tenorite"/>
              </a:rPr>
              <a:t>BMI effect</a:t>
            </a:r>
          </a:p>
        </p:txBody>
      </p:sp>
      <p:sp>
        <p:nvSpPr>
          <p:cNvPr id="11" name="TextBox 10"/>
          <p:cNvSpPr txBox="1"/>
          <p:nvPr/>
        </p:nvSpPr>
        <p:spPr>
          <a:xfrm>
            <a:off x="5166360" y="2011680"/>
            <a:ext cx="3474720" cy="731520"/>
          </a:xfrm>
          <a:prstGeom prst="rect">
            <a:avLst/>
          </a:prstGeom>
          <a:noFill/>
        </p:spPr>
        <p:txBody>
          <a:bodyPr wrap="square" lIns="45720" rIns="45720" tIns="27432" bIns="27432" anchor="ctr">
            <a:spAutoFit/>
          </a:bodyPr>
          <a:lstStyle/>
          <a:p>
            <a:pPr>
              <a:spcAft>
                <a:spcPts val="0"/>
              </a:spcAft>
            </a:pPr>
            <a:r>
              <a:rPr sz="3400" b="1" i="0">
                <a:solidFill>
                  <a:srgbClr val="C00000"/>
                </a:solidFill>
                <a:latin typeface="Tenorite"/>
              </a:rPr>
              <a:t>$41.6k</a:t>
            </a:r>
          </a:p>
        </p:txBody>
      </p:sp>
      <p:sp>
        <p:nvSpPr>
          <p:cNvPr id="12" name="TextBox 11"/>
          <p:cNvSpPr txBox="1"/>
          <p:nvPr/>
        </p:nvSpPr>
        <p:spPr>
          <a:xfrm>
            <a:off x="5166360" y="2788920"/>
            <a:ext cx="3474720" cy="822960"/>
          </a:xfrm>
          <a:prstGeom prst="rect">
            <a:avLst/>
          </a:prstGeom>
          <a:noFill/>
        </p:spPr>
        <p:txBody>
          <a:bodyPr wrap="square" lIns="45720" rIns="45720" tIns="27432" bIns="27432" anchor="t">
            <a:spAutoFit/>
          </a:bodyPr>
          <a:lstStyle/>
          <a:p>
            <a:pPr>
              <a:spcAft>
                <a:spcPts val="0"/>
              </a:spcAft>
            </a:pPr>
            <a:r>
              <a:rPr sz="1300" b="0" i="0">
                <a:solidFill>
                  <a:srgbClr val="595959"/>
                </a:solidFill>
                <a:latin typeface="Tenorite"/>
              </a:rPr>
              <a:t>Obese smokers pay the most; BMI barely matters for non-smokers.</a:t>
            </a:r>
          </a:p>
        </p:txBody>
      </p:sp>
      <p:sp>
        <p:nvSpPr>
          <p:cNvPr id="13" name="Rectangle 12"/>
          <p:cNvSpPr/>
          <p:nvPr/>
        </p:nvSpPr>
        <p:spPr>
          <a:xfrm>
            <a:off x="914400" y="3840480"/>
            <a:ext cx="3840480" cy="210312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97280" y="3950208"/>
            <a:ext cx="3474720" cy="365760"/>
          </a:xfrm>
          <a:prstGeom prst="rect">
            <a:avLst/>
          </a:prstGeom>
          <a:noFill/>
        </p:spPr>
        <p:txBody>
          <a:bodyPr wrap="square" lIns="45720" rIns="45720" tIns="27432" bIns="27432" anchor="t">
            <a:spAutoFit/>
          </a:bodyPr>
          <a:lstStyle/>
          <a:p>
            <a:pPr>
              <a:spcAft>
                <a:spcPts val="0"/>
              </a:spcAft>
            </a:pPr>
            <a:r>
              <a:rPr sz="1400" b="1" i="0">
                <a:solidFill>
                  <a:srgbClr val="000000"/>
                </a:solidFill>
                <a:latin typeface="Tenorite"/>
              </a:rPr>
              <a:t>Age impact</a:t>
            </a:r>
          </a:p>
        </p:txBody>
      </p:sp>
      <p:sp>
        <p:nvSpPr>
          <p:cNvPr id="15" name="TextBox 14"/>
          <p:cNvSpPr txBox="1"/>
          <p:nvPr/>
        </p:nvSpPr>
        <p:spPr>
          <a:xfrm>
            <a:off x="1097280" y="4297680"/>
            <a:ext cx="3474720" cy="731520"/>
          </a:xfrm>
          <a:prstGeom prst="rect">
            <a:avLst/>
          </a:prstGeom>
          <a:noFill/>
        </p:spPr>
        <p:txBody>
          <a:bodyPr wrap="square" lIns="45720" rIns="45720" tIns="27432" bIns="27432" anchor="ctr">
            <a:spAutoFit/>
          </a:bodyPr>
          <a:lstStyle/>
          <a:p>
            <a:pPr>
              <a:spcAft>
                <a:spcPts val="0"/>
              </a:spcAft>
            </a:pPr>
            <a:r>
              <a:rPr sz="3400" b="1" i="0">
                <a:solidFill>
                  <a:srgbClr val="C00000"/>
                </a:solidFill>
                <a:latin typeface="Tenorite"/>
              </a:rPr>
              <a:t>+$265/yr</a:t>
            </a:r>
          </a:p>
        </p:txBody>
      </p:sp>
      <p:sp>
        <p:nvSpPr>
          <p:cNvPr id="16" name="TextBox 15"/>
          <p:cNvSpPr txBox="1"/>
          <p:nvPr/>
        </p:nvSpPr>
        <p:spPr>
          <a:xfrm>
            <a:off x="1097280" y="5074920"/>
            <a:ext cx="3474720" cy="822960"/>
          </a:xfrm>
          <a:prstGeom prst="rect">
            <a:avLst/>
          </a:prstGeom>
          <a:noFill/>
        </p:spPr>
        <p:txBody>
          <a:bodyPr wrap="square" lIns="45720" rIns="45720" tIns="27432" bIns="27432" anchor="t">
            <a:spAutoFit/>
          </a:bodyPr>
          <a:lstStyle/>
          <a:p>
            <a:pPr>
              <a:spcAft>
                <a:spcPts val="0"/>
              </a:spcAft>
            </a:pPr>
            <a:r>
              <a:rPr sz="1300" b="0" i="0">
                <a:solidFill>
                  <a:srgbClr val="595959"/>
                </a:solidFill>
                <a:latin typeface="Tenorite"/>
              </a:rPr>
              <a:t>Average charges rise from $9.7k (18–34) to $17.9k (50–64).</a:t>
            </a:r>
          </a:p>
        </p:txBody>
      </p:sp>
      <p:sp>
        <p:nvSpPr>
          <p:cNvPr id="17" name="Rectangle 16"/>
          <p:cNvSpPr/>
          <p:nvPr/>
        </p:nvSpPr>
        <p:spPr>
          <a:xfrm>
            <a:off x="4983480" y="3840480"/>
            <a:ext cx="3840480" cy="210312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166360" y="3950208"/>
            <a:ext cx="3474720" cy="365760"/>
          </a:xfrm>
          <a:prstGeom prst="rect">
            <a:avLst/>
          </a:prstGeom>
          <a:noFill/>
        </p:spPr>
        <p:txBody>
          <a:bodyPr wrap="square" lIns="45720" rIns="45720" tIns="27432" bIns="27432" anchor="t">
            <a:spAutoFit/>
          </a:bodyPr>
          <a:lstStyle/>
          <a:p>
            <a:pPr>
              <a:spcAft>
                <a:spcPts val="0"/>
              </a:spcAft>
            </a:pPr>
            <a:r>
              <a:rPr sz="1400" b="1" i="0">
                <a:solidFill>
                  <a:srgbClr val="000000"/>
                </a:solidFill>
                <a:latin typeface="Tenorite"/>
              </a:rPr>
              <a:t>Regional differences</a:t>
            </a:r>
          </a:p>
        </p:txBody>
      </p:sp>
      <p:sp>
        <p:nvSpPr>
          <p:cNvPr id="19" name="TextBox 18"/>
          <p:cNvSpPr txBox="1"/>
          <p:nvPr/>
        </p:nvSpPr>
        <p:spPr>
          <a:xfrm>
            <a:off x="5166360" y="4297680"/>
            <a:ext cx="3474720" cy="731520"/>
          </a:xfrm>
          <a:prstGeom prst="rect">
            <a:avLst/>
          </a:prstGeom>
          <a:noFill/>
        </p:spPr>
        <p:txBody>
          <a:bodyPr wrap="square" lIns="45720" rIns="45720" tIns="27432" bIns="27432" anchor="ctr">
            <a:spAutoFit/>
          </a:bodyPr>
          <a:lstStyle/>
          <a:p>
            <a:pPr>
              <a:spcAft>
                <a:spcPts val="0"/>
              </a:spcAft>
            </a:pPr>
            <a:r>
              <a:rPr sz="3400" b="1" i="0">
                <a:solidFill>
                  <a:srgbClr val="595959"/>
                </a:solidFill>
                <a:latin typeface="Tenorite"/>
              </a:rPr>
              <a:t>≤ $2.4k</a:t>
            </a:r>
          </a:p>
        </p:txBody>
      </p:sp>
      <p:sp>
        <p:nvSpPr>
          <p:cNvPr id="20" name="TextBox 19"/>
          <p:cNvSpPr txBox="1"/>
          <p:nvPr/>
        </p:nvSpPr>
        <p:spPr>
          <a:xfrm>
            <a:off x="5166360" y="5074920"/>
            <a:ext cx="3474720" cy="822960"/>
          </a:xfrm>
          <a:prstGeom prst="rect">
            <a:avLst/>
          </a:prstGeom>
          <a:noFill/>
        </p:spPr>
        <p:txBody>
          <a:bodyPr wrap="square" lIns="45720" rIns="45720" tIns="27432" bIns="27432" anchor="t">
            <a:spAutoFit/>
          </a:bodyPr>
          <a:lstStyle/>
          <a:p>
            <a:pPr>
              <a:spcAft>
                <a:spcPts val="0"/>
              </a:spcAft>
            </a:pPr>
            <a:r>
              <a:rPr sz="1300" b="0" i="0">
                <a:solidFill>
                  <a:srgbClr val="595959"/>
                </a:solidFill>
                <a:latin typeface="Tenorite"/>
              </a:rPr>
              <a:t>Small gaps that are largely explained by smoking and BMI.</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4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63C8E5-CDAD-112A-90EA-684AA9A528C4}"/>
              </a:ext>
            </a:extLst>
          </p:cNvPr>
          <p:cNvSpPr txBox="1">
            <a:spLocks noGrp="1"/>
          </p:cNvSpPr>
          <p:nvPr>
            <p:ph type="title"/>
          </p:nvPr>
        </p:nvSpPr>
        <p:spPr>
          <a:xfrm>
            <a:off x="1325880" y="182880"/>
            <a:ext cx="7863840" cy="1188720"/>
          </a:xfrm>
        </p:spPr>
        <p:txBody>
          <a:bodyPr anchor="b"/>
          <a:lstStyle/>
          <a:p>
            <a:pPr lvl="0"/>
            <a:r>
              <a:rPr sz="2600"/>
              <a:t>Business recommendations</a:t>
            </a:r>
          </a:p>
        </p:txBody>
      </p:sp>
      <p:sp>
        <p:nvSpPr>
          <p:cNvPr id="3" name="Slide Number Placeholder 8">
            <a:extLst>
              <a:ext uri="{FF2B5EF4-FFF2-40B4-BE49-F238E27FC236}">
                <a16:creationId xmlns:a16="http://schemas.microsoft.com/office/drawing/2014/main" id="{9EAC75C0-E8CB-B7D3-10EC-F3060F723FBB}"/>
              </a:ext>
            </a:extLst>
          </p:cNvPr>
          <p:cNvSpPr txBox="1"/>
          <p:nvPr/>
        </p:nvSpPr>
        <p:spPr>
          <a:xfrm>
            <a:off x="10373346" y="6356351"/>
            <a:ext cx="987552" cy="365129"/>
          </a:xfrm>
          <a:prstGeom prst="rect">
            <a:avLst/>
          </a:prstGeom>
          <a:noFill/>
          <a:ln cap="flat">
            <a:noFill/>
          </a:ln>
        </p:spPr>
        <p:txBody>
          <a:bodyPr vert="horz" wrap="square" lIns="91440" tIns="45720" rIns="91440" bIns="45720" anchor="ctr" anchorCtr="0" compatLnSpc="1">
            <a:normAutofit/>
          </a:bodyPr>
          <a:lstStyle/>
          <a:p>
            <a:pPr marL="0" marR="0" lvl="0" indent="0" algn="r" defTabSz="914400" rtl="0" fontAlgn="auto" hangingPunct="1">
              <a:lnSpc>
                <a:spcPct val="100000"/>
              </a:lnSpc>
              <a:spcBef>
                <a:spcPts val="0"/>
              </a:spcBef>
              <a:spcAft>
                <a:spcPts val="600"/>
              </a:spcAft>
              <a:buNone/>
              <a:tabLst/>
              <a:defRPr sz="1800" b="0" i="0" u="none" strike="noStrike" kern="0" cap="none" spc="0" baseline="0">
                <a:solidFill>
                  <a:srgbClr val="000000"/>
                </a:solidFill>
                <a:uFillTx/>
              </a:defRPr>
            </a:pPr>
            <a:fld id="{21A66BA7-65A0-4DFC-B288-079176F2D822}" type="slidenum">
              <a:rPr lang="en-US" sz="1200" b="0" i="0" u="none" strike="noStrike" kern="1200" cap="none" spc="0" baseline="0">
                <a:solidFill>
                  <a:srgbClr val="898989"/>
                </a:solidFill>
                <a:uFillTx/>
                <a:latin typeface="Tenorite"/>
              </a:rPr>
              <a:t>23</a:t>
            </a:fld>
            <a:endParaRPr lang="en-US" sz="900" b="0" i="0" u="none" strike="noStrike" kern="1200" cap="none" spc="0" baseline="0">
              <a:solidFill>
                <a:srgbClr val="898989"/>
              </a:solidFill>
              <a:uFillTx/>
              <a:latin typeface="Tenorite"/>
            </a:endParaRPr>
          </a:p>
        </p:txBody>
      </p:sp>
      <p:sp>
        <p:nvSpPr>
          <p:cNvPr id="4" name="Rectangle 3"/>
          <p:cNvSpPr/>
          <p:nvPr/>
        </p:nvSpPr>
        <p:spPr>
          <a:xfrm>
            <a:off x="914400" y="1600200"/>
            <a:ext cx="8046720" cy="132588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097280" y="1984248"/>
            <a:ext cx="548640" cy="54864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1984248"/>
            <a:ext cx="548640" cy="548640"/>
          </a:xfrm>
          <a:prstGeom prst="rect">
            <a:avLst/>
          </a:prstGeom>
          <a:noFill/>
        </p:spPr>
        <p:txBody>
          <a:bodyPr wrap="square" lIns="0" rIns="0" tIns="27432" bIns="27432" anchor="ctr">
            <a:spAutoFit/>
          </a:bodyPr>
          <a:lstStyle/>
          <a:p>
            <a:pPr algn="ctr">
              <a:spcAft>
                <a:spcPts val="0"/>
              </a:spcAft>
            </a:pPr>
            <a:r>
              <a:rPr sz="1800" b="1" i="0">
                <a:solidFill>
                  <a:srgbClr val="FFFFFF"/>
                </a:solidFill>
                <a:latin typeface="Tenorite"/>
              </a:rPr>
              <a:t>1</a:t>
            </a:r>
          </a:p>
        </p:txBody>
      </p:sp>
      <p:sp>
        <p:nvSpPr>
          <p:cNvPr id="7" name="TextBox 6"/>
          <p:cNvSpPr txBox="1"/>
          <p:nvPr/>
        </p:nvSpPr>
        <p:spPr>
          <a:xfrm>
            <a:off x="1874519" y="1691640"/>
            <a:ext cx="6949440" cy="365760"/>
          </a:xfrm>
          <a:prstGeom prst="rect">
            <a:avLst/>
          </a:prstGeom>
          <a:noFill/>
        </p:spPr>
        <p:txBody>
          <a:bodyPr wrap="square" lIns="45720" rIns="45720" tIns="27432" bIns="27432" anchor="t">
            <a:spAutoFit/>
          </a:bodyPr>
          <a:lstStyle/>
          <a:p>
            <a:pPr>
              <a:spcAft>
                <a:spcPts val="0"/>
              </a:spcAft>
            </a:pPr>
            <a:r>
              <a:rPr sz="1500" b="1" i="0">
                <a:solidFill>
                  <a:srgbClr val="000000"/>
                </a:solidFill>
                <a:latin typeface="Tenorite"/>
              </a:rPr>
              <a:t>Price mainly on smoking status, and verify it</a:t>
            </a:r>
          </a:p>
        </p:txBody>
      </p:sp>
      <p:sp>
        <p:nvSpPr>
          <p:cNvPr id="8" name="TextBox 7"/>
          <p:cNvSpPr txBox="1"/>
          <p:nvPr/>
        </p:nvSpPr>
        <p:spPr>
          <a:xfrm>
            <a:off x="1874519" y="2057400"/>
            <a:ext cx="6949440" cy="822960"/>
          </a:xfrm>
          <a:prstGeom prst="rect">
            <a:avLst/>
          </a:prstGeom>
          <a:noFill/>
        </p:spPr>
        <p:txBody>
          <a:bodyPr wrap="square" lIns="45720" rIns="45720" tIns="27432" bIns="27432" anchor="t">
            <a:spAutoFit/>
          </a:bodyPr>
          <a:lstStyle/>
          <a:p>
            <a:pPr>
              <a:spcAft>
                <a:spcPts val="0"/>
              </a:spcAft>
            </a:pPr>
            <a:r>
              <a:rPr sz="1250" b="0" i="0">
                <a:solidFill>
                  <a:srgbClr val="595959"/>
                </a:solidFill>
                <a:latin typeface="Tenorite"/>
              </a:rPr>
              <a:t>Smoking is the strongest driver (r = 0.79, 3.8× higher charges). Confirm declarations with a medical questionnaire or test to prevent under-reporting.</a:t>
            </a:r>
          </a:p>
        </p:txBody>
      </p:sp>
      <p:sp>
        <p:nvSpPr>
          <p:cNvPr id="9" name="Rectangle 8"/>
          <p:cNvSpPr/>
          <p:nvPr/>
        </p:nvSpPr>
        <p:spPr>
          <a:xfrm>
            <a:off x="914400" y="3108960"/>
            <a:ext cx="8046720" cy="132588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097280" y="3493008"/>
            <a:ext cx="548640" cy="54864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3493008"/>
            <a:ext cx="548640" cy="548640"/>
          </a:xfrm>
          <a:prstGeom prst="rect">
            <a:avLst/>
          </a:prstGeom>
          <a:noFill/>
        </p:spPr>
        <p:txBody>
          <a:bodyPr wrap="square" lIns="0" rIns="0" tIns="27432" bIns="27432" anchor="ctr">
            <a:spAutoFit/>
          </a:bodyPr>
          <a:lstStyle/>
          <a:p>
            <a:pPr algn="ctr">
              <a:spcAft>
                <a:spcPts val="0"/>
              </a:spcAft>
            </a:pPr>
            <a:r>
              <a:rPr sz="1800" b="1" i="0">
                <a:solidFill>
                  <a:srgbClr val="FFFFFF"/>
                </a:solidFill>
                <a:latin typeface="Tenorite"/>
              </a:rPr>
              <a:t>2</a:t>
            </a:r>
          </a:p>
        </p:txBody>
      </p:sp>
      <p:sp>
        <p:nvSpPr>
          <p:cNvPr id="12" name="TextBox 11"/>
          <p:cNvSpPr txBox="1"/>
          <p:nvPr/>
        </p:nvSpPr>
        <p:spPr>
          <a:xfrm>
            <a:off x="1874519" y="3200400"/>
            <a:ext cx="6949440" cy="365760"/>
          </a:xfrm>
          <a:prstGeom prst="rect">
            <a:avLst/>
          </a:prstGeom>
          <a:noFill/>
        </p:spPr>
        <p:txBody>
          <a:bodyPr wrap="square" lIns="45720" rIns="45720" tIns="27432" bIns="27432" anchor="t">
            <a:spAutoFit/>
          </a:bodyPr>
          <a:lstStyle/>
          <a:p>
            <a:pPr>
              <a:spcAft>
                <a:spcPts val="0"/>
              </a:spcAft>
            </a:pPr>
            <a:r>
              <a:rPr sz="1500" b="1" i="0">
                <a:solidFill>
                  <a:srgbClr val="000000"/>
                </a:solidFill>
                <a:latin typeface="Tenorite"/>
              </a:rPr>
              <a:t>Target support at smokers with BMI 30+</a:t>
            </a:r>
          </a:p>
        </p:txBody>
      </p:sp>
      <p:sp>
        <p:nvSpPr>
          <p:cNvPr id="13" name="TextBox 12"/>
          <p:cNvSpPr txBox="1"/>
          <p:nvPr/>
        </p:nvSpPr>
        <p:spPr>
          <a:xfrm>
            <a:off x="1874519" y="3566160"/>
            <a:ext cx="6949440" cy="822960"/>
          </a:xfrm>
          <a:prstGeom prst="rect">
            <a:avLst/>
          </a:prstGeom>
          <a:noFill/>
        </p:spPr>
        <p:txBody>
          <a:bodyPr wrap="square" lIns="45720" rIns="45720" tIns="27432" bIns="27432" anchor="t">
            <a:spAutoFit/>
          </a:bodyPr>
          <a:lstStyle/>
          <a:p>
            <a:pPr>
              <a:spcAft>
                <a:spcPts val="0"/>
              </a:spcAft>
            </a:pPr>
            <a:r>
              <a:rPr sz="1250" b="0" i="0">
                <a:solidFill>
                  <a:srgbClr val="595959"/>
                </a:solidFill>
                <a:latin typeface="Tenorite"/>
              </a:rPr>
              <a:t>This group averages $41.6k a year. Stop-smoking and weight-management programmes aimed at them could reduce claims far more than programmes aimed at everyone.</a:t>
            </a:r>
          </a:p>
        </p:txBody>
      </p:sp>
      <p:sp>
        <p:nvSpPr>
          <p:cNvPr id="14" name="Rectangle 13"/>
          <p:cNvSpPr/>
          <p:nvPr/>
        </p:nvSpPr>
        <p:spPr>
          <a:xfrm>
            <a:off x="914400" y="4617720"/>
            <a:ext cx="8046720" cy="132588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097280" y="5001768"/>
            <a:ext cx="548640" cy="54864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97280" y="5001768"/>
            <a:ext cx="548640" cy="548640"/>
          </a:xfrm>
          <a:prstGeom prst="rect">
            <a:avLst/>
          </a:prstGeom>
          <a:noFill/>
        </p:spPr>
        <p:txBody>
          <a:bodyPr wrap="square" lIns="0" rIns="0" tIns="27432" bIns="27432" anchor="ctr">
            <a:spAutoFit/>
          </a:bodyPr>
          <a:lstStyle/>
          <a:p>
            <a:pPr algn="ctr">
              <a:spcAft>
                <a:spcPts val="0"/>
              </a:spcAft>
            </a:pPr>
            <a:r>
              <a:rPr sz="1800" b="1" i="0">
                <a:solidFill>
                  <a:srgbClr val="FFFFFF"/>
                </a:solidFill>
                <a:latin typeface="Tenorite"/>
              </a:rPr>
              <a:t>3</a:t>
            </a:r>
          </a:p>
        </p:txBody>
      </p:sp>
      <p:sp>
        <p:nvSpPr>
          <p:cNvPr id="17" name="TextBox 16"/>
          <p:cNvSpPr txBox="1"/>
          <p:nvPr/>
        </p:nvSpPr>
        <p:spPr>
          <a:xfrm>
            <a:off x="1874519" y="4709159"/>
            <a:ext cx="6949440" cy="365760"/>
          </a:xfrm>
          <a:prstGeom prst="rect">
            <a:avLst/>
          </a:prstGeom>
          <a:noFill/>
        </p:spPr>
        <p:txBody>
          <a:bodyPr wrap="square" lIns="45720" rIns="45720" tIns="27432" bIns="27432" anchor="t">
            <a:spAutoFit/>
          </a:bodyPr>
          <a:lstStyle/>
          <a:p>
            <a:pPr>
              <a:spcAft>
                <a:spcPts val="0"/>
              </a:spcAft>
            </a:pPr>
            <a:r>
              <a:rPr sz="1500" b="1" i="0">
                <a:solidFill>
                  <a:srgbClr val="000000"/>
                </a:solidFill>
                <a:latin typeface="Tenorite"/>
              </a:rPr>
              <a:t>Use age bands; avoid pricing on region or gender</a:t>
            </a:r>
          </a:p>
        </p:txBody>
      </p:sp>
      <p:sp>
        <p:nvSpPr>
          <p:cNvPr id="18" name="TextBox 17"/>
          <p:cNvSpPr txBox="1"/>
          <p:nvPr/>
        </p:nvSpPr>
        <p:spPr>
          <a:xfrm>
            <a:off x="1874519" y="5074920"/>
            <a:ext cx="6949440" cy="822960"/>
          </a:xfrm>
          <a:prstGeom prst="rect">
            <a:avLst/>
          </a:prstGeom>
          <a:noFill/>
        </p:spPr>
        <p:txBody>
          <a:bodyPr wrap="square" lIns="45720" rIns="45720" tIns="27432" bIns="27432" anchor="t">
            <a:spAutoFit/>
          </a:bodyPr>
          <a:lstStyle/>
          <a:p>
            <a:pPr>
              <a:spcAft>
                <a:spcPts val="0"/>
              </a:spcAft>
            </a:pPr>
            <a:r>
              <a:rPr sz="1250" b="0" i="0">
                <a:solidFill>
                  <a:srgbClr val="595959"/>
                </a:solidFill>
                <a:latin typeface="Tenorite"/>
              </a:rPr>
              <a:t>Age adds about $265 a year, a steady and predictable effect. Region and gender gaps are small and largely explained by smoking and BMI.</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AA22BB-C213-5058-6B40-FE4EF4E173F8}"/>
              </a:ext>
            </a:extLst>
          </p:cNvPr>
          <p:cNvSpPr txBox="1">
            <a:spLocks noGrp="1"/>
          </p:cNvSpPr>
          <p:nvPr>
            <p:ph type="title"/>
          </p:nvPr>
        </p:nvSpPr>
        <p:spPr>
          <a:xfrm>
            <a:off x="5760720" y="320040"/>
            <a:ext cx="5943600" cy="822960"/>
          </a:xfrm>
        </p:spPr>
        <p:txBody>
          <a:bodyPr/>
          <a:lstStyle/>
          <a:p>
            <a:pPr lvl="0"/>
            <a:r>
              <a:rPr lang="en-GB"/>
              <a:t>Closing &amp; Reflection</a:t>
            </a:r>
            <a:endParaRPr lang="en-US"/>
          </a:p>
        </p:txBody>
      </p:sp>
      <p:pic>
        <p:nvPicPr>
          <p:cNvPr id="3" name="Picture Placeholder 46" descr="A digital balance scale using circles">
            <a:extLst>
              <a:ext uri="{FF2B5EF4-FFF2-40B4-BE49-F238E27FC236}">
                <a16:creationId xmlns:a16="http://schemas.microsoft.com/office/drawing/2014/main" id="{CE4B0B8B-4599-12E0-BB03-5E9A1B93A74E}"/>
              </a:ext>
            </a:extLst>
          </p:cNvPr>
          <p:cNvPicPr>
            <a:picLocks noGrp="1" noChangeAspect="1"/>
          </p:cNvPicPr>
          <p:nvPr>
            <p:ph type="pic" idx="4294967295"/>
          </p:nvPr>
        </p:nvPicPr>
        <p:blipFill>
          <a:blip r:embed="rId3"/>
          <a:srcRect l="25899" r="25899"/>
          <a:stretch>
            <a:fillRect/>
          </a:stretch>
        </p:blipFill>
        <p:spPr>
          <a:xfrm>
            <a:off x="-28227" y="-9144"/>
            <a:ext cx="5481956" cy="6876288"/>
          </a:xfrm>
        </p:spPr>
      </p:pic>
      <p:sp>
        <p:nvSpPr>
          <p:cNvPr id="4" name="Slide Number Placeholder 5">
            <a:extLst>
              <a:ext uri="{FF2B5EF4-FFF2-40B4-BE49-F238E27FC236}">
                <a16:creationId xmlns:a16="http://schemas.microsoft.com/office/drawing/2014/main" id="{2AAA9E53-C845-38C3-F281-61A431110366}"/>
              </a:ext>
            </a:extLst>
          </p:cNvPr>
          <p:cNvSpPr txBox="1"/>
          <p:nvPr/>
        </p:nvSpPr>
        <p:spPr>
          <a:xfrm>
            <a:off x="10373346" y="6356351"/>
            <a:ext cx="987552" cy="365129"/>
          </a:xfrm>
          <a:prstGeom prst="rect">
            <a:avLst/>
          </a:prstGeom>
          <a:noFill/>
          <a:ln cap="flat">
            <a:noFill/>
          </a:ln>
        </p:spPr>
        <p:txBody>
          <a:bodyPr vert="horz" wrap="square" lIns="91440" tIns="45720" rIns="91440" bIns="45720" anchor="ctr" anchorCtr="0" compatLnSpc="1">
            <a:noAutofit/>
          </a:bodyPr>
          <a:lstStyle/>
          <a:p>
            <a:pPr marL="0" marR="0" lvl="0" indent="0" algn="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fld id="{07DE59B7-EDC2-4462-A2B6-179757BF1C6F}" type="slidenum">
              <a:rPr lang="en-US" sz="1200" b="0" i="0" u="none" strike="noStrike" kern="1200" cap="none" spc="0" baseline="0">
                <a:solidFill>
                  <a:srgbClr val="898989"/>
                </a:solidFill>
                <a:uFillTx/>
                <a:latin typeface="Tenorite"/>
              </a:rPr>
              <a:t>24</a:t>
            </a:fld>
            <a:endParaRPr lang="en-US" sz="900" b="0" i="0" u="none" strike="noStrike" kern="1200" cap="none" spc="0" baseline="0">
              <a:solidFill>
                <a:srgbClr val="898989"/>
              </a:solidFill>
              <a:uFillTx/>
              <a:latin typeface="Tenorite"/>
            </a:endParaRPr>
          </a:p>
        </p:txBody>
      </p:sp>
      <p:cxnSp>
        <p:nvCxnSpPr>
          <p:cNvPr id="6" name="Straight Connector 22">
            <a:extLst>
              <a:ext uri="{FF2B5EF4-FFF2-40B4-BE49-F238E27FC236}">
                <a16:creationId xmlns:a16="http://schemas.microsoft.com/office/drawing/2014/main" id="{91257EA8-745F-2410-C6F6-1E953BC51290}"/>
              </a:ext>
              <a:ext uri="{C183D7F6-B498-43B3-948B-1728B52AA6E4}">
                <adec:decorative xmlns:adec="http://schemas.microsoft.com/office/drawing/2017/decorative" val="1"/>
              </a:ext>
            </a:extLst>
          </p:cNvPr>
          <p:cNvCxnSpPr/>
          <p:nvPr/>
        </p:nvCxnSpPr>
        <p:spPr>
          <a:xfrm flipH="1" flipV="1">
            <a:off x="0" y="876296"/>
            <a:ext cx="5246251" cy="1709883"/>
          </a:xfrm>
          <a:prstGeom prst="straightConnector1">
            <a:avLst/>
          </a:prstGeom>
          <a:noFill/>
          <a:ln w="6345" cap="flat">
            <a:solidFill>
              <a:srgbClr val="000000"/>
            </a:solidFill>
            <a:prstDash val="solid"/>
            <a:miter/>
          </a:ln>
        </p:spPr>
      </p:cxnSp>
      <p:sp>
        <p:nvSpPr>
          <p:cNvPr id="7" name="TextBox 6"/>
          <p:cNvSpPr txBox="1"/>
          <p:nvPr/>
        </p:nvSpPr>
        <p:spPr>
          <a:xfrm>
            <a:off x="5760720" y="1234440"/>
            <a:ext cx="5943600" cy="822960"/>
          </a:xfrm>
          <a:prstGeom prst="rect">
            <a:avLst/>
          </a:prstGeom>
          <a:noFill/>
        </p:spPr>
        <p:txBody>
          <a:bodyPr wrap="square" lIns="45720" rIns="45720" tIns="27432" bIns="27432" anchor="t">
            <a:spAutoFit/>
          </a:bodyPr>
          <a:lstStyle/>
          <a:p>
            <a:pPr>
              <a:spcAft>
                <a:spcPts val="600"/>
              </a:spcAft>
            </a:pPr>
            <a:r>
              <a:rPr sz="1300" b="1" i="0">
                <a:solidFill>
                  <a:srgbClr val="595959"/>
                </a:solidFill>
                <a:latin typeface="Tenorite"/>
              </a:rPr>
              <a:t>Recap: </a:t>
            </a:r>
            <a:r>
              <a:rPr sz="1300" b="0" i="0">
                <a:solidFill>
                  <a:srgbClr val="595959"/>
                </a:solidFill>
                <a:latin typeface="Tenorite"/>
              </a:rPr>
              <a:t>cleaned 1,337 records, explored them with Pandas, built 7 charts and identified three main drivers.</a:t>
            </a:r>
          </a:p>
        </p:txBody>
      </p:sp>
      <p:sp>
        <p:nvSpPr>
          <p:cNvPr id="8" name="TextBox 7"/>
          <p:cNvSpPr txBox="1"/>
          <p:nvPr/>
        </p:nvSpPr>
        <p:spPr>
          <a:xfrm>
            <a:off x="5760720" y="2057400"/>
            <a:ext cx="5943600" cy="411480"/>
          </a:xfrm>
          <a:prstGeom prst="rect">
            <a:avLst/>
          </a:prstGeom>
          <a:noFill/>
        </p:spPr>
        <p:txBody>
          <a:bodyPr wrap="square" lIns="45720" rIns="45720" tIns="27432" bIns="27432" anchor="t">
            <a:spAutoFit/>
          </a:bodyPr>
          <a:lstStyle/>
          <a:p>
            <a:pPr>
              <a:spcAft>
                <a:spcPts val="0"/>
              </a:spcAft>
            </a:pPr>
            <a:r>
              <a:rPr sz="1500" b="1" i="0">
                <a:solidFill>
                  <a:srgbClr val="C00000"/>
                </a:solidFill>
                <a:latin typeface="Tenorite"/>
              </a:rPr>
              <a:t>Reflection: the three strongest drivers</a:t>
            </a:r>
          </a:p>
        </p:txBody>
      </p:sp>
      <p:sp>
        <p:nvSpPr>
          <p:cNvPr id="9" name="Oval 8"/>
          <p:cNvSpPr/>
          <p:nvPr/>
        </p:nvSpPr>
        <p:spPr>
          <a:xfrm>
            <a:off x="5760720" y="2697480"/>
            <a:ext cx="457200" cy="457200"/>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760720" y="2697480"/>
            <a:ext cx="457200" cy="457200"/>
          </a:xfrm>
          <a:prstGeom prst="rect">
            <a:avLst/>
          </a:prstGeom>
          <a:noFill/>
        </p:spPr>
        <p:txBody>
          <a:bodyPr wrap="square" lIns="0" rIns="0" tIns="27432" bIns="27432" anchor="ctr">
            <a:spAutoFit/>
          </a:bodyPr>
          <a:lstStyle/>
          <a:p>
            <a:pPr algn="ctr">
              <a:spcAft>
                <a:spcPts val="0"/>
              </a:spcAft>
            </a:pPr>
            <a:r>
              <a:rPr sz="1500" b="1" i="0">
                <a:solidFill>
                  <a:srgbClr val="FFFFFF"/>
                </a:solidFill>
                <a:latin typeface="Tenorite"/>
              </a:rPr>
              <a:t>1</a:t>
            </a:r>
          </a:p>
        </p:txBody>
      </p:sp>
      <p:sp>
        <p:nvSpPr>
          <p:cNvPr id="11" name="TextBox 10"/>
          <p:cNvSpPr txBox="1"/>
          <p:nvPr/>
        </p:nvSpPr>
        <p:spPr>
          <a:xfrm>
            <a:off x="6400800" y="2606040"/>
            <a:ext cx="5212080" cy="1005840"/>
          </a:xfrm>
          <a:prstGeom prst="rect">
            <a:avLst/>
          </a:prstGeom>
          <a:noFill/>
        </p:spPr>
        <p:txBody>
          <a:bodyPr wrap="square" lIns="45720" rIns="45720" tIns="27432" bIns="27432" anchor="t">
            <a:spAutoFit/>
          </a:bodyPr>
          <a:lstStyle/>
          <a:p>
            <a:pPr>
              <a:spcAft>
                <a:spcPts val="200"/>
              </a:spcAft>
            </a:pPr>
            <a:r>
              <a:rPr sz="1300" b="1" i="0">
                <a:solidFill>
                  <a:srgbClr val="000000"/>
                </a:solidFill>
                <a:latin typeface="Tenorite"/>
              </a:rPr>
              <a:t>Smoking status (r = 0.79)</a:t>
            </a:r>
          </a:p>
          <a:p>
            <a:pPr>
              <a:spcAft>
                <a:spcPts val="200"/>
              </a:spcAft>
            </a:pPr>
            <a:r>
              <a:rPr sz="1300" b="0" i="0">
                <a:solidFill>
                  <a:srgbClr val="000000"/>
                </a:solidFill>
                <a:latin typeface="Tenorite"/>
              </a:rPr>
              <a:t>Smokers pay 3.8× more; smoking causes costly chronic disease.</a:t>
            </a:r>
          </a:p>
        </p:txBody>
      </p:sp>
      <p:sp>
        <p:nvSpPr>
          <p:cNvPr id="12" name="Oval 11"/>
          <p:cNvSpPr/>
          <p:nvPr/>
        </p:nvSpPr>
        <p:spPr>
          <a:xfrm>
            <a:off x="5760720" y="3657600"/>
            <a:ext cx="457200" cy="457200"/>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760720" y="3657600"/>
            <a:ext cx="457200" cy="457200"/>
          </a:xfrm>
          <a:prstGeom prst="rect">
            <a:avLst/>
          </a:prstGeom>
          <a:noFill/>
        </p:spPr>
        <p:txBody>
          <a:bodyPr wrap="square" lIns="0" rIns="0" tIns="27432" bIns="27432" anchor="ctr">
            <a:spAutoFit/>
          </a:bodyPr>
          <a:lstStyle/>
          <a:p>
            <a:pPr algn="ctr">
              <a:spcAft>
                <a:spcPts val="0"/>
              </a:spcAft>
            </a:pPr>
            <a:r>
              <a:rPr sz="1500" b="1" i="0">
                <a:solidFill>
                  <a:srgbClr val="FFFFFF"/>
                </a:solidFill>
                <a:latin typeface="Tenorite"/>
              </a:rPr>
              <a:t>2</a:t>
            </a:r>
          </a:p>
        </p:txBody>
      </p:sp>
      <p:sp>
        <p:nvSpPr>
          <p:cNvPr id="14" name="TextBox 13"/>
          <p:cNvSpPr txBox="1"/>
          <p:nvPr/>
        </p:nvSpPr>
        <p:spPr>
          <a:xfrm>
            <a:off x="6400800" y="3566160"/>
            <a:ext cx="5212080" cy="1005840"/>
          </a:xfrm>
          <a:prstGeom prst="rect">
            <a:avLst/>
          </a:prstGeom>
          <a:noFill/>
        </p:spPr>
        <p:txBody>
          <a:bodyPr wrap="square" lIns="45720" rIns="45720" tIns="27432" bIns="27432" anchor="t">
            <a:spAutoFit/>
          </a:bodyPr>
          <a:lstStyle/>
          <a:p>
            <a:pPr>
              <a:spcAft>
                <a:spcPts val="200"/>
              </a:spcAft>
            </a:pPr>
            <a:r>
              <a:rPr sz="1300" b="1" i="0">
                <a:solidFill>
                  <a:srgbClr val="000000"/>
                </a:solidFill>
                <a:latin typeface="Tenorite"/>
              </a:rPr>
              <a:t>Age (r = 0.30)</a:t>
            </a:r>
          </a:p>
          <a:p>
            <a:pPr>
              <a:spcAft>
                <a:spcPts val="200"/>
              </a:spcAft>
            </a:pPr>
            <a:r>
              <a:rPr sz="1300" b="0" i="0">
                <a:solidFill>
                  <a:srgbClr val="000000"/>
                </a:solidFill>
                <a:latin typeface="Tenorite"/>
              </a:rPr>
              <a:t>Charges rise about $265 a year as health problems become more common.</a:t>
            </a:r>
          </a:p>
        </p:txBody>
      </p:sp>
      <p:sp>
        <p:nvSpPr>
          <p:cNvPr id="15" name="Oval 14"/>
          <p:cNvSpPr/>
          <p:nvPr/>
        </p:nvSpPr>
        <p:spPr>
          <a:xfrm>
            <a:off x="5760720" y="4617720"/>
            <a:ext cx="457200" cy="457200"/>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760720" y="4617720"/>
            <a:ext cx="457200" cy="457200"/>
          </a:xfrm>
          <a:prstGeom prst="rect">
            <a:avLst/>
          </a:prstGeom>
          <a:noFill/>
        </p:spPr>
        <p:txBody>
          <a:bodyPr wrap="square" lIns="0" rIns="0" tIns="27432" bIns="27432" anchor="ctr">
            <a:spAutoFit/>
          </a:bodyPr>
          <a:lstStyle/>
          <a:p>
            <a:pPr algn="ctr">
              <a:spcAft>
                <a:spcPts val="0"/>
              </a:spcAft>
            </a:pPr>
            <a:r>
              <a:rPr sz="1500" b="1" i="0">
                <a:solidFill>
                  <a:srgbClr val="FFFFFF"/>
                </a:solidFill>
                <a:latin typeface="Tenorite"/>
              </a:rPr>
              <a:t>3</a:t>
            </a:r>
          </a:p>
        </p:txBody>
      </p:sp>
      <p:sp>
        <p:nvSpPr>
          <p:cNvPr id="17" name="TextBox 16"/>
          <p:cNvSpPr txBox="1"/>
          <p:nvPr/>
        </p:nvSpPr>
        <p:spPr>
          <a:xfrm>
            <a:off x="6400800" y="4526280"/>
            <a:ext cx="5212080" cy="1005840"/>
          </a:xfrm>
          <a:prstGeom prst="rect">
            <a:avLst/>
          </a:prstGeom>
          <a:noFill/>
        </p:spPr>
        <p:txBody>
          <a:bodyPr wrap="square" lIns="45720" rIns="45720" tIns="27432" bIns="27432" anchor="t">
            <a:spAutoFit/>
          </a:bodyPr>
          <a:lstStyle/>
          <a:p>
            <a:pPr>
              <a:spcAft>
                <a:spcPts val="200"/>
              </a:spcAft>
            </a:pPr>
            <a:r>
              <a:rPr sz="1300" b="1" i="0">
                <a:solidFill>
                  <a:srgbClr val="000000"/>
                </a:solidFill>
                <a:latin typeface="Tenorite"/>
              </a:rPr>
              <a:t>BMI (r = 0.20)</a:t>
            </a:r>
          </a:p>
          <a:p>
            <a:pPr>
              <a:spcAft>
                <a:spcPts val="200"/>
              </a:spcAft>
            </a:pPr>
            <a:r>
              <a:rPr sz="1300" b="0" i="0">
                <a:solidFill>
                  <a:srgbClr val="000000"/>
                </a:solidFill>
                <a:latin typeface="Tenorite"/>
              </a:rPr>
              <a:t>Linked to diabetes and heart disease; strongest when combined with smoking.</a:t>
            </a:r>
          </a:p>
        </p:txBody>
      </p:sp>
      <p:sp>
        <p:nvSpPr>
          <p:cNvPr id="18" name="TextBox 17"/>
          <p:cNvSpPr txBox="1"/>
          <p:nvPr/>
        </p:nvSpPr>
        <p:spPr>
          <a:xfrm>
            <a:off x="5760720" y="5577840"/>
            <a:ext cx="5943600" cy="457200"/>
          </a:xfrm>
          <a:prstGeom prst="rect">
            <a:avLst/>
          </a:prstGeom>
          <a:noFill/>
        </p:spPr>
        <p:txBody>
          <a:bodyPr wrap="square" lIns="45720" rIns="45720" tIns="27432" bIns="27432" anchor="t">
            <a:spAutoFit/>
          </a:bodyPr>
          <a:lstStyle/>
          <a:p>
            <a:pPr>
              <a:spcAft>
                <a:spcPts val="600"/>
              </a:spcAft>
            </a:pPr>
            <a:r>
              <a:rPr sz="1100" b="0" i="0">
                <a:solidFill>
                  <a:srgbClr val="595959"/>
                </a:solidFill>
                <a:latin typeface="Tenorite"/>
              </a:rPr>
              <a:t>Sex, region and number of children have only weak links (|r| &lt; 0.07).</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733EFB-C88A-9A0F-FFA0-996E431BC284}"/>
              </a:ext>
            </a:extLst>
          </p:cNvPr>
          <p:cNvSpPr txBox="1">
            <a:spLocks noGrp="1"/>
          </p:cNvSpPr>
          <p:nvPr>
            <p:ph type="ctrTitle"/>
          </p:nvPr>
        </p:nvSpPr>
        <p:spPr>
          <a:xfrm>
            <a:off x="3458306" y="2329872"/>
            <a:ext cx="4179566" cy="1021951"/>
          </a:xfrm>
        </p:spPr>
        <p:txBody>
          <a:bodyPr/>
          <a:lstStyle/>
          <a:p>
            <a:pPr lvl="0"/>
            <a:r>
              <a:rPr lang="en-US"/>
              <a:t>THANK YOU</a:t>
            </a:r>
          </a:p>
        </p:txBody>
      </p:sp>
      <p:sp>
        <p:nvSpPr>
          <p:cNvPr id="4" name="Slide Number Placeholder 5">
            <a:extLst>
              <a:ext uri="{FF2B5EF4-FFF2-40B4-BE49-F238E27FC236}">
                <a16:creationId xmlns:a16="http://schemas.microsoft.com/office/drawing/2014/main" id="{BD0B4D5E-439D-844B-81F5-5A8272EFE113}"/>
              </a:ext>
            </a:extLst>
          </p:cNvPr>
          <p:cNvSpPr txBox="1"/>
          <p:nvPr/>
        </p:nvSpPr>
        <p:spPr>
          <a:xfrm>
            <a:off x="9579428" y="6356351"/>
            <a:ext cx="1774374" cy="365129"/>
          </a:xfrm>
          <a:prstGeom prst="rect">
            <a:avLst/>
          </a:prstGeom>
          <a:noFill/>
          <a:ln cap="flat">
            <a:noFill/>
          </a:ln>
        </p:spPr>
        <p:txBody>
          <a:bodyPr vert="horz" wrap="square" lIns="91440" tIns="45720" rIns="91440" bIns="45720" anchor="ctr" anchorCtr="0" compatLnSpc="1">
            <a:noAutofit/>
          </a:bodyPr>
          <a:lstStyle/>
          <a:p>
            <a:pPr marL="0" marR="0" lvl="0" indent="0" algn="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fld id="{6E8CA49D-A8F2-4FE3-9D26-336010C16CE4}" type="slidenum">
              <a:rPr lang="en-US" sz="1200" b="0" i="0" u="none" strike="noStrike" kern="1200" cap="none" spc="0" baseline="0">
                <a:solidFill>
                  <a:srgbClr val="898989"/>
                </a:solidFill>
                <a:uFillTx/>
                <a:latin typeface="Tenorite"/>
              </a:rPr>
              <a:t>25</a:t>
            </a:fld>
            <a:endParaRPr lang="en-US" sz="900" b="0" i="0" u="none" strike="noStrike" kern="1200" cap="none" spc="0" baseline="0">
              <a:solidFill>
                <a:srgbClr val="898989"/>
              </a:solidFill>
              <a:uFillTx/>
              <a:latin typeface="Tenorite"/>
            </a:endParaRPr>
          </a:p>
        </p:txBody>
      </p:sp>
    </p:spTree>
  </p:cSld>
  <p:clrMapOvr>
    <a:masterClrMapping/>
  </p:clrMapOvr>
</p:sld>
</file>

<file path=ppt/theme/theme1.xml><?xml version="1.0" encoding="utf-8"?>
<a:theme xmlns:a="http://schemas.openxmlformats.org/drawingml/2006/main" name="Custom">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12</TotalTime>
  <Words>1094</Words>
  <Application>Microsoft Office PowerPoint</Application>
  <PresentationFormat>Widescreen</PresentationFormat>
  <Paragraphs>230</Paragraphs>
  <Slides>25</Slides>
  <Notes>15</Notes>
  <HiddenSlides>0</HiddenSlides>
  <MMClips>1</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25</vt:i4>
      </vt:variant>
    </vt:vector>
  </HeadingPairs>
  <TitlesOfParts>
    <vt:vector size="30" baseType="lpstr">
      <vt:lpstr>Aptos</vt:lpstr>
      <vt:lpstr>Arial</vt:lpstr>
      <vt:lpstr>Calibri</vt:lpstr>
      <vt:lpstr>Tenorite</vt:lpstr>
      <vt:lpstr>Custom</vt:lpstr>
      <vt:lpstr>                INSURANCE CHARGE ANALYSIS                  a comprehensive analysis of                Key factors influencing                   insurance charges                                                                                                                        </vt:lpstr>
      <vt:lpstr>dataset overview</vt:lpstr>
      <vt:lpstr>        Data preparation</vt:lpstr>
      <vt:lpstr>Cleaning steps </vt:lpstr>
      <vt:lpstr>Cleaning steps </vt:lpstr>
      <vt:lpstr>Cleaning steps </vt:lpstr>
      <vt:lpstr>View the first 5 rows</vt:lpstr>
      <vt:lpstr>Check data types and non-null counts</vt:lpstr>
      <vt:lpstr>View summary statistics</vt:lpstr>
      <vt:lpstr>Exploratory Data analysis</vt:lpstr>
      <vt:lpstr>Exploratory Data analysis contd</vt:lpstr>
      <vt:lpstr>Exploratory Data analysis contd</vt:lpstr>
      <vt:lpstr>visualizations</vt:lpstr>
      <vt:lpstr>Average charges by region</vt:lpstr>
      <vt:lpstr>Average charge by age</vt:lpstr>
      <vt:lpstr>Smoker vs non-smoker</vt:lpstr>
      <vt:lpstr>Charges</vt:lpstr>
      <vt:lpstr>Smoker vs non-smoker</vt:lpstr>
      <vt:lpstr>Bmi vs charges</vt:lpstr>
      <vt:lpstr>Correlation heatmap</vt:lpstr>
      <vt:lpstr>VISUALISATION EXPLAINED</vt:lpstr>
      <vt:lpstr>key insights</vt:lpstr>
      <vt:lpstr>summary of drivers</vt:lpstr>
      <vt:lpstr>Closing &amp; Reflection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Paul Bankole</dc:creator>
  <cp:lastModifiedBy>Paul Bankole</cp:lastModifiedBy>
  <cp:revision>2</cp:revision>
  <dcterms:created xsi:type="dcterms:W3CDTF">2025-11-06T17:50:03Z</dcterms:created>
  <dcterms:modified xsi:type="dcterms:W3CDTF">2026-10-08T18:51:03Z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